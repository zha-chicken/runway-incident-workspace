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a2f25a44e545d2" /><Relationship Type="http://schemas.openxmlformats.org/officeDocument/2006/relationships/extended-properties" Target="/docProps/app.xml" Id="R1b712ecc69a94f30" /><Relationship Type="http://schemas.openxmlformats.org/officeDocument/2006/relationships/officeDocument" Target="/ppt/presentation.xml" Id="R629b8d00f0a74ead" /></Relationships>
</file>

<file path=ppt/presentation.xml><?xml version="1.0" encoding="utf-8"?>
<p:presentation xmlns:p="http://schemas.openxmlformats.org/presentationml/2006/main">
  <p:sldMasterIdLst>
    <p:sldMasterId xmlns:r="http://schemas.openxmlformats.org/officeDocument/2006/relationships" id="2147483648" r:id="Ra1af83b8853c4520"/>
  </p:sldMasterIdLst>
  <p:notesMasterIdLst>
    <p:notesMasterId xmlns:r="http://schemas.openxmlformats.org/officeDocument/2006/relationships" r:id="R223245247f3640e8"/>
  </p:notesMasterIdLst>
  <p:sldIdLst>
    <p:sldId xmlns:r="http://schemas.openxmlformats.org/officeDocument/2006/relationships" id="256" r:id="Rc47710ddf03e4c5c"/>
    <p:sldId xmlns:r="http://schemas.openxmlformats.org/officeDocument/2006/relationships" id="257" r:id="R0e41b6a145cc4f74"/>
    <p:sldId xmlns:r="http://schemas.openxmlformats.org/officeDocument/2006/relationships" id="258" r:id="R529a876945544d01"/>
    <p:sldId xmlns:r="http://schemas.openxmlformats.org/officeDocument/2006/relationships" id="259" r:id="R3911f2e5f91648f4"/>
    <p:sldId xmlns:r="http://schemas.openxmlformats.org/officeDocument/2006/relationships" id="260" r:id="Rcf9858db09674a49"/>
    <p:sldId xmlns:r="http://schemas.openxmlformats.org/officeDocument/2006/relationships" id="261" r:id="R581c162cd94b4ae2"/>
    <p:sldId xmlns:r="http://schemas.openxmlformats.org/officeDocument/2006/relationships" id="262" r:id="Rc5ec548790ce4461"/>
    <p:sldId xmlns:r="http://schemas.openxmlformats.org/officeDocument/2006/relationships" id="263" r:id="R4e9feb184ae24152"/>
    <p:sldId xmlns:r="http://schemas.openxmlformats.org/officeDocument/2006/relationships" id="264" r:id="R9986d783073242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3c1522fda4bfb" /><Relationship Type="http://schemas.openxmlformats.org/officeDocument/2006/relationships/slideMaster" Target="/ppt/slideMasters/slideMaster1.xml" Id="Ra1af83b8853c4520" /><Relationship Type="http://schemas.openxmlformats.org/officeDocument/2006/relationships/notesMaster" Target="/ppt/notesMasters/notesMaster1.xml" Id="R223245247f3640e8" /><Relationship Type="http://schemas.openxmlformats.org/officeDocument/2006/relationships/presProps" Target="/ppt/presProps.xml" Id="Raced38bce10b44a7" /><Relationship Type="http://schemas.openxmlformats.org/officeDocument/2006/relationships/tableStyles" Target="/ppt/tableStyles.xml" Id="Rebc6e1c26f5a43f8" /><Relationship Type="http://schemas.openxmlformats.org/officeDocument/2006/relationships/slide" Target="/ppt/slides/slide1.xml" Id="Rc47710ddf03e4c5c" /><Relationship Type="http://schemas.openxmlformats.org/officeDocument/2006/relationships/slide" Target="/ppt/slides/slide2.xml" Id="R0e41b6a145cc4f74" /><Relationship Type="http://schemas.openxmlformats.org/officeDocument/2006/relationships/slide" Target="/ppt/slides/slide3.xml" Id="R529a876945544d01" /><Relationship Type="http://schemas.openxmlformats.org/officeDocument/2006/relationships/slide" Target="/ppt/slides/slide4.xml" Id="R3911f2e5f91648f4" /><Relationship Type="http://schemas.openxmlformats.org/officeDocument/2006/relationships/slide" Target="/ppt/slides/slide5.xml" Id="Rcf9858db09674a49" /><Relationship Type="http://schemas.openxmlformats.org/officeDocument/2006/relationships/slide" Target="/ppt/slides/slide6.xml" Id="R581c162cd94b4ae2" /><Relationship Type="http://schemas.openxmlformats.org/officeDocument/2006/relationships/slide" Target="/ppt/slides/slide7.xml" Id="Rc5ec548790ce4461" /><Relationship Type="http://schemas.openxmlformats.org/officeDocument/2006/relationships/slide" Target="/ppt/slides/slide8.xml" Id="R4e9feb184ae24152" /><Relationship Type="http://schemas.openxmlformats.org/officeDocument/2006/relationships/slide" Target="/ppt/slides/slide9.xml" Id="R9986d783073242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4c81e3f3e149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f956fea1204147" /><Relationship Type="http://schemas.openxmlformats.org/officeDocument/2006/relationships/notesMaster" Target="/ppt/notesMasters/notesMaster1.xml" Id="Rbd55e7b0325a44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1a04a670934a0e" /><Relationship Type="http://schemas.openxmlformats.org/officeDocument/2006/relationships/notesMaster" Target="/ppt/notesMasters/notesMaster1.xml" Id="Re3bc7dfda75441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4e614448924a87" /><Relationship Type="http://schemas.openxmlformats.org/officeDocument/2006/relationships/notesMaster" Target="/ppt/notesMasters/notesMaster1.xml" Id="Rc8d3de338d214c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a752122a7c42f2" /><Relationship Type="http://schemas.openxmlformats.org/officeDocument/2006/relationships/notesMaster" Target="/ppt/notesMasters/notesMaster1.xml" Id="R7f38b8e640b740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4b5f88a9364269" /><Relationship Type="http://schemas.openxmlformats.org/officeDocument/2006/relationships/notesMaster" Target="/ppt/notesMasters/notesMaster1.xml" Id="R8636eb052a284a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9caf9a876b41cb" /><Relationship Type="http://schemas.openxmlformats.org/officeDocument/2006/relationships/notesMaster" Target="/ppt/notesMasters/notesMaster1.xml" Id="R568e1afa8e6043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3aea30cda146a8" /><Relationship Type="http://schemas.openxmlformats.org/officeDocument/2006/relationships/notesMaster" Target="/ppt/notesMasters/notesMaster1.xml" Id="Rd07ae8545f3d46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30af969c6a4ca3" /><Relationship Type="http://schemas.openxmlformats.org/officeDocument/2006/relationships/notesMaster" Target="/ppt/notesMasters/notesMaster1.xml" Id="Ra40a7458637340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33840c795f4753" /><Relationship Type="http://schemas.openxmlformats.org/officeDocument/2006/relationships/notesMaster" Target="/ppt/notesMasters/notesMaster1.xml" Id="R0ae204afe6454b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AeroContext helps a fictional airline review incidents. It puts evidence, a proposed assessment, draft messages and reviewer decisions in one inspectable record. This is a simulation prototype, not an operational decision-maker. Today we show the implemented workflow, recorded results and known limits.</a:t>
            </a:r>
          </a:p>
          <a:p xmlns:a="http://schemas.openxmlformats.org/drawingml/2006/main">
            <a:r>
              <a:t/>
            </a:r>
          </a:p>
          <a:p xmlns:a="http://schemas.openxmlformats.org/drawingml/2006/main">
            <a:r>
              <a:t>Sources: D02; Track 3 Problem Statement, pp.1–2; application code 27f5ec9; evaluations retain their original checkpoints.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brief asks the team to compare normal operations with new disruptions and explain what is fact, assumption or unknown. The three audiences need different information. A weather warning does not establish a flight delay; an operational suggestion does not establish authority to act.</a:t>
            </a:r>
          </a:p>
          <a:p xmlns:a="http://schemas.openxmlformats.org/drawingml/2006/main">
            <a:r>
              <a:t/>
            </a:r>
          </a:p>
          <a:p xmlns:a="http://schemas.openxmlformats.org/drawingml/2006/main">
            <a:r>
              <a:t>Sources: Organizer Track 3 Problem Statement; workbook RULE001, RULE002, RULE005, RULE007.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 add an incident and attributed reports, review the assessment and citations, then decide on recommendations. Pending is explicit. Outcomes can be entered later without deleting earlier detail. After decisions are complete, the app offers reassessment or editing. Failed generation preserves the prior valid assessment.</a:t>
            </a:r>
          </a:p>
          <a:p xmlns:a="http://schemas.openxmlformats.org/drawingml/2006/main">
            <a:r>
              <a:t/>
            </a:r>
          </a:p>
          <a:p xmlns:a="http://schemas.openxmlformats.org/drawingml/2006/main">
            <a:r>
              <a:t>Sources: D02; D04; evidence/browser; D05 synthetic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policy uses structured metadata and the same time-comparison logic exposed to the model. Historical shortfall triggers review, not a causal claim or current high risk by itself. The model provides explanations and drafts. Structural checks and one repair reduce certain errors, but valid JSON and real citations do not prove semantic support.</a:t>
            </a:r>
          </a:p>
          <a:p xmlns:a="http://schemas.openxmlformats.org/drawingml/2006/main">
            <a:r>
              <a:t/>
            </a:r>
          </a:p>
          <a:p xmlns:a="http://schemas.openxmlformats.org/drawingml/2006/main">
            <a:r>
              <a:t>Sources: D04; src/domain/policy.ts; src/domain/report-period.ts; src/ai/service.ts; src/domain/output-checks.ts.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uses a real recorded model call, not a fabricated screen. Both reports are inside the window. Their separate origins, signal types and expansion support high risk. The accepted reply proposes referral, verification, monitoring and drafts; it does not establish a flight delay. The full inputs, outputs and review notes are included. This is now a disclosed case, not a future holdout.</a:t>
            </a:r>
          </a:p>
          <a:p xmlns:a="http://schemas.openxmlformats.org/drawingml/2006/main">
            <a:r>
              <a:t/>
            </a:r>
          </a:p>
          <a:p xmlns:a="http://schemas.openxmlformats.org/drawingml/2006/main">
            <a:r>
              <a:t>Sources: evidence/unseen/cases/UNSEEN02-en/definition.json, outputs.md and 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and repeated supplied tests each accepted all 32 model-backed steps, but quality review found four and three failures respectively. The rerun cost more and needed more repair. Unseen testing yielded 19 of 20 usable final replies, with three quality failures and one blocked numeric comparison. We separate application acceptance from content quality.</a:t>
            </a:r>
          </a:p>
          <a:p xmlns:a="http://schemas.openxmlformats.org/drawingml/2006/main">
            <a:r>
              <a:t/>
            </a:r>
          </a:p>
          <a:p xmlns:a="http://schemas.openxmlformats.org/drawingml/2006/main">
            <a:r>
              <a:t>Sources: D03; evidence/supplied-original/summary.json; evidence/supplied-current/summary.json; evidence/unseen/summary.json.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includes fresh synthetic examples, as explicitly chosen for this project. There are accepted, modified, rejected and pending decisions, with later outcomes and revision history. The initial assessment saved, but reassessment failed twice: an uncited fact and then a fabricated source ID. We present that limitation rather than claiming a completed successful loop.</a:t>
            </a:r>
          </a:p>
          <a:p xmlns:a="http://schemas.openxmlformats.org/drawingml/2006/main">
            <a:r>
              <a:t/>
            </a:r>
          </a:p>
          <a:p xmlns:a="http://schemas.openxmlformats.org/drawingml/2006/main">
            <a:r>
              <a:t>Sources: D05-synthetic-feedback.md/.csv/.json; evidence/feedback/reassessment-review.md.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benefit proposed is a traceable chain from evidence to human judgment. We have quality, reliability, latency and cost observations, but no measured time savings and no proof of superiority over a basic prompt. Important limitations remain: unsupported service commitments, historical interpretation errors and validator false positives.</a:t>
            </a:r>
          </a:p>
          <a:p xmlns:a="http://schemas.openxmlformats.org/drawingml/2006/main">
            <a:r>
              <a:t/>
            </a:r>
          </a:p>
          <a:p xmlns:a="http://schemas.openxmlformats.org/drawingml/2006/main">
            <a:r>
              <a:t>Sources: D03; D06; project TODO user decisions on 24 October 2026; evidence/supplied-current/verification.json.</a:t>
            </a:r>
          </a:p>
          <a:p xmlns:a="http://schemas.openxmlformats.org/drawingml/2006/main">
            <a:r>
              <a:t/>
            </a:r>
          </a:p>
          <a:p xmlns:a="http://schemas.openxmlformats.org/drawingml/2006/main">
            <a:r>
              <a:t>Release verification: 27f5ec9 passed 351 tests, TypeScript and Webpack. Its default build hit an environment worker-port restriction; the earlier default-build pass belongs to 8ad14e3. Frozen model results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connects every required submission item to an artifact. The owner-approved video, quota settings and acknowledgements are included. The owner will change visibility to public, verify signed-out access and submit the repository link. Fresh judge-machine real inference, persistence/export and Docker remain unverified. No new model call was made for publication. Codex and Claude assisted development and documentation; Claude created the approved video. D05 records are synthetic.</a:t>
            </a:r>
          </a:p>
          <a:p xmlns:a="http://schemas.openxmlformats.org/drawingml/2006/main">
            <a:r>
              <a:t/>
            </a:r>
          </a:p>
          <a:p xmlns:a="http://schemas.openxmlformats.org/drawingml/2006/main">
            <a:r>
              <a:t>Sources: submission/README.md; D07; D08; ACKNOWLEDGEMENTS.md; publication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295c678dd241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4c210f2f4140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0aa5e97811e41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33e53c763f42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cbe6f9b31049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d222e64f2543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3B0563-9BF2-47E4-AB56-BE17A219B08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A5337D9-989C-4822-9C8E-AC35D3B453C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4391D0-B055-4044-8575-FE6560B040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6D6F7F-20A5-4D29-8379-7B5CDD335B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B7283A-2955-4D8F-B440-63F41B23D9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8A6BC71-6DE9-4FCE-B763-66D73D669D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84070C-184D-4FD5-A5EE-2D7A074969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4CA8A35-A51B-4418-9373-88DE3C358A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809F30-2D72-416E-88CE-94A5CE1053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629146-26C5-48AE-8424-A3B6A027C5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ce21942f81463b" /><Relationship Type="http://schemas.openxmlformats.org/officeDocument/2006/relationships/slideLayout" Target="/ppt/slideLayouts/slideLayout1.xml" Id="Refeabf2e067b41d8" /><Relationship Type="http://schemas.openxmlformats.org/officeDocument/2006/relationships/slideLayout" Target="/ppt/slideLayouts/slideLayout2.xml" Id="R782894d386614137" /><Relationship Type="http://schemas.openxmlformats.org/officeDocument/2006/relationships/slideLayout" Target="/ppt/slideLayouts/slideLayout3.xml" Id="Rdd9178692dd7462f" /><Relationship Type="http://schemas.openxmlformats.org/officeDocument/2006/relationships/slideLayout" Target="/ppt/slideLayouts/slideLayout4.xml" Id="Ra62309eb85544b62" /><Relationship Type="http://schemas.openxmlformats.org/officeDocument/2006/relationships/slideLayout" Target="/ppt/slideLayouts/slideLayout5.xml" Id="R5ee0c58afa4d4299" /><Relationship Type="http://schemas.openxmlformats.org/officeDocument/2006/relationships/slideLayout" Target="/ppt/slideLayouts/slideLayout6.xml" Id="Rcaecbc89e53849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eabf2e067b41d8"/>
    <p:sldLayoutId xmlns:r="http://schemas.openxmlformats.org/officeDocument/2006/relationships" id="2147483650" r:id="R782894d386614137"/>
    <p:sldLayoutId xmlns:r="http://schemas.openxmlformats.org/officeDocument/2006/relationships" id="2147483651" r:id="Rdd9178692dd7462f"/>
    <p:sldLayoutId xmlns:r="http://schemas.openxmlformats.org/officeDocument/2006/relationships" id="2147483652" r:id="Ra62309eb85544b62"/>
    <p:sldLayoutId xmlns:r="http://schemas.openxmlformats.org/officeDocument/2006/relationships" id="2147483653" r:id="R5ee0c58afa4d4299"/>
    <p:sldLayoutId xmlns:r="http://schemas.openxmlformats.org/officeDocument/2006/relationships" id="2147483654" r:id="Rcaecbc89e53849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7201dd65364d16" /><Relationship Type="http://schemas.openxmlformats.org/officeDocument/2006/relationships/notesSlide" Target="/ppt/notesSlides/notesSlide1.xml" Id="R4471c004ea4948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bdb43ca3314245" /><Relationship Type="http://schemas.openxmlformats.org/officeDocument/2006/relationships/notesSlide" Target="/ppt/notesSlides/notesSlide2.xml" Id="R81804e918f394a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eeebf87e1843ac" /><Relationship Type="http://schemas.openxmlformats.org/officeDocument/2006/relationships/notesSlide" Target="/ppt/notesSlides/notesSlide3.xml" Id="Re716fd38a30140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e323a5202d4c8f" /><Relationship Type="http://schemas.openxmlformats.org/officeDocument/2006/relationships/notesSlide" Target="/ppt/notesSlides/notesSlide4.xml" Id="Rf6afc6ecb36445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80ee950d874eb0" /><Relationship Type="http://schemas.openxmlformats.org/officeDocument/2006/relationships/notesSlide" Target="/ppt/notesSlides/notesSlide5.xml" Id="R63025679c59f4e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a30c47f7a8448b" /><Relationship Type="http://schemas.openxmlformats.org/officeDocument/2006/relationships/notesSlide" Target="/ppt/notesSlides/notesSlide6.xml" Id="Rb285a6c27e7541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345a54866b48df" /><Relationship Type="http://schemas.openxmlformats.org/officeDocument/2006/relationships/notesSlide" Target="/ppt/notesSlides/notesSlide7.xml" Id="R227251c5cfca4e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53f6a1462545bf" /><Relationship Type="http://schemas.openxmlformats.org/officeDocument/2006/relationships/notesSlide" Target="/ppt/notesSlides/notesSlide8.xml" Id="Rb445e139a1b142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c02ed27f19a43fb" /><Relationship Type="http://schemas.openxmlformats.org/officeDocument/2006/relationships/notesSlide" Target="/ppt/notesSlides/notesSlide9.xml" Id="R174c5f9abef145f0" /></Relationships>
</file>

<file path=ppt/slides/slide1.xml><?xml version="1.0" encoding="utf-8"?>
<p:sld xmlns:p="http://schemas.openxmlformats.org/presentationml/2006/main">
  <p:cSld>
    <p:bg>
      <p:bgPr>
        <a:solidFill xmlns:a="http://schemas.openxmlformats.org/drawingml/2006/main">
          <a:srgbClr val="10171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33C854-3696-4121-BA06-03B321DA0314}"/>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70D1C3"/>
                </a:solidFill>
                <a:latin typeface="Arial"/>
                <a:ea typeface="Arial"/>
                <a:cs typeface="Arial"/>
              </a:defRPr>
            </a:defPPr>
            <a:lvl1pPr>
              <a:buNone/>
              <a:defRPr sz="1200" b="1">
                <a:solidFill>
                  <a:srgbClr val="70D1C3"/>
                </a:solidFill>
                <a:latin typeface="Arial"/>
                <a:ea typeface="Arial"/>
                <a:cs typeface="Arial"/>
              </a:defRPr>
            </a:lvl1pPr>
            <a:lvl2pPr>
              <a:buNone/>
              <a:defRPr sz="1200" b="1">
                <a:solidFill>
                  <a:srgbClr val="70D1C3"/>
                </a:solidFill>
                <a:latin typeface="Arial"/>
                <a:ea typeface="Arial"/>
                <a:cs typeface="Arial"/>
              </a:defRPr>
            </a:lvl2pPr>
            <a:lvl3pPr>
              <a:buNone/>
              <a:defRPr sz="1200" b="1">
                <a:solidFill>
                  <a:srgbClr val="70D1C3"/>
                </a:solidFill>
                <a:latin typeface="Arial"/>
                <a:ea typeface="Arial"/>
                <a:cs typeface="Arial"/>
              </a:defRPr>
            </a:lvl3pPr>
            <a:lvl4pPr>
              <a:buNone/>
              <a:defRPr sz="1200" b="1">
                <a:solidFill>
                  <a:srgbClr val="70D1C3"/>
                </a:solidFill>
                <a:latin typeface="Arial"/>
                <a:ea typeface="Arial"/>
                <a:cs typeface="Arial"/>
              </a:defRPr>
            </a:lvl4pPr>
            <a:lvl5pPr>
              <a:buNone/>
              <a:defRPr sz="1200" b="1">
                <a:solidFill>
                  <a:srgbClr val="70D1C3"/>
                </a:solidFill>
                <a:latin typeface="Arial"/>
                <a:ea typeface="Arial"/>
                <a:cs typeface="Arial"/>
              </a:defRPr>
            </a:lvl5pPr>
            <a:lvl6pPr>
              <a:buNone/>
              <a:defRPr sz="1200" b="1">
                <a:solidFill>
                  <a:srgbClr val="70D1C3"/>
                </a:solidFill>
                <a:latin typeface="Arial"/>
                <a:ea typeface="Arial"/>
                <a:cs typeface="Arial"/>
              </a:defRPr>
            </a:lvl6pPr>
            <a:lvl7pPr>
              <a:buNone/>
              <a:defRPr sz="1200" b="1">
                <a:solidFill>
                  <a:srgbClr val="70D1C3"/>
                </a:solidFill>
                <a:latin typeface="Arial"/>
                <a:ea typeface="Arial"/>
                <a:cs typeface="Arial"/>
              </a:defRPr>
            </a:lvl7pPr>
            <a:lvl8pPr>
              <a:buNone/>
              <a:defRPr sz="1200" b="1">
                <a:solidFill>
                  <a:srgbClr val="70D1C3"/>
                </a:solidFill>
                <a:latin typeface="Arial"/>
                <a:ea typeface="Arial"/>
                <a:cs typeface="Arial"/>
              </a:defRPr>
            </a:lvl8pPr>
            <a:lvl9pPr>
              <a:buNone/>
              <a:defRPr sz="1200" b="1">
                <a:solidFill>
                  <a:srgbClr val="70D1C3"/>
                </a:solidFill>
                <a:latin typeface="Arial"/>
                <a:ea typeface="Arial"/>
                <a:cs typeface="Arial"/>
              </a:defRPr>
            </a:lvl9pPr>
          </a:lstStyle>
          <a:p xmlns:a="http://schemas.openxmlformats.org/drawingml/2006/main">
            <a:pPr>
              <a:buNone/>
              <a:defRPr sz="1200" b="1">
                <a:solidFill>
                  <a:srgbClr val="70D1C3"/>
                </a:solidFill>
                <a:latin typeface="Arial"/>
                <a:ea typeface="Arial"/>
                <a:cs typeface="Arial"/>
              </a:defRPr>
            </a:pPr>
            <a:r>
              <a:rPr sz="1200" b="1">
                <a:solidFill>
                  <a:srgbClr val="70D1C3"/>
                </a:solidFill>
                <a:latin typeface="Arial"/>
                <a:ea typeface="Arial"/>
                <a:cs typeface="Arial"/>
              </a:rPr>
              <a:t>AEROCONTEXT</a:t>
            </a:r>
          </a:p>
        </p:txBody>
      </p:sp>
      <p:sp>
        <p:nvSpPr>
          <p:cNvPr id="2" name="">
            <a:extLst xmlns:a="http://schemas.openxmlformats.org/drawingml/2006/main">
              <a:ext uri="{FF2B5EF4-FFF2-40B4-BE49-F238E27FC236}">
                <a16:creationId xmlns:a16="http://schemas.microsoft.com/office/drawing/2014/main" id="{0FCB8C77-7FB8-4992-8454-13F218CA5B0E}"/>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buNone/>
              <a:defRPr sz="3450" b="1">
                <a:solidFill>
                  <a:srgbClr val="FFFFFF"/>
                </a:solidFill>
                <a:latin typeface="Arial"/>
                <a:ea typeface="Arial"/>
                <a:cs typeface="Arial"/>
              </a:defRPr>
            </a:lvl1pPr>
            <a:lvl2pPr>
              <a:buNone/>
              <a:defRPr sz="3450" b="1">
                <a:solidFill>
                  <a:srgbClr val="FFFFFF"/>
                </a:solidFill>
                <a:latin typeface="Arial"/>
                <a:ea typeface="Arial"/>
                <a:cs typeface="Arial"/>
              </a:defRPr>
            </a:lvl2pPr>
            <a:lvl3pPr>
              <a:buNone/>
              <a:defRPr sz="3450" b="1">
                <a:solidFill>
                  <a:srgbClr val="FFFFFF"/>
                </a:solidFill>
                <a:latin typeface="Arial"/>
                <a:ea typeface="Arial"/>
                <a:cs typeface="Arial"/>
              </a:defRPr>
            </a:lvl3pPr>
            <a:lvl4pPr>
              <a:buNone/>
              <a:defRPr sz="3450" b="1">
                <a:solidFill>
                  <a:srgbClr val="FFFFFF"/>
                </a:solidFill>
                <a:latin typeface="Arial"/>
                <a:ea typeface="Arial"/>
                <a:cs typeface="Arial"/>
              </a:defRPr>
            </a:lvl4pPr>
            <a:lvl5pPr>
              <a:buNone/>
              <a:defRPr sz="3450" b="1">
                <a:solidFill>
                  <a:srgbClr val="FFFFFF"/>
                </a:solidFill>
                <a:latin typeface="Arial"/>
                <a:ea typeface="Arial"/>
                <a:cs typeface="Arial"/>
              </a:defRPr>
            </a:lvl5pPr>
            <a:lvl6pPr>
              <a:buNone/>
              <a:defRPr sz="3450" b="1">
                <a:solidFill>
                  <a:srgbClr val="FFFFFF"/>
                </a:solidFill>
                <a:latin typeface="Arial"/>
                <a:ea typeface="Arial"/>
                <a:cs typeface="Arial"/>
              </a:defRPr>
            </a:lvl6pPr>
            <a:lvl7pPr>
              <a:buNone/>
              <a:defRPr sz="3450" b="1">
                <a:solidFill>
                  <a:srgbClr val="FFFFFF"/>
                </a:solidFill>
                <a:latin typeface="Arial"/>
                <a:ea typeface="Arial"/>
                <a:cs typeface="Arial"/>
              </a:defRPr>
            </a:lvl7pPr>
            <a:lvl8pPr>
              <a:buNone/>
              <a:defRPr sz="3450" b="1">
                <a:solidFill>
                  <a:srgbClr val="FFFFFF"/>
                </a:solidFill>
                <a:latin typeface="Arial"/>
                <a:ea typeface="Arial"/>
                <a:cs typeface="Arial"/>
              </a:defRPr>
            </a:lvl8pPr>
            <a:lvl9pPr>
              <a:buNone/>
              <a:defRPr sz="3450" b="1">
                <a:solidFill>
                  <a:srgbClr val="FFFFFF"/>
                </a:solidFill>
                <a:latin typeface="Arial"/>
                <a:ea typeface="Arial"/>
                <a:cs typeface="Arial"/>
              </a:defRPr>
            </a:lvl9pPr>
          </a:lstStyle>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From incident reports</a:t>
            </a:r>
          </a:p>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to decisions people can inspect</a:t>
            </a:r>
          </a:p>
        </p:txBody>
      </p:sp>
      <p:sp>
        <p:nvSpPr>
          <p:cNvPr id="3" name="">
            <a:extLst xmlns:a="http://schemas.openxmlformats.org/drawingml/2006/main">
              <a:ext uri="{FF2B5EF4-FFF2-40B4-BE49-F238E27FC236}">
                <a16:creationId xmlns:a16="http://schemas.microsoft.com/office/drawing/2014/main" id="{E9903D6E-7915-471A-BDF0-E834E8CA66AE}"/>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C3D0D4"/>
                </a:solidFill>
                <a:latin typeface="Arial"/>
                <a:ea typeface="Arial"/>
                <a:cs typeface="Arial"/>
              </a:defRPr>
            </a:defPPr>
            <a:lvl1pPr>
              <a:buNone/>
              <a:defRPr sz="1725" b="0">
                <a:solidFill>
                  <a:srgbClr val="C3D0D4"/>
                </a:solidFill>
                <a:latin typeface="Arial"/>
                <a:ea typeface="Arial"/>
                <a:cs typeface="Arial"/>
              </a:defRPr>
            </a:lvl1pPr>
            <a:lvl2pPr>
              <a:buNone/>
              <a:defRPr sz="1725" b="0">
                <a:solidFill>
                  <a:srgbClr val="C3D0D4"/>
                </a:solidFill>
                <a:latin typeface="Arial"/>
                <a:ea typeface="Arial"/>
                <a:cs typeface="Arial"/>
              </a:defRPr>
            </a:lvl2pPr>
            <a:lvl3pPr>
              <a:buNone/>
              <a:defRPr sz="1725" b="0">
                <a:solidFill>
                  <a:srgbClr val="C3D0D4"/>
                </a:solidFill>
                <a:latin typeface="Arial"/>
                <a:ea typeface="Arial"/>
                <a:cs typeface="Arial"/>
              </a:defRPr>
            </a:lvl3pPr>
            <a:lvl4pPr>
              <a:buNone/>
              <a:defRPr sz="1725" b="0">
                <a:solidFill>
                  <a:srgbClr val="C3D0D4"/>
                </a:solidFill>
                <a:latin typeface="Arial"/>
                <a:ea typeface="Arial"/>
                <a:cs typeface="Arial"/>
              </a:defRPr>
            </a:lvl4pPr>
            <a:lvl5pPr>
              <a:buNone/>
              <a:defRPr sz="1725" b="0">
                <a:solidFill>
                  <a:srgbClr val="C3D0D4"/>
                </a:solidFill>
                <a:latin typeface="Arial"/>
                <a:ea typeface="Arial"/>
                <a:cs typeface="Arial"/>
              </a:defRPr>
            </a:lvl5pPr>
            <a:lvl6pPr>
              <a:buNone/>
              <a:defRPr sz="1725" b="0">
                <a:solidFill>
                  <a:srgbClr val="C3D0D4"/>
                </a:solidFill>
                <a:latin typeface="Arial"/>
                <a:ea typeface="Arial"/>
                <a:cs typeface="Arial"/>
              </a:defRPr>
            </a:lvl6pPr>
            <a:lvl7pPr>
              <a:buNone/>
              <a:defRPr sz="1725" b="0">
                <a:solidFill>
                  <a:srgbClr val="C3D0D4"/>
                </a:solidFill>
                <a:latin typeface="Arial"/>
                <a:ea typeface="Arial"/>
                <a:cs typeface="Arial"/>
              </a:defRPr>
            </a:lvl7pPr>
            <a:lvl8pPr>
              <a:buNone/>
              <a:defRPr sz="1725" b="0">
                <a:solidFill>
                  <a:srgbClr val="C3D0D4"/>
                </a:solidFill>
                <a:latin typeface="Arial"/>
                <a:ea typeface="Arial"/>
                <a:cs typeface="Arial"/>
              </a:defRPr>
            </a:lvl8pPr>
            <a:lvl9pPr>
              <a:buNone/>
              <a:defRPr sz="1725" b="0">
                <a:solidFill>
                  <a:srgbClr val="C3D0D4"/>
                </a:solidFill>
                <a:latin typeface="Arial"/>
                <a:ea typeface="Arial"/>
                <a:cs typeface="Arial"/>
              </a:defRPr>
            </a:lvl9pPr>
          </a:lstStyle>
          <a:p xmlns:a="http://schemas.openxmlformats.org/drawingml/2006/main">
            <a:pPr>
              <a:buNone/>
              <a:defRPr sz="1725" b="0">
                <a:solidFill>
                  <a:srgbClr val="C3D0D4"/>
                </a:solidFill>
                <a:latin typeface="Arial"/>
                <a:ea typeface="Arial"/>
                <a:cs typeface="Arial"/>
              </a:defRPr>
            </a:pPr>
            <a:r>
              <a:rPr sz="1725" b="0">
                <a:solidFill>
                  <a:srgbClr val="C3D0D4"/>
                </a:solidFill>
                <a:latin typeface="Arial"/>
                <a:ea typeface="Arial"/>
                <a:cs typeface="Arial"/>
              </a:rPr>
              <a:t>A bilingual workspace for evidence, draft communication and human review.</a:t>
            </a:r>
          </a:p>
        </p:txBody>
      </p:sp>
      <p:sp>
        <p:nvSpPr>
          <p:cNvPr id="4" name="">
            <a:extLst xmlns:a="http://schemas.openxmlformats.org/drawingml/2006/main">
              <a:ext uri="{FF2B5EF4-FFF2-40B4-BE49-F238E27FC236}">
                <a16:creationId xmlns:a16="http://schemas.microsoft.com/office/drawing/2014/main" id="{E3013436-3C17-4BEE-8725-6FB9BDCAE793}"/>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34464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2A0114-7B25-4C37-9EF4-7D534F41FF04}"/>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9C5C9"/>
                </a:solidFill>
                <a:latin typeface="Arial"/>
                <a:ea typeface="Arial"/>
                <a:cs typeface="Arial"/>
              </a:defRPr>
            </a:defPPr>
            <a:lvl1pPr>
              <a:buNone/>
              <a:defRPr sz="1050" b="0">
                <a:solidFill>
                  <a:srgbClr val="B9C5C9"/>
                </a:solidFill>
                <a:latin typeface="Arial"/>
                <a:ea typeface="Arial"/>
                <a:cs typeface="Arial"/>
              </a:defRPr>
            </a:lvl1pPr>
            <a:lvl2pPr>
              <a:buNone/>
              <a:defRPr sz="1050" b="0">
                <a:solidFill>
                  <a:srgbClr val="B9C5C9"/>
                </a:solidFill>
                <a:latin typeface="Arial"/>
                <a:ea typeface="Arial"/>
                <a:cs typeface="Arial"/>
              </a:defRPr>
            </a:lvl2pPr>
            <a:lvl3pPr>
              <a:buNone/>
              <a:defRPr sz="1050" b="0">
                <a:solidFill>
                  <a:srgbClr val="B9C5C9"/>
                </a:solidFill>
                <a:latin typeface="Arial"/>
                <a:ea typeface="Arial"/>
                <a:cs typeface="Arial"/>
              </a:defRPr>
            </a:lvl3pPr>
            <a:lvl4pPr>
              <a:buNone/>
              <a:defRPr sz="1050" b="0">
                <a:solidFill>
                  <a:srgbClr val="B9C5C9"/>
                </a:solidFill>
                <a:latin typeface="Arial"/>
                <a:ea typeface="Arial"/>
                <a:cs typeface="Arial"/>
              </a:defRPr>
            </a:lvl4pPr>
            <a:lvl5pPr>
              <a:buNone/>
              <a:defRPr sz="1050" b="0">
                <a:solidFill>
                  <a:srgbClr val="B9C5C9"/>
                </a:solidFill>
                <a:latin typeface="Arial"/>
                <a:ea typeface="Arial"/>
                <a:cs typeface="Arial"/>
              </a:defRPr>
            </a:lvl5pPr>
            <a:lvl6pPr>
              <a:buNone/>
              <a:defRPr sz="1050" b="0">
                <a:solidFill>
                  <a:srgbClr val="B9C5C9"/>
                </a:solidFill>
                <a:latin typeface="Arial"/>
                <a:ea typeface="Arial"/>
                <a:cs typeface="Arial"/>
              </a:defRPr>
            </a:lvl6pPr>
            <a:lvl7pPr>
              <a:buNone/>
              <a:defRPr sz="1050" b="0">
                <a:solidFill>
                  <a:srgbClr val="B9C5C9"/>
                </a:solidFill>
                <a:latin typeface="Arial"/>
                <a:ea typeface="Arial"/>
                <a:cs typeface="Arial"/>
              </a:defRPr>
            </a:lvl7pPr>
            <a:lvl8pPr>
              <a:buNone/>
              <a:defRPr sz="1050" b="0">
                <a:solidFill>
                  <a:srgbClr val="B9C5C9"/>
                </a:solidFill>
                <a:latin typeface="Arial"/>
                <a:ea typeface="Arial"/>
                <a:cs typeface="Arial"/>
              </a:defRPr>
            </a:lvl8pPr>
            <a:lvl9pPr>
              <a:buNone/>
              <a:defRPr sz="1050" b="0">
                <a:solidFill>
                  <a:srgbClr val="B9C5C9"/>
                </a:solidFill>
                <a:latin typeface="Arial"/>
                <a:ea typeface="Arial"/>
                <a:cs typeface="Arial"/>
              </a:defRPr>
            </a:lvl9pPr>
          </a:lstStyle>
          <a:p xmlns:a="http://schemas.openxmlformats.org/drawingml/2006/main">
            <a:pPr>
              <a:buNone/>
              <a:defRPr sz="1050" b="0">
                <a:solidFill>
                  <a:srgbClr val="B9C5C9"/>
                </a:solidFill>
                <a:latin typeface="Arial"/>
                <a:ea typeface="Arial"/>
                <a:cs typeface="Arial"/>
              </a:defRPr>
            </a:pPr>
            <a:r>
              <a:rPr sz="1050" b="0">
                <a:solidFill>
                  <a:srgbClr val="B9C5C9"/>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C4090923-0921-483C-A046-01B6A9E57BA7}"/>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FFFFFF"/>
                </a:solidFill>
                <a:latin typeface="Arial"/>
                <a:ea typeface="Arial"/>
                <a:cs typeface="Arial"/>
              </a:defRPr>
            </a:defPPr>
            <a:lvl1pPr>
              <a:buNone/>
              <a:defRPr sz="1050" b="1">
                <a:solidFill>
                  <a:srgbClr val="FFFFFF"/>
                </a:solidFill>
                <a:latin typeface="Arial"/>
                <a:ea typeface="Arial"/>
                <a:cs typeface="Arial"/>
              </a:defRPr>
            </a:lvl1pPr>
            <a:lvl2pPr>
              <a:buNone/>
              <a:defRPr sz="1050" b="1">
                <a:solidFill>
                  <a:srgbClr val="FFFFFF"/>
                </a:solidFill>
                <a:latin typeface="Arial"/>
                <a:ea typeface="Arial"/>
                <a:cs typeface="Arial"/>
              </a:defRPr>
            </a:lvl2pPr>
            <a:lvl3pPr>
              <a:buNone/>
              <a:defRPr sz="1050" b="1">
                <a:solidFill>
                  <a:srgbClr val="FFFFFF"/>
                </a:solidFill>
                <a:latin typeface="Arial"/>
                <a:ea typeface="Arial"/>
                <a:cs typeface="Arial"/>
              </a:defRPr>
            </a:lvl3pPr>
            <a:lvl4pPr>
              <a:buNone/>
              <a:defRPr sz="1050" b="1">
                <a:solidFill>
                  <a:srgbClr val="FFFFFF"/>
                </a:solidFill>
                <a:latin typeface="Arial"/>
                <a:ea typeface="Arial"/>
                <a:cs typeface="Arial"/>
              </a:defRPr>
            </a:lvl4pPr>
            <a:lvl5pPr>
              <a:buNone/>
              <a:defRPr sz="1050" b="1">
                <a:solidFill>
                  <a:srgbClr val="FFFFFF"/>
                </a:solidFill>
                <a:latin typeface="Arial"/>
                <a:ea typeface="Arial"/>
                <a:cs typeface="Arial"/>
              </a:defRPr>
            </a:lvl5pPr>
            <a:lvl6pPr>
              <a:buNone/>
              <a:defRPr sz="1050" b="1">
                <a:solidFill>
                  <a:srgbClr val="FFFFFF"/>
                </a:solidFill>
                <a:latin typeface="Arial"/>
                <a:ea typeface="Arial"/>
                <a:cs typeface="Arial"/>
              </a:defRPr>
            </a:lvl6pPr>
            <a:lvl7pPr>
              <a:buNone/>
              <a:defRPr sz="1050" b="1">
                <a:solidFill>
                  <a:srgbClr val="FFFFFF"/>
                </a:solidFill>
                <a:latin typeface="Arial"/>
                <a:ea typeface="Arial"/>
                <a:cs typeface="Arial"/>
              </a:defRPr>
            </a:lvl7pPr>
            <a:lvl8pPr>
              <a:buNone/>
              <a:defRPr sz="1050" b="1">
                <a:solidFill>
                  <a:srgbClr val="FFFFFF"/>
                </a:solidFill>
                <a:latin typeface="Arial"/>
                <a:ea typeface="Arial"/>
                <a:cs typeface="Arial"/>
              </a:defRPr>
            </a:lvl8pPr>
            <a:lvl9pPr>
              <a:buNone/>
              <a:defRPr sz="1050" b="1">
                <a:solidFill>
                  <a:srgbClr val="FFFFFF"/>
                </a:solidFill>
                <a:latin typeface="Arial"/>
                <a:ea typeface="Arial"/>
                <a:cs typeface="Arial"/>
              </a:defRPr>
            </a:lvl9pPr>
          </a:lstStyle>
          <a:p xmlns:a="http://schemas.openxmlformats.org/drawingml/2006/main">
            <a:pPr>
              <a:buNone/>
              <a:defRPr sz="1050" b="1">
                <a:solidFill>
                  <a:srgbClr val="FFFFFF"/>
                </a:solidFill>
                <a:latin typeface="Arial"/>
                <a:ea typeface="Arial"/>
                <a:cs typeface="Arial"/>
              </a:defRPr>
            </a:pPr>
            <a:r>
              <a:rPr sz="1050" b="1">
                <a:solidFill>
                  <a:srgbClr val="FFFF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F5BAF6F-B710-464C-A5A8-CCABD526919D}"/>
              </a:ext>
            </a:extLst>
          </p:cNvPr>
          <p:cNvSpPr>
            <a:spLocks xmlns:a="http://schemas.openxmlformats.org/drawingml/2006/main" noGrp="1"/>
          </p:cNvSpPr>
          <p:nvPr/>
        </p:nvSpPr>
        <p:spPr>
          <a:xfrm xmlns:a="http://schemas.openxmlformats.org/drawingml/2006/main">
            <a:off x="571500" y="3333750"/>
            <a:ext cx="7048500" cy="2057400"/>
          </a:xfrm>
          <a:prstGeom xmlns:a="http://schemas.openxmlformats.org/drawingml/2006/main" prst="rect">
            <a:avLst/>
          </a:prstGeom>
          <a:solidFill xmlns:a="http://schemas.openxmlformats.org/drawingml/2006/main">
            <a:srgbClr val="1D303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482847-0D12-4CCE-B88E-154026656D4C}"/>
              </a:ext>
            </a:extLst>
          </p:cNvPr>
          <p:cNvSpPr>
            <a:spLocks xmlns:a="http://schemas.openxmlformats.org/drawingml/2006/main" noGrp="1"/>
          </p:cNvSpPr>
          <p:nvPr/>
        </p:nvSpPr>
        <p:spPr>
          <a:xfrm xmlns:a="http://schemas.openxmlformats.org/drawingml/2006/main">
            <a:off x="838200" y="363855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70D1C3"/>
                </a:solidFill>
                <a:latin typeface="Arial"/>
                <a:ea typeface="Arial"/>
                <a:cs typeface="Arial"/>
              </a:defRPr>
            </a:defPPr>
            <a:lvl1pPr>
              <a:buNone/>
              <a:defRPr sz="2400" b="1">
                <a:solidFill>
                  <a:srgbClr val="70D1C3"/>
                </a:solidFill>
                <a:latin typeface="Arial"/>
                <a:ea typeface="Arial"/>
                <a:cs typeface="Arial"/>
              </a:defRPr>
            </a:lvl1pPr>
            <a:lvl2pPr>
              <a:buNone/>
              <a:defRPr sz="2400" b="1">
                <a:solidFill>
                  <a:srgbClr val="70D1C3"/>
                </a:solidFill>
                <a:latin typeface="Arial"/>
                <a:ea typeface="Arial"/>
                <a:cs typeface="Arial"/>
              </a:defRPr>
            </a:lvl2pPr>
            <a:lvl3pPr>
              <a:buNone/>
              <a:defRPr sz="2400" b="1">
                <a:solidFill>
                  <a:srgbClr val="70D1C3"/>
                </a:solidFill>
                <a:latin typeface="Arial"/>
                <a:ea typeface="Arial"/>
                <a:cs typeface="Arial"/>
              </a:defRPr>
            </a:lvl3pPr>
            <a:lvl4pPr>
              <a:buNone/>
              <a:defRPr sz="2400" b="1">
                <a:solidFill>
                  <a:srgbClr val="70D1C3"/>
                </a:solidFill>
                <a:latin typeface="Arial"/>
                <a:ea typeface="Arial"/>
                <a:cs typeface="Arial"/>
              </a:defRPr>
            </a:lvl4pPr>
            <a:lvl5pPr>
              <a:buNone/>
              <a:defRPr sz="2400" b="1">
                <a:solidFill>
                  <a:srgbClr val="70D1C3"/>
                </a:solidFill>
                <a:latin typeface="Arial"/>
                <a:ea typeface="Arial"/>
                <a:cs typeface="Arial"/>
              </a:defRPr>
            </a:lvl5pPr>
            <a:lvl6pPr>
              <a:buNone/>
              <a:defRPr sz="2400" b="1">
                <a:solidFill>
                  <a:srgbClr val="70D1C3"/>
                </a:solidFill>
                <a:latin typeface="Arial"/>
                <a:ea typeface="Arial"/>
                <a:cs typeface="Arial"/>
              </a:defRPr>
            </a:lvl6pPr>
            <a:lvl7pPr>
              <a:buNone/>
              <a:defRPr sz="2400" b="1">
                <a:solidFill>
                  <a:srgbClr val="70D1C3"/>
                </a:solidFill>
                <a:latin typeface="Arial"/>
                <a:ea typeface="Arial"/>
                <a:cs typeface="Arial"/>
              </a:defRPr>
            </a:lvl7pPr>
            <a:lvl8pPr>
              <a:buNone/>
              <a:defRPr sz="2400" b="1">
                <a:solidFill>
                  <a:srgbClr val="70D1C3"/>
                </a:solidFill>
                <a:latin typeface="Arial"/>
                <a:ea typeface="Arial"/>
                <a:cs typeface="Arial"/>
              </a:defRPr>
            </a:lvl8pPr>
            <a:lvl9pPr>
              <a:buNone/>
              <a:defRPr sz="2400" b="1">
                <a:solidFill>
                  <a:srgbClr val="70D1C3"/>
                </a:solidFill>
                <a:latin typeface="Arial"/>
                <a:ea typeface="Arial"/>
                <a:cs typeface="Arial"/>
              </a:defRPr>
            </a:lvl9pPr>
          </a:lstStyle>
          <a:p xmlns:a="http://schemas.openxmlformats.org/drawingml/2006/main">
            <a:pPr>
              <a:buNone/>
              <a:defRPr sz="2400" b="1">
                <a:solidFill>
                  <a:srgbClr val="70D1C3"/>
                </a:solidFill>
                <a:latin typeface="Arial"/>
                <a:ea typeface="Arial"/>
                <a:cs typeface="Arial"/>
              </a:defRPr>
            </a:pPr>
            <a:r>
              <a:rPr sz="2400" b="1">
                <a:solidFill>
                  <a:srgbClr val="70D1C3"/>
                </a:solidFill>
                <a:latin typeface="Arial"/>
                <a:ea typeface="Arial"/>
                <a:cs typeface="Arial"/>
              </a:rPr>
              <a:t>Evidence → Assessment → Review</a:t>
            </a:r>
          </a:p>
        </p:txBody>
      </p:sp>
      <p:sp>
        <p:nvSpPr>
          <p:cNvPr id="9" name="">
            <a:extLst xmlns:a="http://schemas.openxmlformats.org/drawingml/2006/main">
              <a:ext uri="{FF2B5EF4-FFF2-40B4-BE49-F238E27FC236}">
                <a16:creationId xmlns:a16="http://schemas.microsoft.com/office/drawing/2014/main" id="{F3E5AA9C-D56C-4F8D-ADF2-C6E3A9931AA9}"/>
              </a:ext>
            </a:extLst>
          </p:cNvPr>
          <p:cNvSpPr>
            <a:spLocks xmlns:a="http://schemas.openxmlformats.org/drawingml/2006/main" noGrp="1"/>
          </p:cNvSpPr>
          <p:nvPr/>
        </p:nvSpPr>
        <p:spPr>
          <a:xfrm xmlns:a="http://schemas.openxmlformats.org/drawingml/2006/main">
            <a:off x="838200" y="4314825"/>
            <a:ext cx="642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buNone/>
              <a:defRPr sz="1875" b="0">
                <a:solidFill>
                  <a:srgbClr val="FFFFFF"/>
                </a:solidFill>
                <a:latin typeface="Arial"/>
                <a:ea typeface="Arial"/>
                <a:cs typeface="Arial"/>
              </a:defRPr>
            </a:lvl1pPr>
            <a:lvl2pPr>
              <a:buNone/>
              <a:defRPr sz="1875" b="0">
                <a:solidFill>
                  <a:srgbClr val="FFFFFF"/>
                </a:solidFill>
                <a:latin typeface="Arial"/>
                <a:ea typeface="Arial"/>
                <a:cs typeface="Arial"/>
              </a:defRPr>
            </a:lvl2pPr>
            <a:lvl3pPr>
              <a:buNone/>
              <a:defRPr sz="1875" b="0">
                <a:solidFill>
                  <a:srgbClr val="FFFFFF"/>
                </a:solidFill>
                <a:latin typeface="Arial"/>
                <a:ea typeface="Arial"/>
                <a:cs typeface="Arial"/>
              </a:defRPr>
            </a:lvl3pPr>
            <a:lvl4pPr>
              <a:buNone/>
              <a:defRPr sz="1875" b="0">
                <a:solidFill>
                  <a:srgbClr val="FFFFFF"/>
                </a:solidFill>
                <a:latin typeface="Arial"/>
                <a:ea typeface="Arial"/>
                <a:cs typeface="Arial"/>
              </a:defRPr>
            </a:lvl4pPr>
            <a:lvl5pPr>
              <a:buNone/>
              <a:defRPr sz="1875" b="0">
                <a:solidFill>
                  <a:srgbClr val="FFFFFF"/>
                </a:solidFill>
                <a:latin typeface="Arial"/>
                <a:ea typeface="Arial"/>
                <a:cs typeface="Arial"/>
              </a:defRPr>
            </a:lvl5pPr>
            <a:lvl6pPr>
              <a:buNone/>
              <a:defRPr sz="1875" b="0">
                <a:solidFill>
                  <a:srgbClr val="FFFFFF"/>
                </a:solidFill>
                <a:latin typeface="Arial"/>
                <a:ea typeface="Arial"/>
                <a:cs typeface="Arial"/>
              </a:defRPr>
            </a:lvl6pPr>
            <a:lvl7pPr>
              <a:buNone/>
              <a:defRPr sz="1875" b="0">
                <a:solidFill>
                  <a:srgbClr val="FFFFFF"/>
                </a:solidFill>
                <a:latin typeface="Arial"/>
                <a:ea typeface="Arial"/>
                <a:cs typeface="Arial"/>
              </a:defRPr>
            </a:lvl7pPr>
            <a:lvl8pPr>
              <a:buNone/>
              <a:defRPr sz="1875" b="0">
                <a:solidFill>
                  <a:srgbClr val="FFFFFF"/>
                </a:solidFill>
                <a:latin typeface="Arial"/>
                <a:ea typeface="Arial"/>
                <a:cs typeface="Arial"/>
              </a:defRPr>
            </a:lvl8pPr>
            <a:lvl9pPr>
              <a:buNone/>
              <a:defRPr sz="1875" b="0">
                <a:solidFill>
                  <a:srgbClr val="FFFFFF"/>
                </a:solidFill>
                <a:latin typeface="Arial"/>
                <a:ea typeface="Arial"/>
                <a:cs typeface="Arial"/>
              </a:defRPr>
            </a:lvl9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Keep facts, uncertainty and responsibility visible.</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No automatic operational execution.</a:t>
            </a:r>
          </a:p>
        </p:txBody>
      </p:sp>
      <p:sp>
        <p:nvSpPr>
          <p:cNvPr id="10" name="">
            <a:extLst xmlns:a="http://schemas.openxmlformats.org/drawingml/2006/main">
              <a:ext uri="{FF2B5EF4-FFF2-40B4-BE49-F238E27FC236}">
                <a16:creationId xmlns:a16="http://schemas.microsoft.com/office/drawing/2014/main" id="{7FA4EAA9-DF64-418F-A194-14FB901B8EB7}"/>
              </a:ext>
            </a:extLst>
          </p:cNvPr>
          <p:cNvSpPr>
            <a:spLocks xmlns:a="http://schemas.openxmlformats.org/drawingml/2006/main" noGrp="1"/>
          </p:cNvSpPr>
          <p:nvPr/>
        </p:nvSpPr>
        <p:spPr>
          <a:xfrm xmlns:a="http://schemas.openxmlformats.org/drawingml/2006/main">
            <a:off x="8572500" y="3543300"/>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buNone/>
              <a:defRPr sz="3300" b="1">
                <a:solidFill>
                  <a:srgbClr val="FFFFFF"/>
                </a:solidFill>
                <a:latin typeface="Arial"/>
                <a:ea typeface="Arial"/>
                <a:cs typeface="Arial"/>
              </a:defRPr>
            </a:lvl1pPr>
            <a:lvl2pPr>
              <a:buNone/>
              <a:defRPr sz="3300" b="1">
                <a:solidFill>
                  <a:srgbClr val="FFFFFF"/>
                </a:solidFill>
                <a:latin typeface="Arial"/>
                <a:ea typeface="Arial"/>
                <a:cs typeface="Arial"/>
              </a:defRPr>
            </a:lvl2pPr>
            <a:lvl3pPr>
              <a:buNone/>
              <a:defRPr sz="3300" b="1">
                <a:solidFill>
                  <a:srgbClr val="FFFFFF"/>
                </a:solidFill>
                <a:latin typeface="Arial"/>
                <a:ea typeface="Arial"/>
                <a:cs typeface="Arial"/>
              </a:defRPr>
            </a:lvl3pPr>
            <a:lvl4pPr>
              <a:buNone/>
              <a:defRPr sz="3300" b="1">
                <a:solidFill>
                  <a:srgbClr val="FFFFFF"/>
                </a:solidFill>
                <a:latin typeface="Arial"/>
                <a:ea typeface="Arial"/>
                <a:cs typeface="Arial"/>
              </a:defRPr>
            </a:lvl4pPr>
            <a:lvl5pPr>
              <a:buNone/>
              <a:defRPr sz="3300" b="1">
                <a:solidFill>
                  <a:srgbClr val="FFFFFF"/>
                </a:solidFill>
                <a:latin typeface="Arial"/>
                <a:ea typeface="Arial"/>
                <a:cs typeface="Arial"/>
              </a:defRPr>
            </a:lvl5pPr>
            <a:lvl6pPr>
              <a:buNone/>
              <a:defRPr sz="3300" b="1">
                <a:solidFill>
                  <a:srgbClr val="FFFFFF"/>
                </a:solidFill>
                <a:latin typeface="Arial"/>
                <a:ea typeface="Arial"/>
                <a:cs typeface="Arial"/>
              </a:defRPr>
            </a:lvl6pPr>
            <a:lvl7pPr>
              <a:buNone/>
              <a:defRPr sz="3300" b="1">
                <a:solidFill>
                  <a:srgbClr val="FFFFFF"/>
                </a:solidFill>
                <a:latin typeface="Arial"/>
                <a:ea typeface="Arial"/>
                <a:cs typeface="Arial"/>
              </a:defRPr>
            </a:lvl7pPr>
            <a:lvl8pPr>
              <a:buNone/>
              <a:defRPr sz="3300" b="1">
                <a:solidFill>
                  <a:srgbClr val="FFFFFF"/>
                </a:solidFill>
                <a:latin typeface="Arial"/>
                <a:ea typeface="Arial"/>
                <a:cs typeface="Arial"/>
              </a:defRPr>
            </a:lvl8pPr>
            <a:lvl9pPr>
              <a:buNone/>
              <a:defRPr sz="3300" b="1">
                <a:solidFill>
                  <a:srgbClr val="FFFFFF"/>
                </a:solidFill>
                <a:latin typeface="Arial"/>
                <a:ea typeface="Arial"/>
                <a:cs typeface="Arial"/>
              </a:defRPr>
            </a:lvl9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27f5ec9</a:t>
            </a:r>
          </a:p>
        </p:txBody>
      </p:sp>
      <p:sp>
        <p:nvSpPr>
          <p:cNvPr id="11" name="">
            <a:extLst xmlns:a="http://schemas.openxmlformats.org/drawingml/2006/main">
              <a:ext uri="{FF2B5EF4-FFF2-40B4-BE49-F238E27FC236}">
                <a16:creationId xmlns:a16="http://schemas.microsoft.com/office/drawing/2014/main" id="{72245332-FCFC-4575-BBB8-820912E60CB6}"/>
              </a:ext>
            </a:extLst>
          </p:cNvPr>
          <p:cNvSpPr>
            <a:spLocks xmlns:a="http://schemas.openxmlformats.org/drawingml/2006/main" noGrp="1"/>
          </p:cNvSpPr>
          <p:nvPr/>
        </p:nvSpPr>
        <p:spPr>
          <a:xfrm xmlns:a="http://schemas.openxmlformats.org/drawingml/2006/main">
            <a:off x="8572500" y="43053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3D0D4"/>
                </a:solidFill>
                <a:latin typeface="Arial"/>
                <a:ea typeface="Arial"/>
                <a:cs typeface="Arial"/>
              </a:defRPr>
            </a:defPPr>
            <a:lvl1pPr>
              <a:buNone/>
              <a:defRPr sz="1650" b="0">
                <a:solidFill>
                  <a:srgbClr val="C3D0D4"/>
                </a:solidFill>
                <a:latin typeface="Arial"/>
                <a:ea typeface="Arial"/>
                <a:cs typeface="Arial"/>
              </a:defRPr>
            </a:lvl1pPr>
            <a:lvl2pPr>
              <a:buNone/>
              <a:defRPr sz="1650" b="0">
                <a:solidFill>
                  <a:srgbClr val="C3D0D4"/>
                </a:solidFill>
                <a:latin typeface="Arial"/>
                <a:ea typeface="Arial"/>
                <a:cs typeface="Arial"/>
              </a:defRPr>
            </a:lvl2pPr>
            <a:lvl3pPr>
              <a:buNone/>
              <a:defRPr sz="1650" b="0">
                <a:solidFill>
                  <a:srgbClr val="C3D0D4"/>
                </a:solidFill>
                <a:latin typeface="Arial"/>
                <a:ea typeface="Arial"/>
                <a:cs typeface="Arial"/>
              </a:defRPr>
            </a:lvl3pPr>
            <a:lvl4pPr>
              <a:buNone/>
              <a:defRPr sz="1650" b="0">
                <a:solidFill>
                  <a:srgbClr val="C3D0D4"/>
                </a:solidFill>
                <a:latin typeface="Arial"/>
                <a:ea typeface="Arial"/>
                <a:cs typeface="Arial"/>
              </a:defRPr>
            </a:lvl4pPr>
            <a:lvl5pPr>
              <a:buNone/>
              <a:defRPr sz="1650" b="0">
                <a:solidFill>
                  <a:srgbClr val="C3D0D4"/>
                </a:solidFill>
                <a:latin typeface="Arial"/>
                <a:ea typeface="Arial"/>
                <a:cs typeface="Arial"/>
              </a:defRPr>
            </a:lvl5pPr>
            <a:lvl6pPr>
              <a:buNone/>
              <a:defRPr sz="1650" b="0">
                <a:solidFill>
                  <a:srgbClr val="C3D0D4"/>
                </a:solidFill>
                <a:latin typeface="Arial"/>
                <a:ea typeface="Arial"/>
                <a:cs typeface="Arial"/>
              </a:defRPr>
            </a:lvl6pPr>
            <a:lvl7pPr>
              <a:buNone/>
              <a:defRPr sz="1650" b="0">
                <a:solidFill>
                  <a:srgbClr val="C3D0D4"/>
                </a:solidFill>
                <a:latin typeface="Arial"/>
                <a:ea typeface="Arial"/>
                <a:cs typeface="Arial"/>
              </a:defRPr>
            </a:lvl7pPr>
            <a:lvl8pPr>
              <a:buNone/>
              <a:defRPr sz="1650" b="0">
                <a:solidFill>
                  <a:srgbClr val="C3D0D4"/>
                </a:solidFill>
                <a:latin typeface="Arial"/>
                <a:ea typeface="Arial"/>
                <a:cs typeface="Arial"/>
              </a:defRPr>
            </a:lvl8pPr>
            <a:lvl9pPr>
              <a:buNone/>
              <a:defRPr sz="1650" b="0">
                <a:solidFill>
                  <a:srgbClr val="C3D0D4"/>
                </a:solidFill>
                <a:latin typeface="Arial"/>
                <a:ea typeface="Arial"/>
                <a:cs typeface="Arial"/>
              </a:defRPr>
            </a:lvl9pPr>
          </a:lstStyle>
          <a:p xmlns:a="http://schemas.openxmlformats.org/drawingml/2006/main">
            <a:pPr>
              <a:buNone/>
              <a:defRPr sz="1650" b="0">
                <a:solidFill>
                  <a:srgbClr val="C3D0D4"/>
                </a:solidFill>
                <a:latin typeface="Arial"/>
                <a:ea typeface="Arial"/>
                <a:cs typeface="Arial"/>
              </a:defRPr>
            </a:pPr>
            <a:r>
              <a:rPr sz="1650" b="0">
                <a:solidFill>
                  <a:srgbClr val="C3D0D4"/>
                </a:solidFill>
                <a:latin typeface="Arial"/>
                <a:ea typeface="Arial"/>
                <a:cs typeface="Arial"/>
              </a:rPr>
              <a:t>Application code version</a:t>
            </a:r>
          </a:p>
          <a:p xmlns:a="http://schemas.openxmlformats.org/drawingml/2006/main">
            <a:pPr>
              <a:buNone/>
              <a:defRPr sz="1650" b="0">
                <a:solidFill>
                  <a:srgbClr val="C3D0D4"/>
                </a:solidFill>
                <a:latin typeface="Arial"/>
                <a:ea typeface="Arial"/>
                <a:cs typeface="Arial"/>
              </a:defRPr>
            </a:pPr>
            <a:r>
              <a:rPr sz="1650" b="0">
                <a:solidFill>
                  <a:srgbClr val="C3D0D4"/>
                </a:solidFill>
                <a:latin typeface="Arial"/>
                <a:ea typeface="Arial"/>
                <a:cs typeface="Arial"/>
              </a:rPr>
              <a:t>Submission materials</a:t>
            </a:r>
          </a:p>
        </p:txBody>
      </p:sp>
    </p:spTree>
    <p:extLst>
      <p:ext uri="{BB962C8B-B14F-4D97-AF65-F5344CB8AC3E}">
        <p14:creationId xmlns:p14="http://schemas.microsoft.com/office/powerpoint/2010/main" val="21390895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32D27B6-9155-44B3-8413-CD085408FF4A}"/>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THE CLIENT PROBLEM</a:t>
            </a:r>
          </a:p>
        </p:txBody>
      </p:sp>
      <p:sp>
        <p:nvSpPr>
          <p:cNvPr id="2" name="">
            <a:extLst xmlns:a="http://schemas.openxmlformats.org/drawingml/2006/main">
              <a:ext uri="{FF2B5EF4-FFF2-40B4-BE49-F238E27FC236}">
                <a16:creationId xmlns:a16="http://schemas.microsoft.com/office/drawing/2014/main" id="{8E47D1E4-E1E1-4989-8D12-8AA153E33AD9}"/>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A risk signal is not a confirmed flight outcome</a:t>
            </a:r>
          </a:p>
        </p:txBody>
      </p:sp>
      <p:sp>
        <p:nvSpPr>
          <p:cNvPr id="3" name="">
            <a:extLst xmlns:a="http://schemas.openxmlformats.org/drawingml/2006/main">
              <a:ext uri="{FF2B5EF4-FFF2-40B4-BE49-F238E27FC236}">
                <a16:creationId xmlns:a16="http://schemas.microsoft.com/office/drawing/2014/main" id="{F565CB5D-4E78-45C7-8B88-D849B59CB567}"/>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Teams must interpret incomplete or conflicting reports without turning uncertainty into a promise.</a:t>
            </a:r>
          </a:p>
        </p:txBody>
      </p:sp>
      <p:sp>
        <p:nvSpPr>
          <p:cNvPr id="4" name="">
            <a:extLst xmlns:a="http://schemas.openxmlformats.org/drawingml/2006/main">
              <a:ext uri="{FF2B5EF4-FFF2-40B4-BE49-F238E27FC236}">
                <a16:creationId xmlns:a16="http://schemas.microsoft.com/office/drawing/2014/main" id="{E9C2C0FB-91A8-4656-9C8A-642EAF7D0C58}"/>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F76B6D-0B5C-4F9D-AC6B-4553F825BC8F}"/>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B0915052-486D-412C-9D83-1B58EA0E4730}"/>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AC41C7D-4302-4198-A18A-8BB7AB230073}"/>
              </a:ext>
            </a:extLst>
          </p:cNvPr>
          <p:cNvSpPr>
            <a:spLocks xmlns:a="http://schemas.openxmlformats.org/drawingml/2006/main" noGrp="1"/>
          </p:cNvSpPr>
          <p:nvPr/>
        </p:nvSpPr>
        <p:spPr>
          <a:xfrm xmlns:a="http://schemas.openxmlformats.org/drawingml/2006/main">
            <a:off x="571500" y="3095625"/>
            <a:ext cx="3476625"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18FE1F-40E3-4B57-86B8-4D87C2D471BF}"/>
              </a:ext>
            </a:extLst>
          </p:cNvPr>
          <p:cNvSpPr>
            <a:spLocks xmlns:a="http://schemas.openxmlformats.org/drawingml/2006/main" noGrp="1"/>
          </p:cNvSpPr>
          <p:nvPr/>
        </p:nvSpPr>
        <p:spPr>
          <a:xfrm xmlns:a="http://schemas.openxmlformats.org/drawingml/2006/main">
            <a:off x="57150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D931EF5-899E-4701-B59C-E012FD8B219F}"/>
              </a:ext>
            </a:extLst>
          </p:cNvPr>
          <p:cNvSpPr>
            <a:spLocks xmlns:a="http://schemas.openxmlformats.org/drawingml/2006/main" noGrp="1"/>
          </p:cNvSpPr>
          <p:nvPr/>
        </p:nvSpPr>
        <p:spPr>
          <a:xfrm xmlns:a="http://schemas.openxmlformats.org/drawingml/2006/main">
            <a:off x="781050" y="3286125"/>
            <a:ext cx="3057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Fragmented evidence</a:t>
            </a:r>
          </a:p>
        </p:txBody>
      </p:sp>
      <p:sp>
        <p:nvSpPr>
          <p:cNvPr id="10" name="">
            <a:extLst xmlns:a="http://schemas.openxmlformats.org/drawingml/2006/main">
              <a:ext uri="{FF2B5EF4-FFF2-40B4-BE49-F238E27FC236}">
                <a16:creationId xmlns:a16="http://schemas.microsoft.com/office/drawing/2014/main" id="{705685E1-7358-4C06-BEB6-0C0069400356}"/>
              </a:ext>
            </a:extLst>
          </p:cNvPr>
          <p:cNvSpPr>
            <a:spLocks xmlns:a="http://schemas.openxmlformats.org/drawingml/2006/main" noGrp="1"/>
          </p:cNvSpPr>
          <p:nvPr/>
        </p:nvSpPr>
        <p:spPr>
          <a:xfrm xmlns:a="http://schemas.openxmlformats.org/drawingml/2006/main">
            <a:off x="781050" y="3857625"/>
            <a:ext cx="30575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Different report times, source reliability and historical comparisons.</a:t>
            </a:r>
          </a:p>
        </p:txBody>
      </p:sp>
      <p:sp>
        <p:nvSpPr>
          <p:cNvPr id="11" name="">
            <a:extLst xmlns:a="http://schemas.openxmlformats.org/drawingml/2006/main">
              <a:ext uri="{FF2B5EF4-FFF2-40B4-BE49-F238E27FC236}">
                <a16:creationId xmlns:a16="http://schemas.microsoft.com/office/drawing/2014/main" id="{F0600D0E-23B4-4C7A-9316-306695BBB3F2}"/>
              </a:ext>
            </a:extLst>
          </p:cNvPr>
          <p:cNvSpPr>
            <a:spLocks xmlns:a="http://schemas.openxmlformats.org/drawingml/2006/main" noGrp="1"/>
          </p:cNvSpPr>
          <p:nvPr/>
        </p:nvSpPr>
        <p:spPr>
          <a:xfrm xmlns:a="http://schemas.openxmlformats.org/drawingml/2006/main">
            <a:off x="4276725" y="3095625"/>
            <a:ext cx="3476625"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E694234-2BF5-476A-8CD4-F18762D2443A}"/>
              </a:ext>
            </a:extLst>
          </p:cNvPr>
          <p:cNvSpPr>
            <a:spLocks xmlns:a="http://schemas.openxmlformats.org/drawingml/2006/main" noGrp="1"/>
          </p:cNvSpPr>
          <p:nvPr/>
        </p:nvSpPr>
        <p:spPr>
          <a:xfrm xmlns:a="http://schemas.openxmlformats.org/drawingml/2006/main">
            <a:off x="4276725"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31DF01-6FB0-4054-8577-CF606AA37019}"/>
              </a:ext>
            </a:extLst>
          </p:cNvPr>
          <p:cNvSpPr>
            <a:spLocks xmlns:a="http://schemas.openxmlformats.org/drawingml/2006/main" noGrp="1"/>
          </p:cNvSpPr>
          <p:nvPr/>
        </p:nvSpPr>
        <p:spPr>
          <a:xfrm xmlns:a="http://schemas.openxmlformats.org/drawingml/2006/main">
            <a:off x="4486275" y="3286125"/>
            <a:ext cx="3057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Different audiences</a:t>
            </a:r>
          </a:p>
        </p:txBody>
      </p:sp>
      <p:sp>
        <p:nvSpPr>
          <p:cNvPr id="14" name="">
            <a:extLst xmlns:a="http://schemas.openxmlformats.org/drawingml/2006/main">
              <a:ext uri="{FF2B5EF4-FFF2-40B4-BE49-F238E27FC236}">
                <a16:creationId xmlns:a16="http://schemas.microsoft.com/office/drawing/2014/main" id="{E48C8089-9C7B-462E-8A8E-953E23344013}"/>
              </a:ext>
            </a:extLst>
          </p:cNvPr>
          <p:cNvSpPr>
            <a:spLocks xmlns:a="http://schemas.openxmlformats.org/drawingml/2006/main" noGrp="1"/>
          </p:cNvSpPr>
          <p:nvPr/>
        </p:nvSpPr>
        <p:spPr>
          <a:xfrm xmlns:a="http://schemas.openxmlformats.org/drawingml/2006/main">
            <a:off x="4486275" y="3857625"/>
            <a:ext cx="30575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Operations, airport coordination and passengers need different drafts.</a:t>
            </a:r>
          </a:p>
        </p:txBody>
      </p:sp>
      <p:sp>
        <p:nvSpPr>
          <p:cNvPr id="15" name="">
            <a:extLst xmlns:a="http://schemas.openxmlformats.org/drawingml/2006/main">
              <a:ext uri="{FF2B5EF4-FFF2-40B4-BE49-F238E27FC236}">
                <a16:creationId xmlns:a16="http://schemas.microsoft.com/office/drawing/2014/main" id="{812ACA66-2BEE-40FB-AE2D-19F67721641D}"/>
              </a:ext>
            </a:extLst>
          </p:cNvPr>
          <p:cNvSpPr>
            <a:spLocks xmlns:a="http://schemas.openxmlformats.org/drawingml/2006/main" noGrp="1"/>
          </p:cNvSpPr>
          <p:nvPr/>
        </p:nvSpPr>
        <p:spPr>
          <a:xfrm xmlns:a="http://schemas.openxmlformats.org/drawingml/2006/main">
            <a:off x="7981950" y="3095625"/>
            <a:ext cx="3638550"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9D728B4-A47C-4AD1-9214-824BF87D6229}"/>
              </a:ext>
            </a:extLst>
          </p:cNvPr>
          <p:cNvSpPr>
            <a:spLocks xmlns:a="http://schemas.openxmlformats.org/drawingml/2006/main" noGrp="1"/>
          </p:cNvSpPr>
          <p:nvPr/>
        </p:nvSpPr>
        <p:spPr>
          <a:xfrm xmlns:a="http://schemas.openxmlformats.org/drawingml/2006/main">
            <a:off x="798195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577C01-CD3D-4F65-A004-058E348B2AEA}"/>
              </a:ext>
            </a:extLst>
          </p:cNvPr>
          <p:cNvSpPr>
            <a:spLocks xmlns:a="http://schemas.openxmlformats.org/drawingml/2006/main" noGrp="1"/>
          </p:cNvSpPr>
          <p:nvPr/>
        </p:nvSpPr>
        <p:spPr>
          <a:xfrm xmlns:a="http://schemas.openxmlformats.org/drawingml/2006/main">
            <a:off x="8191500" y="3286125"/>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Human responsibility</a:t>
            </a:r>
          </a:p>
        </p:txBody>
      </p:sp>
      <p:sp>
        <p:nvSpPr>
          <p:cNvPr id="18" name="">
            <a:extLst xmlns:a="http://schemas.openxmlformats.org/drawingml/2006/main">
              <a:ext uri="{FF2B5EF4-FFF2-40B4-BE49-F238E27FC236}">
                <a16:creationId xmlns:a16="http://schemas.microsoft.com/office/drawing/2014/main" id="{A854E701-9473-435A-8126-87D91DA97AEC}"/>
              </a:ext>
            </a:extLst>
          </p:cNvPr>
          <p:cNvSpPr>
            <a:spLocks xmlns:a="http://schemas.openxmlformats.org/drawingml/2006/main" noGrp="1"/>
          </p:cNvSpPr>
          <p:nvPr/>
        </p:nvSpPr>
        <p:spPr>
          <a:xfrm xmlns:a="http://schemas.openxmlformats.org/drawingml/2006/main">
            <a:off x="8191500" y="3857625"/>
            <a:ext cx="32194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Safety, release, dispatch and publication decisions stay with authorized people.</a:t>
            </a:r>
          </a:p>
        </p:txBody>
      </p:sp>
    </p:spTree>
    <p:extLst>
      <p:ext uri="{BB962C8B-B14F-4D97-AF65-F5344CB8AC3E}">
        <p14:creationId xmlns:p14="http://schemas.microsoft.com/office/powerpoint/2010/main" val="5050446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4C1CADF-F19D-49ED-86D0-436B3490F166}"/>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IMPLEMENTED WORKFLOW</a:t>
            </a:r>
          </a:p>
        </p:txBody>
      </p:sp>
      <p:sp>
        <p:nvSpPr>
          <p:cNvPr id="2" name="">
            <a:extLst xmlns:a="http://schemas.openxmlformats.org/drawingml/2006/main">
              <a:ext uri="{FF2B5EF4-FFF2-40B4-BE49-F238E27FC236}">
                <a16:creationId xmlns:a16="http://schemas.microsoft.com/office/drawing/2014/main" id="{74913BE3-52BC-4771-82EF-0D5AAC23E642}"/>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One record from evidence to later outcomes</a:t>
            </a:r>
          </a:p>
        </p:txBody>
      </p:sp>
      <p:sp>
        <p:nvSpPr>
          <p:cNvPr id="3" name="">
            <a:extLst xmlns:a="http://schemas.openxmlformats.org/drawingml/2006/main">
              <a:ext uri="{FF2B5EF4-FFF2-40B4-BE49-F238E27FC236}">
                <a16:creationId xmlns:a16="http://schemas.microsoft.com/office/drawing/2014/main" id="{C6CEA7B3-F9E0-4447-9FF2-421450C772BB}"/>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English and Chinese • clickable citations • versioned history • JSON export and print</a:t>
            </a:r>
          </a:p>
        </p:txBody>
      </p:sp>
      <p:sp>
        <p:nvSpPr>
          <p:cNvPr id="4" name="">
            <a:extLst xmlns:a="http://schemas.openxmlformats.org/drawingml/2006/main">
              <a:ext uri="{FF2B5EF4-FFF2-40B4-BE49-F238E27FC236}">
                <a16:creationId xmlns:a16="http://schemas.microsoft.com/office/drawing/2014/main" id="{D7F6D412-5352-472B-91AD-8B1EBFBF528D}"/>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510246-14B2-44B9-AA00-E255D3BBF568}"/>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F95170B5-137D-4B7B-AA6D-35606CF17460}"/>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A60C585-7184-4720-B432-AB910AE164A2}"/>
              </a:ext>
            </a:extLst>
          </p:cNvPr>
          <p:cNvSpPr>
            <a:spLocks xmlns:a="http://schemas.openxmlformats.org/drawingml/2006/main" noGrp="1"/>
          </p:cNvSpPr>
          <p:nvPr/>
        </p:nvSpPr>
        <p:spPr>
          <a:xfrm xmlns:a="http://schemas.openxmlformats.org/drawingml/2006/main">
            <a:off x="571500" y="3095625"/>
            <a:ext cx="2647950"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C9FBFA-B78E-4A53-922D-46AF9E5E39B8}"/>
              </a:ext>
            </a:extLst>
          </p:cNvPr>
          <p:cNvSpPr>
            <a:spLocks xmlns:a="http://schemas.openxmlformats.org/drawingml/2006/main" noGrp="1"/>
          </p:cNvSpPr>
          <p:nvPr/>
        </p:nvSpPr>
        <p:spPr>
          <a:xfrm xmlns:a="http://schemas.openxmlformats.org/drawingml/2006/main">
            <a:off x="571500" y="3095625"/>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B1AE8DE-AD42-4BE9-918F-920638745E7C}"/>
              </a:ext>
            </a:extLst>
          </p:cNvPr>
          <p:cNvSpPr>
            <a:spLocks xmlns:a="http://schemas.openxmlformats.org/drawingml/2006/main" noGrp="1"/>
          </p:cNvSpPr>
          <p:nvPr/>
        </p:nvSpPr>
        <p:spPr>
          <a:xfrm xmlns:a="http://schemas.openxmlformats.org/drawingml/2006/main">
            <a:off x="781050" y="3286125"/>
            <a:ext cx="2228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01  Record</a:t>
            </a:r>
          </a:p>
        </p:txBody>
      </p:sp>
      <p:sp>
        <p:nvSpPr>
          <p:cNvPr id="10" name="">
            <a:extLst xmlns:a="http://schemas.openxmlformats.org/drawingml/2006/main">
              <a:ext uri="{FF2B5EF4-FFF2-40B4-BE49-F238E27FC236}">
                <a16:creationId xmlns:a16="http://schemas.microsoft.com/office/drawing/2014/main" id="{A1686550-2BC0-4213-988D-4A931382F4C6}"/>
              </a:ext>
            </a:extLst>
          </p:cNvPr>
          <p:cNvSpPr>
            <a:spLocks xmlns:a="http://schemas.openxmlformats.org/drawingml/2006/main" noGrp="1"/>
          </p:cNvSpPr>
          <p:nvPr/>
        </p:nvSpPr>
        <p:spPr>
          <a:xfrm xmlns:a="http://schemas.openxmlformats.org/drawingml/2006/main">
            <a:off x="781050" y="3857625"/>
            <a:ext cx="22288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Incident, reports,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privacy review and</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source/time metadata</a:t>
            </a:r>
          </a:p>
        </p:txBody>
      </p:sp>
      <p:sp>
        <p:nvSpPr>
          <p:cNvPr id="11" name="">
            <a:extLst xmlns:a="http://schemas.openxmlformats.org/drawingml/2006/main">
              <a:ext uri="{FF2B5EF4-FFF2-40B4-BE49-F238E27FC236}">
                <a16:creationId xmlns:a16="http://schemas.microsoft.com/office/drawing/2014/main" id="{B2C919B8-DE60-4D88-8C04-4C07845DFB2B}"/>
              </a:ext>
            </a:extLst>
          </p:cNvPr>
          <p:cNvSpPr>
            <a:spLocks xmlns:a="http://schemas.openxmlformats.org/drawingml/2006/main" noGrp="1"/>
          </p:cNvSpPr>
          <p:nvPr/>
        </p:nvSpPr>
        <p:spPr>
          <a:xfrm xmlns:a="http://schemas.openxmlformats.org/drawingml/2006/main">
            <a:off x="3371850" y="3095625"/>
            <a:ext cx="2647950"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9D6EF5-F14E-4AE7-8AC7-06E27B9A1C37}"/>
              </a:ext>
            </a:extLst>
          </p:cNvPr>
          <p:cNvSpPr>
            <a:spLocks xmlns:a="http://schemas.openxmlformats.org/drawingml/2006/main" noGrp="1"/>
          </p:cNvSpPr>
          <p:nvPr/>
        </p:nvSpPr>
        <p:spPr>
          <a:xfrm xmlns:a="http://schemas.openxmlformats.org/drawingml/2006/main">
            <a:off x="3371850" y="3095625"/>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8CC6C08-2146-4EA5-B2DD-F997A1512940}"/>
              </a:ext>
            </a:extLst>
          </p:cNvPr>
          <p:cNvSpPr>
            <a:spLocks xmlns:a="http://schemas.openxmlformats.org/drawingml/2006/main" noGrp="1"/>
          </p:cNvSpPr>
          <p:nvPr/>
        </p:nvSpPr>
        <p:spPr>
          <a:xfrm xmlns:a="http://schemas.openxmlformats.org/drawingml/2006/main">
            <a:off x="3581400" y="3286125"/>
            <a:ext cx="2228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02  Analyze</a:t>
            </a:r>
          </a:p>
        </p:txBody>
      </p:sp>
      <p:sp>
        <p:nvSpPr>
          <p:cNvPr id="14" name="">
            <a:extLst xmlns:a="http://schemas.openxmlformats.org/drawingml/2006/main">
              <a:ext uri="{FF2B5EF4-FFF2-40B4-BE49-F238E27FC236}">
                <a16:creationId xmlns:a16="http://schemas.microsoft.com/office/drawing/2014/main" id="{F078CF0F-4A2B-4868-B487-40DD1938D0C9}"/>
              </a:ext>
            </a:extLst>
          </p:cNvPr>
          <p:cNvSpPr>
            <a:spLocks xmlns:a="http://schemas.openxmlformats.org/drawingml/2006/main" noGrp="1"/>
          </p:cNvSpPr>
          <p:nvPr/>
        </p:nvSpPr>
        <p:spPr>
          <a:xfrm xmlns:a="http://schemas.openxmlformats.org/drawingml/2006/main">
            <a:off x="3581400" y="3857625"/>
            <a:ext cx="22288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Scoped history,</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deterministic policy,</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model explanation</a:t>
            </a:r>
          </a:p>
        </p:txBody>
      </p:sp>
      <p:sp>
        <p:nvSpPr>
          <p:cNvPr id="15" name="">
            <a:extLst xmlns:a="http://schemas.openxmlformats.org/drawingml/2006/main">
              <a:ext uri="{FF2B5EF4-FFF2-40B4-BE49-F238E27FC236}">
                <a16:creationId xmlns:a16="http://schemas.microsoft.com/office/drawing/2014/main" id="{6CDAD591-8D79-456C-A06D-212D8B2AFF13}"/>
              </a:ext>
            </a:extLst>
          </p:cNvPr>
          <p:cNvSpPr>
            <a:spLocks xmlns:a="http://schemas.openxmlformats.org/drawingml/2006/main" noGrp="1"/>
          </p:cNvSpPr>
          <p:nvPr/>
        </p:nvSpPr>
        <p:spPr>
          <a:xfrm xmlns:a="http://schemas.openxmlformats.org/drawingml/2006/main">
            <a:off x="6172200" y="3095625"/>
            <a:ext cx="2647950"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B201C60-839F-4940-B7B9-9AD4D6A9AE7B}"/>
              </a:ext>
            </a:extLst>
          </p:cNvPr>
          <p:cNvSpPr>
            <a:spLocks xmlns:a="http://schemas.openxmlformats.org/drawingml/2006/main" noGrp="1"/>
          </p:cNvSpPr>
          <p:nvPr/>
        </p:nvSpPr>
        <p:spPr>
          <a:xfrm xmlns:a="http://schemas.openxmlformats.org/drawingml/2006/main">
            <a:off x="6172200" y="3095625"/>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95A27C5-89F9-42A6-86F1-B96C82910B99}"/>
              </a:ext>
            </a:extLst>
          </p:cNvPr>
          <p:cNvSpPr>
            <a:spLocks xmlns:a="http://schemas.openxmlformats.org/drawingml/2006/main" noGrp="1"/>
          </p:cNvSpPr>
          <p:nvPr/>
        </p:nvSpPr>
        <p:spPr>
          <a:xfrm xmlns:a="http://schemas.openxmlformats.org/drawingml/2006/main">
            <a:off x="6381750" y="3286125"/>
            <a:ext cx="2228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03  Decide</a:t>
            </a:r>
          </a:p>
        </p:txBody>
      </p:sp>
      <p:sp>
        <p:nvSpPr>
          <p:cNvPr id="18" name="">
            <a:extLst xmlns:a="http://schemas.openxmlformats.org/drawingml/2006/main">
              <a:ext uri="{FF2B5EF4-FFF2-40B4-BE49-F238E27FC236}">
                <a16:creationId xmlns:a16="http://schemas.microsoft.com/office/drawing/2014/main" id="{C55469E5-6C52-4C67-A955-DD10B5A6A7C3}"/>
              </a:ext>
            </a:extLst>
          </p:cNvPr>
          <p:cNvSpPr>
            <a:spLocks xmlns:a="http://schemas.openxmlformats.org/drawingml/2006/main" noGrp="1"/>
          </p:cNvSpPr>
          <p:nvPr/>
        </p:nvSpPr>
        <p:spPr>
          <a:xfrm xmlns:a="http://schemas.openxmlformats.org/drawingml/2006/main">
            <a:off x="6381750" y="3857625"/>
            <a:ext cx="22288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Accept, modify, reject</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or leave Pending;</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retain full reasons</a:t>
            </a:r>
          </a:p>
        </p:txBody>
      </p:sp>
      <p:sp>
        <p:nvSpPr>
          <p:cNvPr id="19" name="">
            <a:extLst xmlns:a="http://schemas.openxmlformats.org/drawingml/2006/main">
              <a:ext uri="{FF2B5EF4-FFF2-40B4-BE49-F238E27FC236}">
                <a16:creationId xmlns:a16="http://schemas.microsoft.com/office/drawing/2014/main" id="{60A355CE-E1B6-40D8-A74A-3CEB96364BC2}"/>
              </a:ext>
            </a:extLst>
          </p:cNvPr>
          <p:cNvSpPr>
            <a:spLocks xmlns:a="http://schemas.openxmlformats.org/drawingml/2006/main" noGrp="1"/>
          </p:cNvSpPr>
          <p:nvPr/>
        </p:nvSpPr>
        <p:spPr>
          <a:xfrm xmlns:a="http://schemas.openxmlformats.org/drawingml/2006/main">
            <a:off x="8972550" y="3095625"/>
            <a:ext cx="2647950"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68E89BC-ECBB-4B4E-BA2F-D01E91769A7C}"/>
              </a:ext>
            </a:extLst>
          </p:cNvPr>
          <p:cNvSpPr>
            <a:spLocks xmlns:a="http://schemas.openxmlformats.org/drawingml/2006/main" noGrp="1"/>
          </p:cNvSpPr>
          <p:nvPr/>
        </p:nvSpPr>
        <p:spPr>
          <a:xfrm xmlns:a="http://schemas.openxmlformats.org/drawingml/2006/main">
            <a:off x="8972550" y="3095625"/>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8B3F483-BA59-4352-B59D-31002B6259EB}"/>
              </a:ext>
            </a:extLst>
          </p:cNvPr>
          <p:cNvSpPr>
            <a:spLocks xmlns:a="http://schemas.openxmlformats.org/drawingml/2006/main" noGrp="1"/>
          </p:cNvSpPr>
          <p:nvPr/>
        </p:nvSpPr>
        <p:spPr>
          <a:xfrm xmlns:a="http://schemas.openxmlformats.org/drawingml/2006/main">
            <a:off x="9182100" y="3286125"/>
            <a:ext cx="2228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04  Revisit</a:t>
            </a:r>
          </a:p>
        </p:txBody>
      </p:sp>
      <p:sp>
        <p:nvSpPr>
          <p:cNvPr id="22" name="">
            <a:extLst xmlns:a="http://schemas.openxmlformats.org/drawingml/2006/main">
              <a:ext uri="{FF2B5EF4-FFF2-40B4-BE49-F238E27FC236}">
                <a16:creationId xmlns:a16="http://schemas.microsoft.com/office/drawing/2014/main" id="{45D68AB0-500E-4629-BEAE-873FE38CDDCA}"/>
              </a:ext>
            </a:extLst>
          </p:cNvPr>
          <p:cNvSpPr>
            <a:spLocks xmlns:a="http://schemas.openxmlformats.org/drawingml/2006/main" noGrp="1"/>
          </p:cNvSpPr>
          <p:nvPr/>
        </p:nvSpPr>
        <p:spPr>
          <a:xfrm xmlns:a="http://schemas.openxmlformats.org/drawingml/2006/main">
            <a:off x="9182100" y="3857625"/>
            <a:ext cx="22288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Record outcomes later;</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reassess or edit;</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preserve revisions</a:t>
            </a:r>
          </a:p>
        </p:txBody>
      </p:sp>
    </p:spTree>
    <p:extLst>
      <p:ext uri="{BB962C8B-B14F-4D97-AF65-F5344CB8AC3E}">
        <p14:creationId xmlns:p14="http://schemas.microsoft.com/office/powerpoint/2010/main" val="3778211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BE7357-9398-4AA7-962C-3379713A7974}"/>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666DFC2E-52D4-4939-BC9B-100094BD48A1}"/>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Calculate constraints first. Generate prose second.</a:t>
            </a:r>
          </a:p>
        </p:txBody>
      </p:sp>
      <p:sp>
        <p:nvSpPr>
          <p:cNvPr id="3" name="">
            <a:extLst xmlns:a="http://schemas.openxmlformats.org/drawingml/2006/main">
              <a:ext uri="{FF2B5EF4-FFF2-40B4-BE49-F238E27FC236}">
                <a16:creationId xmlns:a16="http://schemas.microsoft.com/office/drawing/2014/main" id="{77B43712-4BF3-44C4-8A3B-28D30D62DF5F}"/>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The model receives scoped evidence and policy results; validation cannot prove every sentence true.</a:t>
            </a:r>
          </a:p>
        </p:txBody>
      </p:sp>
      <p:sp>
        <p:nvSpPr>
          <p:cNvPr id="4" name="">
            <a:extLst xmlns:a="http://schemas.openxmlformats.org/drawingml/2006/main">
              <a:ext uri="{FF2B5EF4-FFF2-40B4-BE49-F238E27FC236}">
                <a16:creationId xmlns:a16="http://schemas.microsoft.com/office/drawing/2014/main" id="{8753BDD1-B328-4E6C-9EB8-0840967E1762}"/>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D9FB35-0E47-4E41-9828-46D6D3DFE760}"/>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FE48BEFE-09C5-4702-8BF4-6B09CD587883}"/>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FCB9C56F-3F8B-4579-8377-B06EC25B60C1}"/>
              </a:ext>
            </a:extLst>
          </p:cNvPr>
          <p:cNvSpPr>
            <a:spLocks xmlns:a="http://schemas.openxmlformats.org/drawingml/2006/main" noGrp="1"/>
          </p:cNvSpPr>
          <p:nvPr/>
        </p:nvSpPr>
        <p:spPr>
          <a:xfrm xmlns:a="http://schemas.openxmlformats.org/drawingml/2006/main">
            <a:off x="571500" y="3048000"/>
            <a:ext cx="5334000" cy="266700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731CB5D-1902-439C-96AE-A9AA1FBB6B53}"/>
              </a:ext>
            </a:extLst>
          </p:cNvPr>
          <p:cNvSpPr>
            <a:spLocks xmlns:a="http://schemas.openxmlformats.org/drawingml/2006/main" noGrp="1"/>
          </p:cNvSpPr>
          <p:nvPr/>
        </p:nvSpPr>
        <p:spPr>
          <a:xfrm xmlns:a="http://schemas.openxmlformats.org/drawingml/2006/main">
            <a:off x="571500" y="3048000"/>
            <a:ext cx="38100" cy="266700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03E541B-4801-494D-A369-A1118F34DBD8}"/>
              </a:ext>
            </a:extLst>
          </p:cNvPr>
          <p:cNvSpPr>
            <a:spLocks xmlns:a="http://schemas.openxmlformats.org/drawingml/2006/main" noGrp="1"/>
          </p:cNvSpPr>
          <p:nvPr/>
        </p:nvSpPr>
        <p:spPr>
          <a:xfrm xmlns:a="http://schemas.openxmlformats.org/drawingml/2006/main">
            <a:off x="781050" y="3238500"/>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Deterministic context</a:t>
            </a:r>
          </a:p>
        </p:txBody>
      </p:sp>
      <p:sp>
        <p:nvSpPr>
          <p:cNvPr id="10" name="">
            <a:extLst xmlns:a="http://schemas.openxmlformats.org/drawingml/2006/main">
              <a:ext uri="{FF2B5EF4-FFF2-40B4-BE49-F238E27FC236}">
                <a16:creationId xmlns:a16="http://schemas.microsoft.com/office/drawing/2014/main" id="{C9A224FC-624D-4416-9251-7C641B300CE6}"/>
              </a:ext>
            </a:extLst>
          </p:cNvPr>
          <p:cNvSpPr>
            <a:spLocks xmlns:a="http://schemas.openxmlformats.org/drawingml/2006/main" noGrp="1"/>
          </p:cNvSpPr>
          <p:nvPr/>
        </p:nvSpPr>
        <p:spPr>
          <a:xfrm xmlns:a="http://schemas.openxmlformats.org/drawingml/2006/main">
            <a:off x="781050" y="3810000"/>
            <a:ext cx="4914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Current reports within ±30 minutes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Historical mean: up to 12 prior months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Source independence and stop conditions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Known evidence / metric identifiers</a:t>
            </a:r>
          </a:p>
        </p:txBody>
      </p:sp>
      <p:sp>
        <p:nvSpPr>
          <p:cNvPr id="11" name="">
            <a:extLst xmlns:a="http://schemas.openxmlformats.org/drawingml/2006/main">
              <a:ext uri="{FF2B5EF4-FFF2-40B4-BE49-F238E27FC236}">
                <a16:creationId xmlns:a16="http://schemas.microsoft.com/office/drawing/2014/main" id="{4C99F58D-BF3B-4521-9CBD-F13C8FD33F6A}"/>
              </a:ext>
            </a:extLst>
          </p:cNvPr>
          <p:cNvSpPr>
            <a:spLocks xmlns:a="http://schemas.openxmlformats.org/drawingml/2006/main" noGrp="1"/>
          </p:cNvSpPr>
          <p:nvPr/>
        </p:nvSpPr>
        <p:spPr>
          <a:xfrm xmlns:a="http://schemas.openxmlformats.org/drawingml/2006/main">
            <a:off x="6172200" y="3048000"/>
            <a:ext cx="5448300" cy="266700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3841C3-3377-4A7A-A4DA-AD85DF6510A9}"/>
              </a:ext>
            </a:extLst>
          </p:cNvPr>
          <p:cNvSpPr>
            <a:spLocks xmlns:a="http://schemas.openxmlformats.org/drawingml/2006/main" noGrp="1"/>
          </p:cNvSpPr>
          <p:nvPr/>
        </p:nvSpPr>
        <p:spPr>
          <a:xfrm xmlns:a="http://schemas.openxmlformats.org/drawingml/2006/main">
            <a:off x="6172200" y="3048000"/>
            <a:ext cx="38100" cy="266700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DF58D7-B68B-47F0-9012-4C5FA2ED76CD}"/>
              </a:ext>
            </a:extLst>
          </p:cNvPr>
          <p:cNvSpPr>
            <a:spLocks xmlns:a="http://schemas.openxmlformats.org/drawingml/2006/main" noGrp="1"/>
          </p:cNvSpPr>
          <p:nvPr/>
        </p:nvSpPr>
        <p:spPr>
          <a:xfrm xmlns:a="http://schemas.openxmlformats.org/drawingml/2006/main">
            <a:off x="6381750" y="3238500"/>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Model + bounded validation</a:t>
            </a:r>
          </a:p>
        </p:txBody>
      </p:sp>
      <p:sp>
        <p:nvSpPr>
          <p:cNvPr id="14" name="">
            <a:extLst xmlns:a="http://schemas.openxmlformats.org/drawingml/2006/main">
              <a:ext uri="{FF2B5EF4-FFF2-40B4-BE49-F238E27FC236}">
                <a16:creationId xmlns:a16="http://schemas.microsoft.com/office/drawing/2014/main" id="{5C7814D4-CD0D-4430-9E0B-29B63AE73DA7}"/>
              </a:ext>
            </a:extLst>
          </p:cNvPr>
          <p:cNvSpPr>
            <a:spLocks xmlns:a="http://schemas.openxmlformats.org/drawingml/2006/main" noGrp="1"/>
          </p:cNvSpPr>
          <p:nvPr/>
        </p:nvSpPr>
        <p:spPr>
          <a:xfrm xmlns:a="http://schemas.openxmlformats.org/drawingml/2006/main">
            <a:off x="6381750" y="3810000"/>
            <a:ext cx="5029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DeepSeek Flash / high / Responses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Bilingual explanations and three drafts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JSON, evidence and constraint checks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One repair; visible failure or advisories</a:t>
            </a:r>
          </a:p>
        </p:txBody>
      </p:sp>
    </p:spTree>
    <p:extLst>
      <p:ext uri="{BB962C8B-B14F-4D97-AF65-F5344CB8AC3E}">
        <p14:creationId xmlns:p14="http://schemas.microsoft.com/office/powerpoint/2010/main" val="18126634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6F4D33-5C6C-4044-A448-C25D1A8548C8}"/>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RECORDED REAL-MODEL EXAMPLE</a:t>
            </a:r>
          </a:p>
        </p:txBody>
      </p:sp>
      <p:sp>
        <p:nvSpPr>
          <p:cNvPr id="2" name="">
            <a:extLst xmlns:a="http://schemas.openxmlformats.org/drawingml/2006/main">
              <a:ext uri="{FF2B5EF4-FFF2-40B4-BE49-F238E27FC236}">
                <a16:creationId xmlns:a16="http://schemas.microsoft.com/office/drawing/2014/main" id="{2FB44B5E-8498-4781-8EE7-FF2A07A4784E}"/>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Gusts + an expanding support shortage</a:t>
            </a:r>
          </a:p>
        </p:txBody>
      </p:sp>
      <p:sp>
        <p:nvSpPr>
          <p:cNvPr id="3" name="">
            <a:extLst xmlns:a="http://schemas.openxmlformats.org/drawingml/2006/main">
              <a:ext uri="{FF2B5EF4-FFF2-40B4-BE49-F238E27FC236}">
                <a16:creationId xmlns:a16="http://schemas.microsoft.com/office/drawing/2014/main" id="{5FD2D7B4-82D9-42DF-874B-2FE489D7BA3E}"/>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UNSEEN02-en • fictional QING • scenario Day 42, 18:00 • unseen when tested</a:t>
            </a:r>
          </a:p>
        </p:txBody>
      </p:sp>
      <p:sp>
        <p:nvSpPr>
          <p:cNvPr id="4" name="">
            <a:extLst xmlns:a="http://schemas.openxmlformats.org/drawingml/2006/main">
              <a:ext uri="{FF2B5EF4-FFF2-40B4-BE49-F238E27FC236}">
                <a16:creationId xmlns:a16="http://schemas.microsoft.com/office/drawing/2014/main" id="{D92D4825-295D-406E-B479-52F27D5A651F}"/>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E8A614-9D26-4A2F-8737-649413359C1F}"/>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95119195-E39F-4D5E-86C2-744778AB633C}"/>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C7BD4B1E-1774-4B08-AFF4-03343FF0574E}"/>
              </a:ext>
            </a:extLst>
          </p:cNvPr>
          <p:cNvSpPr>
            <a:spLocks xmlns:a="http://schemas.openxmlformats.org/drawingml/2006/main" noGrp="1"/>
          </p:cNvSpPr>
          <p:nvPr/>
        </p:nvSpPr>
        <p:spPr>
          <a:xfrm xmlns:a="http://schemas.openxmlformats.org/drawingml/2006/main">
            <a:off x="571500" y="3048000"/>
            <a:ext cx="3476625"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CE921D-EAE7-483D-AD52-632B142E498C}"/>
              </a:ext>
            </a:extLst>
          </p:cNvPr>
          <p:cNvSpPr>
            <a:spLocks xmlns:a="http://schemas.openxmlformats.org/drawingml/2006/main" noGrp="1"/>
          </p:cNvSpPr>
          <p:nvPr/>
        </p:nvSpPr>
        <p:spPr>
          <a:xfrm xmlns:a="http://schemas.openxmlformats.org/drawingml/2006/main">
            <a:off x="571500" y="3048000"/>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B2C2903-88ED-474A-90EE-612099746D2D}"/>
              </a:ext>
            </a:extLst>
          </p:cNvPr>
          <p:cNvSpPr>
            <a:spLocks xmlns:a="http://schemas.openxmlformats.org/drawingml/2006/main" noGrp="1"/>
          </p:cNvSpPr>
          <p:nvPr/>
        </p:nvSpPr>
        <p:spPr>
          <a:xfrm xmlns:a="http://schemas.openxmlformats.org/drawingml/2006/main">
            <a:off x="781050" y="3238500"/>
            <a:ext cx="3057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17:45  Gust report</a:t>
            </a:r>
          </a:p>
        </p:txBody>
      </p:sp>
      <p:sp>
        <p:nvSpPr>
          <p:cNvPr id="10" name="">
            <a:extLst xmlns:a="http://schemas.openxmlformats.org/drawingml/2006/main">
              <a:ext uri="{FF2B5EF4-FFF2-40B4-BE49-F238E27FC236}">
                <a16:creationId xmlns:a16="http://schemas.microsoft.com/office/drawing/2014/main" id="{767F4C7B-463A-4E8C-881D-1F26BEC52135}"/>
              </a:ext>
            </a:extLst>
          </p:cNvPr>
          <p:cNvSpPr>
            <a:spLocks xmlns:a="http://schemas.openxmlformats.org/drawingml/2006/main" noGrp="1"/>
          </p:cNvSpPr>
          <p:nvPr/>
        </p:nvSpPr>
        <p:spPr>
          <a:xfrm xmlns:a="http://schemas.openxmlformats.org/drawingml/2006/main">
            <a:off x="781050" y="3810000"/>
            <a:ext cx="30575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Verified in the fictional log.</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Separate weather origin.</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15 minutes before scenario.</a:t>
            </a:r>
          </a:p>
        </p:txBody>
      </p:sp>
      <p:sp>
        <p:nvSpPr>
          <p:cNvPr id="11" name="">
            <a:extLst xmlns:a="http://schemas.openxmlformats.org/drawingml/2006/main">
              <a:ext uri="{FF2B5EF4-FFF2-40B4-BE49-F238E27FC236}">
                <a16:creationId xmlns:a16="http://schemas.microsoft.com/office/drawing/2014/main" id="{EE9DCB93-8496-4046-995D-1D6ECABFE6AD}"/>
              </a:ext>
            </a:extLst>
          </p:cNvPr>
          <p:cNvSpPr>
            <a:spLocks xmlns:a="http://schemas.openxmlformats.org/drawingml/2006/main" noGrp="1"/>
          </p:cNvSpPr>
          <p:nvPr/>
        </p:nvSpPr>
        <p:spPr>
          <a:xfrm xmlns:a="http://schemas.openxmlformats.org/drawingml/2006/main">
            <a:off x="4276725" y="3048000"/>
            <a:ext cx="3476625"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6974ACA-8869-48C6-AB92-750C1407AE64}"/>
              </a:ext>
            </a:extLst>
          </p:cNvPr>
          <p:cNvSpPr>
            <a:spLocks xmlns:a="http://schemas.openxmlformats.org/drawingml/2006/main" noGrp="1"/>
          </p:cNvSpPr>
          <p:nvPr/>
        </p:nvSpPr>
        <p:spPr>
          <a:xfrm xmlns:a="http://schemas.openxmlformats.org/drawingml/2006/main">
            <a:off x="4276725" y="3048000"/>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23E786B-D47C-46F0-8774-34B9619029A0}"/>
              </a:ext>
            </a:extLst>
          </p:cNvPr>
          <p:cNvSpPr>
            <a:spLocks xmlns:a="http://schemas.openxmlformats.org/drawingml/2006/main" noGrp="1"/>
          </p:cNvSpPr>
          <p:nvPr/>
        </p:nvSpPr>
        <p:spPr>
          <a:xfrm xmlns:a="http://schemas.openxmlformats.org/drawingml/2006/main">
            <a:off x="4486275" y="3238500"/>
            <a:ext cx="3057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18:20  Support report</a:t>
            </a:r>
          </a:p>
        </p:txBody>
      </p:sp>
      <p:sp>
        <p:nvSpPr>
          <p:cNvPr id="14" name="">
            <a:extLst xmlns:a="http://schemas.openxmlformats.org/drawingml/2006/main">
              <a:ext uri="{FF2B5EF4-FFF2-40B4-BE49-F238E27FC236}">
                <a16:creationId xmlns:a16="http://schemas.microsoft.com/office/drawing/2014/main" id="{99061C10-0822-4327-9B00-79C6DEB2274C}"/>
              </a:ext>
            </a:extLst>
          </p:cNvPr>
          <p:cNvSpPr>
            <a:spLocks xmlns:a="http://schemas.openxmlformats.org/drawingml/2006/main" noGrp="1"/>
          </p:cNvSpPr>
          <p:nvPr/>
        </p:nvSpPr>
        <p:spPr>
          <a:xfrm xmlns:a="http://schemas.openxmlformats.org/drawingml/2006/main">
            <a:off x="4486275" y="3810000"/>
            <a:ext cx="30575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Shortage spreads to a</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second stand cluster.</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20 minutes after scenario.</a:t>
            </a:r>
          </a:p>
        </p:txBody>
      </p:sp>
      <p:sp>
        <p:nvSpPr>
          <p:cNvPr id="15" name="">
            <a:extLst xmlns:a="http://schemas.openxmlformats.org/drawingml/2006/main">
              <a:ext uri="{FF2B5EF4-FFF2-40B4-BE49-F238E27FC236}">
                <a16:creationId xmlns:a16="http://schemas.microsoft.com/office/drawing/2014/main" id="{51DEE9D3-95E0-423F-A73D-A4217B459EA3}"/>
              </a:ext>
            </a:extLst>
          </p:cNvPr>
          <p:cNvSpPr>
            <a:spLocks xmlns:a="http://schemas.openxmlformats.org/drawingml/2006/main" noGrp="1"/>
          </p:cNvSpPr>
          <p:nvPr/>
        </p:nvSpPr>
        <p:spPr>
          <a:xfrm xmlns:a="http://schemas.openxmlformats.org/drawingml/2006/main">
            <a:off x="7981950" y="3048000"/>
            <a:ext cx="3638550" cy="25717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F000282-E46E-4340-9F8B-9C5D1C9AD0D2}"/>
              </a:ext>
            </a:extLst>
          </p:cNvPr>
          <p:cNvSpPr>
            <a:spLocks xmlns:a="http://schemas.openxmlformats.org/drawingml/2006/main" noGrp="1"/>
          </p:cNvSpPr>
          <p:nvPr/>
        </p:nvSpPr>
        <p:spPr>
          <a:xfrm xmlns:a="http://schemas.openxmlformats.org/drawingml/2006/main">
            <a:off x="7981950" y="3048000"/>
            <a:ext cx="38100" cy="25717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F91D42D-8410-41B3-9372-A6CED59FBAE0}"/>
              </a:ext>
            </a:extLst>
          </p:cNvPr>
          <p:cNvSpPr>
            <a:spLocks xmlns:a="http://schemas.openxmlformats.org/drawingml/2006/main" noGrp="1"/>
          </p:cNvSpPr>
          <p:nvPr/>
        </p:nvSpPr>
        <p:spPr>
          <a:xfrm xmlns:a="http://schemas.openxmlformats.org/drawingml/2006/main">
            <a:off x="8191500" y="3238500"/>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High + human review</a:t>
            </a:r>
          </a:p>
        </p:txBody>
      </p:sp>
      <p:sp>
        <p:nvSpPr>
          <p:cNvPr id="18" name="">
            <a:extLst xmlns:a="http://schemas.openxmlformats.org/drawingml/2006/main">
              <a:ext uri="{FF2B5EF4-FFF2-40B4-BE49-F238E27FC236}">
                <a16:creationId xmlns:a16="http://schemas.microsoft.com/office/drawing/2014/main" id="{44E3A9BA-DED3-431E-B845-E352775109B2}"/>
              </a:ext>
            </a:extLst>
          </p:cNvPr>
          <p:cNvSpPr>
            <a:spLocks xmlns:a="http://schemas.openxmlformats.org/drawingml/2006/main" noGrp="1"/>
          </p:cNvSpPr>
          <p:nvPr/>
        </p:nvSpPr>
        <p:spPr>
          <a:xfrm xmlns:a="http://schemas.openxmlformats.org/drawingml/2006/main">
            <a:off x="8191500" y="3810000"/>
            <a:ext cx="32194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Two independent signal types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plus expanding impact.</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No official flight delay.</a:t>
            </a:r>
          </a:p>
        </p:txBody>
      </p:sp>
      <p:sp>
        <p:nvSpPr>
          <p:cNvPr id="19" name="">
            <a:extLst xmlns:a="http://schemas.openxmlformats.org/drawingml/2006/main">
              <a:ext uri="{FF2B5EF4-FFF2-40B4-BE49-F238E27FC236}">
                <a16:creationId xmlns:a16="http://schemas.microsoft.com/office/drawing/2014/main" id="{8BD16A04-D713-45BC-AB9E-20889080902B}"/>
              </a:ext>
            </a:extLst>
          </p:cNvPr>
          <p:cNvSpPr>
            <a:spLocks xmlns:a="http://schemas.openxmlformats.org/drawingml/2006/main" noGrp="1"/>
          </p:cNvSpPr>
          <p:nvPr/>
        </p:nvSpPr>
        <p:spPr>
          <a:xfrm xmlns:a="http://schemas.openxmlformats.org/drawingml/2006/main">
            <a:off x="571500" y="58578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16B"/>
                </a:solidFill>
                <a:latin typeface="Arial"/>
                <a:ea typeface="Arial"/>
                <a:cs typeface="Arial"/>
              </a:defRPr>
            </a:defPPr>
            <a:lvl1pPr>
              <a:buNone/>
              <a:defRPr sz="1425" b="0">
                <a:solidFill>
                  <a:srgbClr val="52616B"/>
                </a:solidFill>
                <a:latin typeface="Arial"/>
                <a:ea typeface="Arial"/>
                <a:cs typeface="Arial"/>
              </a:defRPr>
            </a:lvl1pPr>
            <a:lvl2pPr>
              <a:buNone/>
              <a:defRPr sz="1425" b="0">
                <a:solidFill>
                  <a:srgbClr val="52616B"/>
                </a:solidFill>
                <a:latin typeface="Arial"/>
                <a:ea typeface="Arial"/>
                <a:cs typeface="Arial"/>
              </a:defRPr>
            </a:lvl2pPr>
            <a:lvl3pPr>
              <a:buNone/>
              <a:defRPr sz="1425" b="0">
                <a:solidFill>
                  <a:srgbClr val="52616B"/>
                </a:solidFill>
                <a:latin typeface="Arial"/>
                <a:ea typeface="Arial"/>
                <a:cs typeface="Arial"/>
              </a:defRPr>
            </a:lvl3pPr>
            <a:lvl4pPr>
              <a:buNone/>
              <a:defRPr sz="1425" b="0">
                <a:solidFill>
                  <a:srgbClr val="52616B"/>
                </a:solidFill>
                <a:latin typeface="Arial"/>
                <a:ea typeface="Arial"/>
                <a:cs typeface="Arial"/>
              </a:defRPr>
            </a:lvl4pPr>
            <a:lvl5pPr>
              <a:buNone/>
              <a:defRPr sz="1425" b="0">
                <a:solidFill>
                  <a:srgbClr val="52616B"/>
                </a:solidFill>
                <a:latin typeface="Arial"/>
                <a:ea typeface="Arial"/>
                <a:cs typeface="Arial"/>
              </a:defRPr>
            </a:lvl5pPr>
            <a:lvl6pPr>
              <a:buNone/>
              <a:defRPr sz="1425" b="0">
                <a:solidFill>
                  <a:srgbClr val="52616B"/>
                </a:solidFill>
                <a:latin typeface="Arial"/>
                <a:ea typeface="Arial"/>
                <a:cs typeface="Arial"/>
              </a:defRPr>
            </a:lvl6pPr>
            <a:lvl7pPr>
              <a:buNone/>
              <a:defRPr sz="1425" b="0">
                <a:solidFill>
                  <a:srgbClr val="52616B"/>
                </a:solidFill>
                <a:latin typeface="Arial"/>
                <a:ea typeface="Arial"/>
                <a:cs typeface="Arial"/>
              </a:defRPr>
            </a:lvl7pPr>
            <a:lvl8pPr>
              <a:buNone/>
              <a:defRPr sz="1425" b="0">
                <a:solidFill>
                  <a:srgbClr val="52616B"/>
                </a:solidFill>
                <a:latin typeface="Arial"/>
                <a:ea typeface="Arial"/>
                <a:cs typeface="Arial"/>
              </a:defRPr>
            </a:lvl8pPr>
            <a:lvl9pPr>
              <a:buNone/>
              <a:defRPr sz="1425" b="0">
                <a:solidFill>
                  <a:srgbClr val="52616B"/>
                </a:solidFill>
                <a:latin typeface="Arial"/>
                <a:ea typeface="Arial"/>
                <a:cs typeface="Arial"/>
              </a:defRPr>
            </a:lvl9pPr>
          </a:lstStyle>
          <a:p xmlns:a="http://schemas.openxmlformats.org/drawingml/2006/main">
            <a:pPr>
              <a:buNone/>
              <a:defRPr sz="1425" b="0">
                <a:solidFill>
                  <a:srgbClr val="52616B"/>
                </a:solidFill>
                <a:latin typeface="Arial"/>
                <a:ea typeface="Arial"/>
                <a:cs typeface="Arial"/>
              </a:defRPr>
            </a:pPr>
            <a:r>
              <a:rPr sz="1425" b="0">
                <a:solidFill>
                  <a:srgbClr val="52616B"/>
                </a:solidFill>
                <a:latin typeface="Arial"/>
                <a:ea typeface="Arial"/>
                <a:cs typeface="Arial"/>
              </a:rPr>
              <a:t>Recorded result: one call • 100.62 s • CNY 0.176188 estimated • qualitative notes retained</a:t>
            </a:r>
          </a:p>
        </p:txBody>
      </p:sp>
    </p:spTree>
    <p:extLst>
      <p:ext uri="{BB962C8B-B14F-4D97-AF65-F5344CB8AC3E}">
        <p14:creationId xmlns:p14="http://schemas.microsoft.com/office/powerpoint/2010/main" val="2122771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7C3F55C-EEB0-4957-BA48-580F308678A5}"/>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RESULTS WITH SEPARATE MEASURES</a:t>
            </a:r>
          </a:p>
        </p:txBody>
      </p:sp>
      <p:sp>
        <p:nvSpPr>
          <p:cNvPr id="2" name="">
            <a:extLst xmlns:a="http://schemas.openxmlformats.org/drawingml/2006/main">
              <a:ext uri="{FF2B5EF4-FFF2-40B4-BE49-F238E27FC236}">
                <a16:creationId xmlns:a16="http://schemas.microsoft.com/office/drawing/2014/main" id="{BADCB240-060E-4074-BF28-C6A808445D6D}"/>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Usable output and good reasoning are different</a:t>
            </a:r>
          </a:p>
        </p:txBody>
      </p:sp>
      <p:sp>
        <p:nvSpPr>
          <p:cNvPr id="3" name="">
            <a:extLst xmlns:a="http://schemas.openxmlformats.org/drawingml/2006/main">
              <a:ext uri="{FF2B5EF4-FFF2-40B4-BE49-F238E27FC236}">
                <a16:creationId xmlns:a16="http://schemas.microsoft.com/office/drawing/2014/main" id="{2B8C30B3-093F-48B0-BF6E-CC5571661A61}"/>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One bounded run per set; no claim of statistical superiority or hallucination-free behavior.</a:t>
            </a:r>
          </a:p>
        </p:txBody>
      </p:sp>
      <p:sp>
        <p:nvSpPr>
          <p:cNvPr id="4" name="">
            <a:extLst xmlns:a="http://schemas.openxmlformats.org/drawingml/2006/main">
              <a:ext uri="{FF2B5EF4-FFF2-40B4-BE49-F238E27FC236}">
                <a16:creationId xmlns:a16="http://schemas.microsoft.com/office/drawing/2014/main" id="{D2B83676-8BCD-4562-B08A-4173DC783EEE}"/>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B29CDD-EE2C-4414-8D77-F2B919E4A8B0}"/>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F082337A-C2E7-40B1-A72E-6AB9804B0D1D}"/>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06</a:t>
            </a:r>
          </a:p>
        </p:txBody>
      </p:sp>
      <p:graphicFrame>
        <p:nvGraphicFramePr>
          <p:cNvPr id="7" name="">
            <a:extLst xmlns:a="http://schemas.openxmlformats.org/drawingml/2006/main">
              <a:ext uri="{FF2B5EF4-FFF2-40B4-BE49-F238E27FC236}">
                <a16:creationId xmlns:a16="http://schemas.microsoft.com/office/drawing/2014/main" id="{DD1D16E2-CBF9-4147-939F-A6ECE9D0AA72}"/>
              </a:ext>
            </a:extLst>
          </p:cNvPr>
          <p:cNvGraphicFramePr/>
          <p:nvPr/>
        </p:nvGraphicFramePr>
        <p:xfrm>
          <a:off xmlns:a="http://schemas.openxmlformats.org/drawingml/2006/main" x="571500" y="3000375"/>
          <a:ext xmlns:a="http://schemas.openxmlformats.org/drawingml/2006/main" cx="11049000" cy="2619375"/>
        </p:xfrm>
        <a:graphic xmlns:a="http://schemas.openxmlformats.org/drawingml/2006/main">
          <a:graphicData uri="http://schemas.openxmlformats.org/drawingml/2006/table">
            <a:tbl>
              <a:tblPr/>
              <a:tblGrid>
                <a:gridCol w="3190875"/>
                <a:gridCol w="2524125"/>
                <a:gridCol w="2524125"/>
                <a:gridCol w="2809875"/>
              </a:tblGrid>
              <a:tr h="436563">
                <a:tc>
                  <a:txBody>
                    <a:bodyPr/>
                    <a:lstStyle/>
                    <a:p>
                      <a:r>
                        <a:rPr sz="1575" b="1">
                          <a:solidFill>
                            <a:srgbClr val="FFFFFF"/>
                          </a:solidFill>
                          <a:latin typeface="Arial"/>
                          <a:ea typeface="Arial"/>
                          <a:cs typeface="Arial"/>
                        </a:rPr>
                        <a:t>Measure</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171B"/>
                    </a:solidFill>
                  </a:tcPr>
                </a:tc>
                <a:tc>
                  <a:txBody>
                    <a:bodyPr/>
                    <a:lstStyle/>
                    <a:p>
                      <a:r>
                        <a:rPr sz="1575" b="1">
                          <a:solidFill>
                            <a:srgbClr val="FFFFFF"/>
                          </a:solidFill>
                          <a:latin typeface="Arial"/>
                          <a:ea typeface="Arial"/>
                          <a:cs typeface="Arial"/>
                        </a:rPr>
                        <a:t>Supplied original</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171B"/>
                    </a:solidFill>
                  </a:tcPr>
                </a:tc>
                <a:tc>
                  <a:txBody>
                    <a:bodyPr/>
                    <a:lstStyle/>
                    <a:p>
                      <a:r>
                        <a:rPr sz="1575" b="1">
                          <a:solidFill>
                            <a:srgbClr val="FFFFFF"/>
                          </a:solidFill>
                          <a:latin typeface="Arial"/>
                          <a:ea typeface="Arial"/>
                          <a:cs typeface="Arial"/>
                        </a:rPr>
                        <a:t>Supplied rerun</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171B"/>
                    </a:solidFill>
                  </a:tcPr>
                </a:tc>
                <a:tc>
                  <a:txBody>
                    <a:bodyPr/>
                    <a:lstStyle/>
                    <a:p>
                      <a:r>
                        <a:rPr sz="1575" b="1">
                          <a:solidFill>
                            <a:srgbClr val="FFFFFF"/>
                          </a:solidFill>
                          <a:latin typeface="Arial"/>
                          <a:ea typeface="Arial"/>
                          <a:cs typeface="Arial"/>
                        </a:rPr>
                        <a:t>Unseen</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171B"/>
                    </a:solidFill>
                  </a:tcPr>
                </a:tc>
              </a:tr>
              <a:tr h="436563">
                <a:tc>
                  <a:txBody>
                    <a:bodyPr/>
                    <a:lstStyle/>
                    <a:p>
                      <a:r>
                        <a:rPr sz="1575" b="1">
                          <a:solidFill>
                            <a:srgbClr val="10171B"/>
                          </a:solidFill>
                          <a:latin typeface="Arial"/>
                          <a:ea typeface="Arial"/>
                          <a:cs typeface="Arial"/>
                        </a:rPr>
                        <a:t>Accepted model steps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32 / 32</a:t>
                      </a:r>
                    </a:p>
                  </a:txBody>
                  <a:tcPr marL="91440" marR="91440" marT="45720" marB="45720">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32 / 32</a:t>
                      </a:r>
                    </a:p>
                  </a:txBody>
                  <a:tcPr marL="91440" marR="91440" marT="45720" marB="45720">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21 / 22</a:t>
                      </a:r>
                    </a:p>
                  </a:txBody>
                  <a:tcPr marL="91440" marR="91440" marT="45720" marB="45720">
                    <a:lnR w="19050">
                      <a:solidFill>
                        <a:srgbClr val="FFFFFF"/>
                      </a:solidFill>
                      <a:prstDash val="solid"/>
                    </a:lnR>
                    <a:lnB w="19050">
                      <a:solidFill>
                        <a:srgbClr val="FFFFFF"/>
                      </a:solidFill>
                      <a:prstDash val="solid"/>
                    </a:lnB>
                    <a:solidFill>
                      <a:srgbClr val="E9F4F2"/>
                    </a:solidFill>
                  </a:tcPr>
                </a:tc>
              </a:tr>
              <a:tr h="436563">
                <a:tc>
                  <a:txBody>
                    <a:bodyPr/>
                    <a:lstStyle/>
                    <a:p>
                      <a:r>
                        <a:rPr sz="1575" b="1">
                          <a:solidFill>
                            <a:srgbClr val="10171B"/>
                          </a:solidFill>
                          <a:latin typeface="Arial"/>
                          <a:ea typeface="Arial"/>
                          <a:cs typeface="Arial"/>
                        </a:rPr>
                        <a:t>Quality failures*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6F8F8"/>
                    </a:solidFill>
                  </a:tcPr>
                </a:tc>
                <a:tc>
                  <a:txBody>
                    <a:bodyPr/>
                    <a:lstStyle/>
                    <a:p>
                      <a:r>
                        <a:rPr sz="1575" b="0">
                          <a:solidFill>
                            <a:srgbClr val="10171B"/>
                          </a:solidFill>
                          <a:latin typeface="Arial"/>
                          <a:ea typeface="Arial"/>
                          <a:cs typeface="Arial"/>
                        </a:rPr>
                        <a:t>4 / 30</a:t>
                      </a:r>
                    </a:p>
                  </a:txBody>
                  <a:tcPr marL="91440" marR="91440" marT="45720" marB="45720">
                    <a:lnR w="19050">
                      <a:solidFill>
                        <a:srgbClr val="FFFFFF"/>
                      </a:solidFill>
                      <a:prstDash val="solid"/>
                    </a:lnR>
                    <a:lnB w="19050">
                      <a:solidFill>
                        <a:srgbClr val="FFFFFF"/>
                      </a:solidFill>
                      <a:prstDash val="solid"/>
                    </a:lnB>
                    <a:solidFill>
                      <a:srgbClr val="F6F8F8"/>
                    </a:solidFill>
                  </a:tcPr>
                </a:tc>
                <a:tc>
                  <a:txBody>
                    <a:bodyPr/>
                    <a:lstStyle/>
                    <a:p>
                      <a:r>
                        <a:rPr sz="1575" b="0">
                          <a:solidFill>
                            <a:srgbClr val="10171B"/>
                          </a:solidFill>
                          <a:latin typeface="Arial"/>
                          <a:ea typeface="Arial"/>
                          <a:cs typeface="Arial"/>
                        </a:rPr>
                        <a:t>3 / 30</a:t>
                      </a:r>
                    </a:p>
                  </a:txBody>
                  <a:tcPr marL="91440" marR="91440" marT="45720" marB="45720">
                    <a:lnR w="19050">
                      <a:solidFill>
                        <a:srgbClr val="FFFFFF"/>
                      </a:solidFill>
                      <a:prstDash val="solid"/>
                    </a:lnR>
                    <a:lnB w="19050">
                      <a:solidFill>
                        <a:srgbClr val="FFFFFF"/>
                      </a:solidFill>
                      <a:prstDash val="solid"/>
                    </a:lnB>
                    <a:solidFill>
                      <a:srgbClr val="F6F8F8"/>
                    </a:solidFill>
                  </a:tcPr>
                </a:tc>
                <a:tc>
                  <a:txBody>
                    <a:bodyPr/>
                    <a:lstStyle/>
                    <a:p>
                      <a:r>
                        <a:rPr sz="1575" b="0">
                          <a:solidFill>
                            <a:srgbClr val="10171B"/>
                          </a:solidFill>
                          <a:latin typeface="Arial"/>
                          <a:ea typeface="Arial"/>
                          <a:cs typeface="Arial"/>
                        </a:rPr>
                        <a:t>3 / 20 + 1 blocked</a:t>
                      </a:r>
                    </a:p>
                  </a:txBody>
                  <a:tcPr marL="91440" marR="91440" marT="45720" marB="45720">
                    <a:lnR w="19050">
                      <a:solidFill>
                        <a:srgbClr val="FFFFFF"/>
                      </a:solidFill>
                      <a:prstDash val="solid"/>
                    </a:lnR>
                    <a:lnB w="19050">
                      <a:solidFill>
                        <a:srgbClr val="FFFFFF"/>
                      </a:solidFill>
                      <a:prstDash val="solid"/>
                    </a:lnB>
                    <a:solidFill>
                      <a:srgbClr val="F6F8F8"/>
                    </a:solidFill>
                  </a:tcPr>
                </a:tc>
              </a:tr>
              <a:tr h="436563">
                <a:tc>
                  <a:txBody>
                    <a:bodyPr/>
                    <a:lstStyle/>
                    <a:p>
                      <a:r>
                        <a:rPr sz="1575" b="1">
                          <a:solidFill>
                            <a:srgbClr val="10171B"/>
                          </a:solidFill>
                          <a:latin typeface="Arial"/>
                          <a:ea typeface="Arial"/>
                          <a:cs typeface="Arial"/>
                        </a:rPr>
                        <a:t>Steps needing repair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12 / 32</a:t>
                      </a:r>
                    </a:p>
                  </a:txBody>
                  <a:tcPr marL="91440" marR="91440" marT="45720" marB="45720">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18 / 32</a:t>
                      </a:r>
                    </a:p>
                  </a:txBody>
                  <a:tcPr marL="91440" marR="91440" marT="45720" marB="45720">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7 / 22</a:t>
                      </a:r>
                    </a:p>
                  </a:txBody>
                  <a:tcPr marL="91440" marR="91440" marT="45720" marB="45720">
                    <a:lnR w="19050">
                      <a:solidFill>
                        <a:srgbClr val="FFFFFF"/>
                      </a:solidFill>
                      <a:prstDash val="solid"/>
                    </a:lnR>
                    <a:lnB w="19050">
                      <a:solidFill>
                        <a:srgbClr val="FFFFFF"/>
                      </a:solidFill>
                      <a:prstDash val="solid"/>
                    </a:lnB>
                    <a:solidFill>
                      <a:srgbClr val="E9F4F2"/>
                    </a:solidFill>
                  </a:tcPr>
                </a:tc>
              </a:tr>
              <a:tr h="436563">
                <a:tc>
                  <a:txBody>
                    <a:bodyPr/>
                    <a:lstStyle/>
                    <a:p>
                      <a:r>
                        <a:rPr sz="1575" b="1">
                          <a:solidFill>
                            <a:srgbClr val="10171B"/>
                          </a:solidFill>
                          <a:latin typeface="Arial"/>
                          <a:ea typeface="Arial"/>
                          <a:cs typeface="Arial"/>
                        </a:rPr>
                        <a:t>Median latency</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6F8F8"/>
                    </a:solidFill>
                  </a:tcPr>
                </a:tc>
                <a:tc>
                  <a:txBody>
                    <a:bodyPr/>
                    <a:lstStyle/>
                    <a:p>
                      <a:r>
                        <a:rPr sz="1575" b="0">
                          <a:solidFill>
                            <a:srgbClr val="10171B"/>
                          </a:solidFill>
                          <a:latin typeface="Arial"/>
                          <a:ea typeface="Arial"/>
                          <a:cs typeface="Arial"/>
                        </a:rPr>
                        <a:t>67.741 s</a:t>
                      </a:r>
                    </a:p>
                  </a:txBody>
                  <a:tcPr marL="91440" marR="91440" marT="45720" marB="45720">
                    <a:lnR w="19050">
                      <a:solidFill>
                        <a:srgbClr val="FFFFFF"/>
                      </a:solidFill>
                      <a:prstDash val="solid"/>
                    </a:lnR>
                    <a:lnB w="19050">
                      <a:solidFill>
                        <a:srgbClr val="FFFFFF"/>
                      </a:solidFill>
                      <a:prstDash val="solid"/>
                    </a:lnB>
                    <a:solidFill>
                      <a:srgbClr val="F6F8F8"/>
                    </a:solidFill>
                  </a:tcPr>
                </a:tc>
                <a:tc>
                  <a:txBody>
                    <a:bodyPr/>
                    <a:lstStyle/>
                    <a:p>
                      <a:r>
                        <a:rPr sz="1575" b="0">
                          <a:solidFill>
                            <a:srgbClr val="10171B"/>
                          </a:solidFill>
                          <a:latin typeface="Arial"/>
                          <a:ea typeface="Arial"/>
                          <a:cs typeface="Arial"/>
                        </a:rPr>
                        <a:t>81.907 s</a:t>
                      </a:r>
                    </a:p>
                  </a:txBody>
                  <a:tcPr marL="91440" marR="91440" marT="45720" marB="45720">
                    <a:lnR w="19050">
                      <a:solidFill>
                        <a:srgbClr val="FFFFFF"/>
                      </a:solidFill>
                      <a:prstDash val="solid"/>
                    </a:lnR>
                    <a:lnB w="19050">
                      <a:solidFill>
                        <a:srgbClr val="FFFFFF"/>
                      </a:solidFill>
                      <a:prstDash val="solid"/>
                    </a:lnB>
                    <a:solidFill>
                      <a:srgbClr val="F6F8F8"/>
                    </a:solidFill>
                  </a:tcPr>
                </a:tc>
                <a:tc>
                  <a:txBody>
                    <a:bodyPr/>
                    <a:lstStyle/>
                    <a:p>
                      <a:r>
                        <a:rPr sz="1575" b="0">
                          <a:solidFill>
                            <a:srgbClr val="10171B"/>
                          </a:solidFill>
                          <a:latin typeface="Arial"/>
                          <a:ea typeface="Arial"/>
                          <a:cs typeface="Arial"/>
                        </a:rPr>
                        <a:t>69.273 s</a:t>
                      </a:r>
                    </a:p>
                  </a:txBody>
                  <a:tcPr marL="91440" marR="91440" marT="45720" marB="45720">
                    <a:lnR w="19050">
                      <a:solidFill>
                        <a:srgbClr val="FFFFFF"/>
                      </a:solidFill>
                      <a:prstDash val="solid"/>
                    </a:lnR>
                    <a:lnB w="19050">
                      <a:solidFill>
                        <a:srgbClr val="FFFFFF"/>
                      </a:solidFill>
                      <a:prstDash val="solid"/>
                    </a:lnB>
                    <a:solidFill>
                      <a:srgbClr val="F6F8F8"/>
                    </a:solidFill>
                  </a:tcPr>
                </a:tc>
              </a:tr>
              <a:tr h="436563">
                <a:tc>
                  <a:txBody>
                    <a:bodyPr/>
                    <a:lstStyle/>
                    <a:p>
                      <a:r>
                        <a:rPr sz="1575" b="1">
                          <a:solidFill>
                            <a:srgbClr val="10171B"/>
                          </a:solidFill>
                          <a:latin typeface="Arial"/>
                          <a:ea typeface="Arial"/>
                          <a:cs typeface="Arial"/>
                        </a:rPr>
                        <a:t>Estimated cost, CNY</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4.894533</a:t>
                      </a:r>
                    </a:p>
                  </a:txBody>
                  <a:tcPr marL="91440" marR="91440" marT="45720" marB="45720">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5.553762</a:t>
                      </a:r>
                    </a:p>
                  </a:txBody>
                  <a:tcPr marL="91440" marR="91440" marT="45720" marB="45720">
                    <a:lnR w="19050">
                      <a:solidFill>
                        <a:srgbClr val="FFFFFF"/>
                      </a:solidFill>
                      <a:prstDash val="solid"/>
                    </a:lnR>
                    <a:lnB w="19050">
                      <a:solidFill>
                        <a:srgbClr val="FFFFFF"/>
                      </a:solidFill>
                      <a:prstDash val="solid"/>
                    </a:lnB>
                    <a:solidFill>
                      <a:srgbClr val="E9F4F2"/>
                    </a:solidFill>
                  </a:tcPr>
                </a:tc>
                <a:tc>
                  <a:txBody>
                    <a:bodyPr/>
                    <a:lstStyle/>
                    <a:p>
                      <a:r>
                        <a:rPr sz="1575" b="0">
                          <a:solidFill>
                            <a:srgbClr val="10171B"/>
                          </a:solidFill>
                          <a:latin typeface="Arial"/>
                          <a:ea typeface="Arial"/>
                          <a:cs typeface="Arial"/>
                        </a:rPr>
                        <a:t>3.420530</a:t>
                      </a:r>
                    </a:p>
                  </a:txBody>
                  <a:tcPr marL="91440" marR="91440" marT="45720" marB="45720">
                    <a:lnR w="19050">
                      <a:solidFill>
                        <a:srgbClr val="FFFFFF"/>
                      </a:solidFill>
                      <a:prstDash val="solid"/>
                    </a:lnR>
                    <a:lnB w="19050">
                      <a:solidFill>
                        <a:srgbClr val="FFFFFF"/>
                      </a:solidFill>
                      <a:prstDash val="solid"/>
                    </a:lnB>
                    <a:solidFill>
                      <a:srgbClr val="E9F4F2"/>
                    </a:solidFill>
                  </a:tcPr>
                </a:tc>
              </a:tr>
            </a:tbl>
          </a:graphicData>
        </a:graphic>
      </p:graphicFrame>
      <p:sp>
        <p:nvSpPr>
          <p:cNvPr id="8" name="">
            <a:extLst xmlns:a="http://schemas.openxmlformats.org/drawingml/2006/main">
              <a:ext uri="{FF2B5EF4-FFF2-40B4-BE49-F238E27FC236}">
                <a16:creationId xmlns:a16="http://schemas.microsoft.com/office/drawing/2014/main" id="{AEC52314-0C47-4C4A-84C1-88E0AF38E4EB}"/>
              </a:ext>
            </a:extLst>
          </p:cNvPr>
          <p:cNvSpPr>
            <a:spLocks xmlns:a="http://schemas.openxmlformats.org/drawingml/2006/main" noGrp="1"/>
          </p:cNvSpPr>
          <p:nvPr/>
        </p:nvSpPr>
        <p:spPr>
          <a:xfrm xmlns:a="http://schemas.openxmlformats.org/drawingml/2006/main">
            <a:off x="571500" y="5791200"/>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16B"/>
                </a:solidFill>
                <a:latin typeface="Arial"/>
                <a:ea typeface="Arial"/>
                <a:cs typeface="Arial"/>
              </a:defRPr>
            </a:defPPr>
            <a:lvl1pPr>
              <a:buNone/>
              <a:defRPr sz="1200" b="0">
                <a:solidFill>
                  <a:srgbClr val="52616B"/>
                </a:solidFill>
                <a:latin typeface="Arial"/>
                <a:ea typeface="Arial"/>
                <a:cs typeface="Arial"/>
              </a:defRPr>
            </a:lvl1pPr>
            <a:lvl2pPr>
              <a:buNone/>
              <a:defRPr sz="1200" b="0">
                <a:solidFill>
                  <a:srgbClr val="52616B"/>
                </a:solidFill>
                <a:latin typeface="Arial"/>
                <a:ea typeface="Arial"/>
                <a:cs typeface="Arial"/>
              </a:defRPr>
            </a:lvl2pPr>
            <a:lvl3pPr>
              <a:buNone/>
              <a:defRPr sz="1200" b="0">
                <a:solidFill>
                  <a:srgbClr val="52616B"/>
                </a:solidFill>
                <a:latin typeface="Arial"/>
                <a:ea typeface="Arial"/>
                <a:cs typeface="Arial"/>
              </a:defRPr>
            </a:lvl3pPr>
            <a:lvl4pPr>
              <a:buNone/>
              <a:defRPr sz="1200" b="0">
                <a:solidFill>
                  <a:srgbClr val="52616B"/>
                </a:solidFill>
                <a:latin typeface="Arial"/>
                <a:ea typeface="Arial"/>
                <a:cs typeface="Arial"/>
              </a:defRPr>
            </a:lvl4pPr>
            <a:lvl5pPr>
              <a:buNone/>
              <a:defRPr sz="1200" b="0">
                <a:solidFill>
                  <a:srgbClr val="52616B"/>
                </a:solidFill>
                <a:latin typeface="Arial"/>
                <a:ea typeface="Arial"/>
                <a:cs typeface="Arial"/>
              </a:defRPr>
            </a:lvl5pPr>
            <a:lvl6pPr>
              <a:buNone/>
              <a:defRPr sz="1200" b="0">
                <a:solidFill>
                  <a:srgbClr val="52616B"/>
                </a:solidFill>
                <a:latin typeface="Arial"/>
                <a:ea typeface="Arial"/>
                <a:cs typeface="Arial"/>
              </a:defRPr>
            </a:lvl6pPr>
            <a:lvl7pPr>
              <a:buNone/>
              <a:defRPr sz="1200" b="0">
                <a:solidFill>
                  <a:srgbClr val="52616B"/>
                </a:solidFill>
                <a:latin typeface="Arial"/>
                <a:ea typeface="Arial"/>
                <a:cs typeface="Arial"/>
              </a:defRPr>
            </a:lvl7pPr>
            <a:lvl8pPr>
              <a:buNone/>
              <a:defRPr sz="1200" b="0">
                <a:solidFill>
                  <a:srgbClr val="52616B"/>
                </a:solidFill>
                <a:latin typeface="Arial"/>
                <a:ea typeface="Arial"/>
                <a:cs typeface="Arial"/>
              </a:defRPr>
            </a:lvl8pPr>
            <a:lvl9pPr>
              <a:buNone/>
              <a:defRPr sz="1200" b="0">
                <a:solidFill>
                  <a:srgbClr val="52616B"/>
                </a:solidFill>
                <a:latin typeface="Arial"/>
                <a:ea typeface="Arial"/>
                <a:cs typeface="Arial"/>
              </a:defRPr>
            </a:lvl9pPr>
          </a:lstStyle>
          <a:p xmlns:a="http://schemas.openxmlformats.org/drawingml/2006/main">
            <a:pPr>
              <a:buNone/>
              <a:defRPr sz="1200" b="0">
                <a:solidFill>
                  <a:srgbClr val="52616B"/>
                </a:solidFill>
                <a:latin typeface="Arial"/>
                <a:ea typeface="Arial"/>
                <a:cs typeface="Arial"/>
              </a:defRPr>
            </a:pPr>
            <a:r>
              <a:rPr sz="1200" b="0">
                <a:solidFill>
                  <a:srgbClr val="52616B"/>
                </a:solidFill>
                <a:latin typeface="Arial"/>
                <a:ea typeface="Arial"/>
                <a:cs typeface="Arial"/>
              </a:rPr>
              <a:t>*Quality denominator: final language variants; supplied sets include two privacy checks without model calls.</a:t>
            </a:r>
          </a:p>
          <a:p xmlns:a="http://schemas.openxmlformats.org/drawingml/2006/main">
            <a:pPr>
              <a:buNone/>
              <a:defRPr sz="1200" b="0">
                <a:solidFill>
                  <a:srgbClr val="52616B"/>
                </a:solidFill>
                <a:latin typeface="Arial"/>
                <a:ea typeface="Arial"/>
                <a:cs typeface="Arial"/>
              </a:defRPr>
            </a:pPr>
            <a:r>
              <a:rPr sz="1200" b="0">
                <a:solidFill>
                  <a:srgbClr val="52616B"/>
                </a:solidFill>
                <a:latin typeface="Arial"/>
                <a:ea typeface="Arial"/>
                <a:cs typeface="Arial"/>
              </a:rPr>
              <a:t>Model-step totals include baseline assessments. Cost uses app accounting, not provider invoices.</a:t>
            </a:r>
          </a:p>
        </p:txBody>
      </p:sp>
    </p:spTree>
    <p:extLst>
      <p:ext uri="{BB962C8B-B14F-4D97-AF65-F5344CB8AC3E}">
        <p14:creationId xmlns:p14="http://schemas.microsoft.com/office/powerpoint/2010/main" val="6416776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519BABD-94A0-4FFE-A437-A841064D7DEE}"/>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HUMAN FEEDBACK DEMONSTRATION</a:t>
            </a:r>
          </a:p>
        </p:txBody>
      </p:sp>
      <p:sp>
        <p:nvSpPr>
          <p:cNvPr id="2" name="">
            <a:extLst xmlns:a="http://schemas.openxmlformats.org/drawingml/2006/main">
              <a:ext uri="{FF2B5EF4-FFF2-40B4-BE49-F238E27FC236}">
                <a16:creationId xmlns:a16="http://schemas.microsoft.com/office/drawing/2014/main" id="{4911762E-DF2D-4C54-808E-478F9FA88115}"/>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Preserved decisions—even when reassessment fails</a:t>
            </a:r>
          </a:p>
        </p:txBody>
      </p:sp>
      <p:sp>
        <p:nvSpPr>
          <p:cNvPr id="3" name="">
            <a:extLst xmlns:a="http://schemas.openxmlformats.org/drawingml/2006/main">
              <a:ext uri="{FF2B5EF4-FFF2-40B4-BE49-F238E27FC236}">
                <a16:creationId xmlns:a16="http://schemas.microsoft.com/office/drawing/2014/main" id="{F95CA2E5-11FF-44FE-95F2-DBD334DC9F5B}"/>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Five synthetic records • all four dispositions • seven revisions • two later simulated outcomes</a:t>
            </a:r>
          </a:p>
        </p:txBody>
      </p:sp>
      <p:sp>
        <p:nvSpPr>
          <p:cNvPr id="4" name="">
            <a:extLst xmlns:a="http://schemas.openxmlformats.org/drawingml/2006/main">
              <a:ext uri="{FF2B5EF4-FFF2-40B4-BE49-F238E27FC236}">
                <a16:creationId xmlns:a16="http://schemas.microsoft.com/office/drawing/2014/main" id="{83D7FEDB-7F3A-4759-A29D-5BA7C716810D}"/>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1AD7C8A-EA84-49ED-9073-B9986CBD5E2F}"/>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0A52840D-02B7-4D75-879D-D76F8DBDA926}"/>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01C7FF55-D36D-4652-988E-1E9279F1A6F8}"/>
              </a:ext>
            </a:extLst>
          </p:cNvPr>
          <p:cNvSpPr>
            <a:spLocks xmlns:a="http://schemas.openxmlformats.org/drawingml/2006/main" noGrp="1"/>
          </p:cNvSpPr>
          <p:nvPr/>
        </p:nvSpPr>
        <p:spPr>
          <a:xfrm xmlns:a="http://schemas.openxmlformats.org/drawingml/2006/main">
            <a:off x="571500" y="3095625"/>
            <a:ext cx="5334000"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C6B69C-C86E-4645-AA59-A9D56BE0B789}"/>
              </a:ext>
            </a:extLst>
          </p:cNvPr>
          <p:cNvSpPr>
            <a:spLocks xmlns:a="http://schemas.openxmlformats.org/drawingml/2006/main" noGrp="1"/>
          </p:cNvSpPr>
          <p:nvPr/>
        </p:nvSpPr>
        <p:spPr>
          <a:xfrm xmlns:a="http://schemas.openxmlformats.org/drawingml/2006/main">
            <a:off x="57150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C7AA0B-6E66-4A88-8F6B-D993AB1C1B1E}"/>
              </a:ext>
            </a:extLst>
          </p:cNvPr>
          <p:cNvSpPr>
            <a:spLocks xmlns:a="http://schemas.openxmlformats.org/drawingml/2006/main" noGrp="1"/>
          </p:cNvSpPr>
          <p:nvPr/>
        </p:nvSpPr>
        <p:spPr>
          <a:xfrm xmlns:a="http://schemas.openxmlformats.org/drawingml/2006/main">
            <a:off x="781050" y="3286125"/>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What was demonstrated</a:t>
            </a:r>
          </a:p>
        </p:txBody>
      </p:sp>
      <p:sp>
        <p:nvSpPr>
          <p:cNvPr id="10" name="">
            <a:extLst xmlns:a="http://schemas.openxmlformats.org/drawingml/2006/main">
              <a:ext uri="{FF2B5EF4-FFF2-40B4-BE49-F238E27FC236}">
                <a16:creationId xmlns:a16="http://schemas.microsoft.com/office/drawing/2014/main" id="{94FE0C7D-8451-41E6-8008-3F85C726EC1E}"/>
              </a:ext>
            </a:extLst>
          </p:cNvPr>
          <p:cNvSpPr>
            <a:spLocks xmlns:a="http://schemas.openxmlformats.org/drawingml/2006/main" noGrp="1"/>
          </p:cNvSpPr>
          <p:nvPr/>
        </p:nvSpPr>
        <p:spPr>
          <a:xfrm xmlns:a="http://schemas.openxmlformats.org/drawingml/2006/main">
            <a:off x="781050" y="3857625"/>
            <a:ext cx="49149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Original recommendations and reasons retained.</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Later outcomes added without losing history.</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Previous valid assessment preserved on error.</a:t>
            </a:r>
          </a:p>
        </p:txBody>
      </p:sp>
      <p:sp>
        <p:nvSpPr>
          <p:cNvPr id="11" name="">
            <a:extLst xmlns:a="http://schemas.openxmlformats.org/drawingml/2006/main">
              <a:ext uri="{FF2B5EF4-FFF2-40B4-BE49-F238E27FC236}">
                <a16:creationId xmlns:a16="http://schemas.microsoft.com/office/drawing/2014/main" id="{3E83577D-0B6B-4163-97F8-16F4E824D896}"/>
              </a:ext>
            </a:extLst>
          </p:cNvPr>
          <p:cNvSpPr>
            <a:spLocks xmlns:a="http://schemas.openxmlformats.org/drawingml/2006/main" noGrp="1"/>
          </p:cNvSpPr>
          <p:nvPr/>
        </p:nvSpPr>
        <p:spPr>
          <a:xfrm xmlns:a="http://schemas.openxmlformats.org/drawingml/2006/main">
            <a:off x="6172200" y="3095625"/>
            <a:ext cx="5448300"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0AE4DE-70E1-41C5-85D1-675845DA87A6}"/>
              </a:ext>
            </a:extLst>
          </p:cNvPr>
          <p:cNvSpPr>
            <a:spLocks xmlns:a="http://schemas.openxmlformats.org/drawingml/2006/main" noGrp="1"/>
          </p:cNvSpPr>
          <p:nvPr/>
        </p:nvSpPr>
        <p:spPr>
          <a:xfrm xmlns:a="http://schemas.openxmlformats.org/drawingml/2006/main">
            <a:off x="6172200" y="3095625"/>
            <a:ext cx="38100" cy="2647950"/>
          </a:xfrm>
          <a:prstGeom xmlns:a="http://schemas.openxmlformats.org/drawingml/2006/main" prst="rect">
            <a:avLst/>
          </a:prstGeom>
          <a:solidFill xmlns:a="http://schemas.openxmlformats.org/drawingml/2006/main">
            <a:srgbClr val="AA3C3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C06AB1-FF7B-4E36-A820-2FC0DB12C400}"/>
              </a:ext>
            </a:extLst>
          </p:cNvPr>
          <p:cNvSpPr>
            <a:spLocks xmlns:a="http://schemas.openxmlformats.org/drawingml/2006/main" noGrp="1"/>
          </p:cNvSpPr>
          <p:nvPr/>
        </p:nvSpPr>
        <p:spPr>
          <a:xfrm xmlns:a="http://schemas.openxmlformats.org/drawingml/2006/main">
            <a:off x="6381750" y="3286125"/>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A3C37"/>
                </a:solidFill>
                <a:latin typeface="Arial"/>
                <a:ea typeface="Arial"/>
                <a:cs typeface="Arial"/>
              </a:defRPr>
            </a:defPPr>
            <a:lvl1pPr>
              <a:buNone/>
              <a:defRPr sz="1950" b="1">
                <a:solidFill>
                  <a:srgbClr val="AA3C37"/>
                </a:solidFill>
                <a:latin typeface="Arial"/>
                <a:ea typeface="Arial"/>
                <a:cs typeface="Arial"/>
              </a:defRPr>
            </a:lvl1pPr>
            <a:lvl2pPr>
              <a:buNone/>
              <a:defRPr sz="1950" b="1">
                <a:solidFill>
                  <a:srgbClr val="AA3C37"/>
                </a:solidFill>
                <a:latin typeface="Arial"/>
                <a:ea typeface="Arial"/>
                <a:cs typeface="Arial"/>
              </a:defRPr>
            </a:lvl2pPr>
            <a:lvl3pPr>
              <a:buNone/>
              <a:defRPr sz="1950" b="1">
                <a:solidFill>
                  <a:srgbClr val="AA3C37"/>
                </a:solidFill>
                <a:latin typeface="Arial"/>
                <a:ea typeface="Arial"/>
                <a:cs typeface="Arial"/>
              </a:defRPr>
            </a:lvl3pPr>
            <a:lvl4pPr>
              <a:buNone/>
              <a:defRPr sz="1950" b="1">
                <a:solidFill>
                  <a:srgbClr val="AA3C37"/>
                </a:solidFill>
                <a:latin typeface="Arial"/>
                <a:ea typeface="Arial"/>
                <a:cs typeface="Arial"/>
              </a:defRPr>
            </a:lvl4pPr>
            <a:lvl5pPr>
              <a:buNone/>
              <a:defRPr sz="1950" b="1">
                <a:solidFill>
                  <a:srgbClr val="AA3C37"/>
                </a:solidFill>
                <a:latin typeface="Arial"/>
                <a:ea typeface="Arial"/>
                <a:cs typeface="Arial"/>
              </a:defRPr>
            </a:lvl5pPr>
            <a:lvl6pPr>
              <a:buNone/>
              <a:defRPr sz="1950" b="1">
                <a:solidFill>
                  <a:srgbClr val="AA3C37"/>
                </a:solidFill>
                <a:latin typeface="Arial"/>
                <a:ea typeface="Arial"/>
                <a:cs typeface="Arial"/>
              </a:defRPr>
            </a:lvl6pPr>
            <a:lvl7pPr>
              <a:buNone/>
              <a:defRPr sz="1950" b="1">
                <a:solidFill>
                  <a:srgbClr val="AA3C37"/>
                </a:solidFill>
                <a:latin typeface="Arial"/>
                <a:ea typeface="Arial"/>
                <a:cs typeface="Arial"/>
              </a:defRPr>
            </a:lvl7pPr>
            <a:lvl8pPr>
              <a:buNone/>
              <a:defRPr sz="1950" b="1">
                <a:solidFill>
                  <a:srgbClr val="AA3C37"/>
                </a:solidFill>
                <a:latin typeface="Arial"/>
                <a:ea typeface="Arial"/>
                <a:cs typeface="Arial"/>
              </a:defRPr>
            </a:lvl8pPr>
            <a:lvl9pPr>
              <a:buNone/>
              <a:defRPr sz="1950" b="1">
                <a:solidFill>
                  <a:srgbClr val="AA3C37"/>
                </a:solidFill>
                <a:latin typeface="Arial"/>
                <a:ea typeface="Arial"/>
                <a:cs typeface="Arial"/>
              </a:defRPr>
            </a:lvl9pPr>
          </a:lstStyle>
          <a:p xmlns:a="http://schemas.openxmlformats.org/drawingml/2006/main">
            <a:pPr>
              <a:buNone/>
              <a:defRPr sz="1950" b="1">
                <a:solidFill>
                  <a:srgbClr val="AA3C37"/>
                </a:solidFill>
                <a:latin typeface="Arial"/>
                <a:ea typeface="Arial"/>
                <a:cs typeface="Arial"/>
              </a:defRPr>
            </a:pPr>
            <a:r>
              <a:rPr sz="1950" b="1">
                <a:solidFill>
                  <a:srgbClr val="AA3C37"/>
                </a:solidFill>
                <a:latin typeface="Arial"/>
                <a:ea typeface="Arial"/>
                <a:cs typeface="Arial"/>
              </a:rPr>
              <a:t>What was not demonstrated</a:t>
            </a:r>
          </a:p>
        </p:txBody>
      </p:sp>
      <p:sp>
        <p:nvSpPr>
          <p:cNvPr id="14" name="">
            <a:extLst xmlns:a="http://schemas.openxmlformats.org/drawingml/2006/main">
              <a:ext uri="{FF2B5EF4-FFF2-40B4-BE49-F238E27FC236}">
                <a16:creationId xmlns:a16="http://schemas.microsoft.com/office/drawing/2014/main" id="{404C937C-AA1C-40A9-9CB6-13D659A9A2BE}"/>
              </a:ext>
            </a:extLst>
          </p:cNvPr>
          <p:cNvSpPr>
            <a:spLocks xmlns:a="http://schemas.openxmlformats.org/drawingml/2006/main" noGrp="1"/>
          </p:cNvSpPr>
          <p:nvPr/>
        </p:nvSpPr>
        <p:spPr>
          <a:xfrm xmlns:a="http://schemas.openxmlformats.org/drawingml/2006/main">
            <a:off x="6381750" y="3857625"/>
            <a:ext cx="50292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The reassessment failed after one repair.</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The repair invented a source identifier.</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These are not real participant observations.</a:t>
            </a:r>
          </a:p>
        </p:txBody>
      </p:sp>
    </p:spTree>
    <p:extLst>
      <p:ext uri="{BB962C8B-B14F-4D97-AF65-F5344CB8AC3E}">
        <p14:creationId xmlns:p14="http://schemas.microsoft.com/office/powerpoint/2010/main" val="3565277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35A6F0-FE2D-49AE-ABC4-94F15781F971}"/>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VALUE AND BOUNDARIES</a:t>
            </a:r>
          </a:p>
        </p:txBody>
      </p:sp>
      <p:sp>
        <p:nvSpPr>
          <p:cNvPr id="2" name="">
            <a:extLst xmlns:a="http://schemas.openxmlformats.org/drawingml/2006/main">
              <a:ext uri="{FF2B5EF4-FFF2-40B4-BE49-F238E27FC236}">
                <a16:creationId xmlns:a16="http://schemas.microsoft.com/office/drawing/2014/main" id="{E2EF106B-412D-4A3C-B0E1-AD1793959A95}"/>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Traceability is demonstrated. Time savings are unmeasured.</a:t>
            </a:r>
          </a:p>
        </p:txBody>
      </p:sp>
      <p:sp>
        <p:nvSpPr>
          <p:cNvPr id="3" name="">
            <a:extLst xmlns:a="http://schemas.openxmlformats.org/drawingml/2006/main">
              <a:ext uri="{FF2B5EF4-FFF2-40B4-BE49-F238E27FC236}">
                <a16:creationId xmlns:a16="http://schemas.microsoft.com/office/drawing/2014/main" id="{905916DA-8E59-4A69-86BD-989AE74800CD}"/>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The purpose is to make evidence and reviewer judgment easier to inspect.</a:t>
            </a:r>
          </a:p>
        </p:txBody>
      </p:sp>
      <p:sp>
        <p:nvSpPr>
          <p:cNvPr id="4" name="">
            <a:extLst xmlns:a="http://schemas.openxmlformats.org/drawingml/2006/main">
              <a:ext uri="{FF2B5EF4-FFF2-40B4-BE49-F238E27FC236}">
                <a16:creationId xmlns:a16="http://schemas.microsoft.com/office/drawing/2014/main" id="{81883913-5192-497F-BB36-A2EDF875ADCA}"/>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DC41B9-B116-43FB-85A4-379D32A1EFC2}"/>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C769D15F-7660-4D49-8A18-0EF227FE030D}"/>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9F5EA049-CE57-4F52-A894-8F3E958D5098}"/>
              </a:ext>
            </a:extLst>
          </p:cNvPr>
          <p:cNvSpPr>
            <a:spLocks xmlns:a="http://schemas.openxmlformats.org/drawingml/2006/main" noGrp="1"/>
          </p:cNvSpPr>
          <p:nvPr/>
        </p:nvSpPr>
        <p:spPr>
          <a:xfrm xmlns:a="http://schemas.openxmlformats.org/drawingml/2006/main">
            <a:off x="571500" y="3095625"/>
            <a:ext cx="3476625"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F924C6-1CAA-4362-B3EC-08534F1C3AC6}"/>
              </a:ext>
            </a:extLst>
          </p:cNvPr>
          <p:cNvSpPr>
            <a:spLocks xmlns:a="http://schemas.openxmlformats.org/drawingml/2006/main" noGrp="1"/>
          </p:cNvSpPr>
          <p:nvPr/>
        </p:nvSpPr>
        <p:spPr>
          <a:xfrm xmlns:a="http://schemas.openxmlformats.org/drawingml/2006/main">
            <a:off x="57150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6957E18-15C5-46F1-AF77-937F2F88CD3D}"/>
              </a:ext>
            </a:extLst>
          </p:cNvPr>
          <p:cNvSpPr>
            <a:spLocks xmlns:a="http://schemas.openxmlformats.org/drawingml/2006/main" noGrp="1"/>
          </p:cNvSpPr>
          <p:nvPr/>
        </p:nvSpPr>
        <p:spPr>
          <a:xfrm xmlns:a="http://schemas.openxmlformats.org/drawingml/2006/main">
            <a:off x="781050" y="3286125"/>
            <a:ext cx="3057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Available evidence</a:t>
            </a:r>
          </a:p>
        </p:txBody>
      </p:sp>
      <p:sp>
        <p:nvSpPr>
          <p:cNvPr id="10" name="">
            <a:extLst xmlns:a="http://schemas.openxmlformats.org/drawingml/2006/main">
              <a:ext uri="{FF2B5EF4-FFF2-40B4-BE49-F238E27FC236}">
                <a16:creationId xmlns:a16="http://schemas.microsoft.com/office/drawing/2014/main" id="{08FF7FF6-54DD-4AAF-B523-315F0BBCD7A1}"/>
              </a:ext>
            </a:extLst>
          </p:cNvPr>
          <p:cNvSpPr>
            <a:spLocks xmlns:a="http://schemas.openxmlformats.org/drawingml/2006/main" noGrp="1"/>
          </p:cNvSpPr>
          <p:nvPr/>
        </p:nvSpPr>
        <p:spPr>
          <a:xfrm xmlns:a="http://schemas.openxmlformats.org/drawingml/2006/main">
            <a:off x="781050" y="3857625"/>
            <a:ext cx="30575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Recorded model replies,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quality reviews and costs.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351 automated tests;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TypeScript + Webpack passed.</a:t>
            </a:r>
          </a:p>
        </p:txBody>
      </p:sp>
      <p:sp>
        <p:nvSpPr>
          <p:cNvPr id="11" name="">
            <a:extLst xmlns:a="http://schemas.openxmlformats.org/drawingml/2006/main">
              <a:ext uri="{FF2B5EF4-FFF2-40B4-BE49-F238E27FC236}">
                <a16:creationId xmlns:a16="http://schemas.microsoft.com/office/drawing/2014/main" id="{2F7CC95C-5053-46D5-9CBB-0E204E5AB73A}"/>
              </a:ext>
            </a:extLst>
          </p:cNvPr>
          <p:cNvSpPr>
            <a:spLocks xmlns:a="http://schemas.openxmlformats.org/drawingml/2006/main" noGrp="1"/>
          </p:cNvSpPr>
          <p:nvPr/>
        </p:nvSpPr>
        <p:spPr>
          <a:xfrm xmlns:a="http://schemas.openxmlformats.org/drawingml/2006/main">
            <a:off x="4276725" y="3095625"/>
            <a:ext cx="3476625"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58CD78-8544-4D32-A3CC-39BF1DEB7CD9}"/>
              </a:ext>
            </a:extLst>
          </p:cNvPr>
          <p:cNvSpPr>
            <a:spLocks xmlns:a="http://schemas.openxmlformats.org/drawingml/2006/main" noGrp="1"/>
          </p:cNvSpPr>
          <p:nvPr/>
        </p:nvSpPr>
        <p:spPr>
          <a:xfrm xmlns:a="http://schemas.openxmlformats.org/drawingml/2006/main">
            <a:off x="4276725" y="3095625"/>
            <a:ext cx="38100" cy="2647950"/>
          </a:xfrm>
          <a:prstGeom xmlns:a="http://schemas.openxmlformats.org/drawingml/2006/main" prst="rect">
            <a:avLst/>
          </a:prstGeom>
          <a:solidFill xmlns:a="http://schemas.openxmlformats.org/drawingml/2006/main">
            <a:srgbClr val="95600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0C7B39-B4C3-48CA-B3BE-D3F94F2BD534}"/>
              </a:ext>
            </a:extLst>
          </p:cNvPr>
          <p:cNvSpPr>
            <a:spLocks xmlns:a="http://schemas.openxmlformats.org/drawingml/2006/main" noGrp="1"/>
          </p:cNvSpPr>
          <p:nvPr/>
        </p:nvSpPr>
        <p:spPr>
          <a:xfrm xmlns:a="http://schemas.openxmlformats.org/drawingml/2006/main">
            <a:off x="4486275" y="3286125"/>
            <a:ext cx="3057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956009"/>
                </a:solidFill>
                <a:latin typeface="Arial"/>
                <a:ea typeface="Arial"/>
                <a:cs typeface="Arial"/>
              </a:defRPr>
            </a:defPPr>
            <a:lvl1pPr>
              <a:buNone/>
              <a:defRPr sz="1950" b="1">
                <a:solidFill>
                  <a:srgbClr val="956009"/>
                </a:solidFill>
                <a:latin typeface="Arial"/>
                <a:ea typeface="Arial"/>
                <a:cs typeface="Arial"/>
              </a:defRPr>
            </a:lvl1pPr>
            <a:lvl2pPr>
              <a:buNone/>
              <a:defRPr sz="1950" b="1">
                <a:solidFill>
                  <a:srgbClr val="956009"/>
                </a:solidFill>
                <a:latin typeface="Arial"/>
                <a:ea typeface="Arial"/>
                <a:cs typeface="Arial"/>
              </a:defRPr>
            </a:lvl2pPr>
            <a:lvl3pPr>
              <a:buNone/>
              <a:defRPr sz="1950" b="1">
                <a:solidFill>
                  <a:srgbClr val="956009"/>
                </a:solidFill>
                <a:latin typeface="Arial"/>
                <a:ea typeface="Arial"/>
                <a:cs typeface="Arial"/>
              </a:defRPr>
            </a:lvl3pPr>
            <a:lvl4pPr>
              <a:buNone/>
              <a:defRPr sz="1950" b="1">
                <a:solidFill>
                  <a:srgbClr val="956009"/>
                </a:solidFill>
                <a:latin typeface="Arial"/>
                <a:ea typeface="Arial"/>
                <a:cs typeface="Arial"/>
              </a:defRPr>
            </a:lvl4pPr>
            <a:lvl5pPr>
              <a:buNone/>
              <a:defRPr sz="1950" b="1">
                <a:solidFill>
                  <a:srgbClr val="956009"/>
                </a:solidFill>
                <a:latin typeface="Arial"/>
                <a:ea typeface="Arial"/>
                <a:cs typeface="Arial"/>
              </a:defRPr>
            </a:lvl5pPr>
            <a:lvl6pPr>
              <a:buNone/>
              <a:defRPr sz="1950" b="1">
                <a:solidFill>
                  <a:srgbClr val="956009"/>
                </a:solidFill>
                <a:latin typeface="Arial"/>
                <a:ea typeface="Arial"/>
                <a:cs typeface="Arial"/>
              </a:defRPr>
            </a:lvl6pPr>
            <a:lvl7pPr>
              <a:buNone/>
              <a:defRPr sz="1950" b="1">
                <a:solidFill>
                  <a:srgbClr val="956009"/>
                </a:solidFill>
                <a:latin typeface="Arial"/>
                <a:ea typeface="Arial"/>
                <a:cs typeface="Arial"/>
              </a:defRPr>
            </a:lvl7pPr>
            <a:lvl8pPr>
              <a:buNone/>
              <a:defRPr sz="1950" b="1">
                <a:solidFill>
                  <a:srgbClr val="956009"/>
                </a:solidFill>
                <a:latin typeface="Arial"/>
                <a:ea typeface="Arial"/>
                <a:cs typeface="Arial"/>
              </a:defRPr>
            </a:lvl8pPr>
            <a:lvl9pPr>
              <a:buNone/>
              <a:defRPr sz="1950" b="1">
                <a:solidFill>
                  <a:srgbClr val="956009"/>
                </a:solidFill>
                <a:latin typeface="Arial"/>
                <a:ea typeface="Arial"/>
                <a:cs typeface="Arial"/>
              </a:defRPr>
            </a:lvl9pPr>
          </a:lstStyle>
          <a:p xmlns:a="http://schemas.openxmlformats.org/drawingml/2006/main">
            <a:pPr>
              <a:buNone/>
              <a:defRPr sz="1950" b="1">
                <a:solidFill>
                  <a:srgbClr val="956009"/>
                </a:solidFill>
                <a:latin typeface="Arial"/>
                <a:ea typeface="Arial"/>
                <a:cs typeface="Arial"/>
              </a:defRPr>
            </a:pPr>
            <a:r>
              <a:rPr sz="1950" b="1">
                <a:solidFill>
                  <a:srgbClr val="956009"/>
                </a:solidFill>
                <a:latin typeface="Arial"/>
                <a:ea typeface="Arial"/>
                <a:cs typeface="Arial"/>
              </a:rPr>
              <a:t>Accepted limitations</a:t>
            </a:r>
          </a:p>
        </p:txBody>
      </p:sp>
      <p:sp>
        <p:nvSpPr>
          <p:cNvPr id="14" name="">
            <a:extLst xmlns:a="http://schemas.openxmlformats.org/drawingml/2006/main">
              <a:ext uri="{FF2B5EF4-FFF2-40B4-BE49-F238E27FC236}">
                <a16:creationId xmlns:a16="http://schemas.microsoft.com/office/drawing/2014/main" id="{2739FAFE-121A-48B0-8C8C-72423C1E6B8D}"/>
              </a:ext>
            </a:extLst>
          </p:cNvPr>
          <p:cNvSpPr>
            <a:spLocks xmlns:a="http://schemas.openxmlformats.org/drawingml/2006/main" noGrp="1"/>
          </p:cNvSpPr>
          <p:nvPr/>
        </p:nvSpPr>
        <p:spPr>
          <a:xfrm xmlns:a="http://schemas.openxmlformats.org/drawingml/2006/main">
            <a:off x="4486275" y="3857625"/>
            <a:ext cx="30575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Unsupported commitments.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Historical interpretation errors.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Validator false positives.</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Input privacy is heuristic.</a:t>
            </a:r>
          </a:p>
        </p:txBody>
      </p:sp>
      <p:sp>
        <p:nvSpPr>
          <p:cNvPr id="15" name="">
            <a:extLst xmlns:a="http://schemas.openxmlformats.org/drawingml/2006/main">
              <a:ext uri="{FF2B5EF4-FFF2-40B4-BE49-F238E27FC236}">
                <a16:creationId xmlns:a16="http://schemas.microsoft.com/office/drawing/2014/main" id="{0C81C564-06A0-4AB4-8985-33257E63E2BF}"/>
              </a:ext>
            </a:extLst>
          </p:cNvPr>
          <p:cNvSpPr>
            <a:spLocks xmlns:a="http://schemas.openxmlformats.org/drawingml/2006/main" noGrp="1"/>
          </p:cNvSpPr>
          <p:nvPr/>
        </p:nvSpPr>
        <p:spPr>
          <a:xfrm xmlns:a="http://schemas.openxmlformats.org/drawingml/2006/main">
            <a:off x="7981950" y="3095625"/>
            <a:ext cx="3638550"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A931048-037B-480D-8481-EA67BB53DE2B}"/>
              </a:ext>
            </a:extLst>
          </p:cNvPr>
          <p:cNvSpPr>
            <a:spLocks xmlns:a="http://schemas.openxmlformats.org/drawingml/2006/main" noGrp="1"/>
          </p:cNvSpPr>
          <p:nvPr/>
        </p:nvSpPr>
        <p:spPr>
          <a:xfrm xmlns:a="http://schemas.openxmlformats.org/drawingml/2006/main">
            <a:off x="798195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493B04B-3B62-4799-B974-CC458C8EB02B}"/>
              </a:ext>
            </a:extLst>
          </p:cNvPr>
          <p:cNvSpPr>
            <a:spLocks xmlns:a="http://schemas.openxmlformats.org/drawingml/2006/main" noGrp="1"/>
          </p:cNvSpPr>
          <p:nvPr/>
        </p:nvSpPr>
        <p:spPr>
          <a:xfrm xmlns:a="http://schemas.openxmlformats.org/drawingml/2006/main">
            <a:off x="8191500" y="3286125"/>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Intentionally skipped</a:t>
            </a:r>
          </a:p>
        </p:txBody>
      </p:sp>
      <p:sp>
        <p:nvSpPr>
          <p:cNvPr id="18" name="">
            <a:extLst xmlns:a="http://schemas.openxmlformats.org/drawingml/2006/main">
              <a:ext uri="{FF2B5EF4-FFF2-40B4-BE49-F238E27FC236}">
                <a16:creationId xmlns:a16="http://schemas.microsoft.com/office/drawing/2014/main" id="{FBA592F4-457C-48DA-B85E-D92D00228F7C}"/>
              </a:ext>
            </a:extLst>
          </p:cNvPr>
          <p:cNvSpPr>
            <a:spLocks xmlns:a="http://schemas.openxmlformats.org/drawingml/2006/main" noGrp="1"/>
          </p:cNvSpPr>
          <p:nvPr/>
        </p:nvSpPr>
        <p:spPr>
          <a:xfrm xmlns:a="http://schemas.openxmlformats.org/drawingml/2006/main">
            <a:off x="8191500" y="3857625"/>
            <a:ext cx="32194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Manual timing study.</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Basic-prompt comparison.</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High-versus-max experiment.</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Standalone B787 package.</a:t>
            </a:r>
          </a:p>
        </p:txBody>
      </p:sp>
    </p:spTree>
    <p:extLst>
      <p:ext uri="{BB962C8B-B14F-4D97-AF65-F5344CB8AC3E}">
        <p14:creationId xmlns:p14="http://schemas.microsoft.com/office/powerpoint/2010/main" val="15053698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B1666E4-BF01-44F0-8E58-727EB3900ED7}"/>
              </a:ext>
            </a:extLst>
          </p:cNvPr>
          <p:cNvSpPr>
            <a:spLocks xmlns:a="http://schemas.openxmlformats.org/drawingml/2006/main" noGrp="1"/>
          </p:cNvSpPr>
          <p:nvPr/>
        </p:nvSpPr>
        <p:spPr>
          <a:xfrm xmlns:a="http://schemas.openxmlformats.org/drawingml/2006/main">
            <a:off x="5715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07B73"/>
                </a:solidFill>
                <a:latin typeface="Arial"/>
                <a:ea typeface="Arial"/>
                <a:cs typeface="Arial"/>
              </a:defRPr>
            </a:defPPr>
            <a:lvl1pPr>
              <a:buNone/>
              <a:defRPr sz="1200" b="1">
                <a:solidFill>
                  <a:srgbClr val="007B73"/>
                </a:solidFill>
                <a:latin typeface="Arial"/>
                <a:ea typeface="Arial"/>
                <a:cs typeface="Arial"/>
              </a:defRPr>
            </a:lvl1pPr>
            <a:lvl2pPr>
              <a:buNone/>
              <a:defRPr sz="1200" b="1">
                <a:solidFill>
                  <a:srgbClr val="007B73"/>
                </a:solidFill>
                <a:latin typeface="Arial"/>
                <a:ea typeface="Arial"/>
                <a:cs typeface="Arial"/>
              </a:defRPr>
            </a:lvl2pPr>
            <a:lvl3pPr>
              <a:buNone/>
              <a:defRPr sz="1200" b="1">
                <a:solidFill>
                  <a:srgbClr val="007B73"/>
                </a:solidFill>
                <a:latin typeface="Arial"/>
                <a:ea typeface="Arial"/>
                <a:cs typeface="Arial"/>
              </a:defRPr>
            </a:lvl3pPr>
            <a:lvl4pPr>
              <a:buNone/>
              <a:defRPr sz="1200" b="1">
                <a:solidFill>
                  <a:srgbClr val="007B73"/>
                </a:solidFill>
                <a:latin typeface="Arial"/>
                <a:ea typeface="Arial"/>
                <a:cs typeface="Arial"/>
              </a:defRPr>
            </a:lvl4pPr>
            <a:lvl5pPr>
              <a:buNone/>
              <a:defRPr sz="1200" b="1">
                <a:solidFill>
                  <a:srgbClr val="007B73"/>
                </a:solidFill>
                <a:latin typeface="Arial"/>
                <a:ea typeface="Arial"/>
                <a:cs typeface="Arial"/>
              </a:defRPr>
            </a:lvl5pPr>
            <a:lvl6pPr>
              <a:buNone/>
              <a:defRPr sz="1200" b="1">
                <a:solidFill>
                  <a:srgbClr val="007B73"/>
                </a:solidFill>
                <a:latin typeface="Arial"/>
                <a:ea typeface="Arial"/>
                <a:cs typeface="Arial"/>
              </a:defRPr>
            </a:lvl6pPr>
            <a:lvl7pPr>
              <a:buNone/>
              <a:defRPr sz="1200" b="1">
                <a:solidFill>
                  <a:srgbClr val="007B73"/>
                </a:solidFill>
                <a:latin typeface="Arial"/>
                <a:ea typeface="Arial"/>
                <a:cs typeface="Arial"/>
              </a:defRPr>
            </a:lvl7pPr>
            <a:lvl8pPr>
              <a:buNone/>
              <a:defRPr sz="1200" b="1">
                <a:solidFill>
                  <a:srgbClr val="007B73"/>
                </a:solidFill>
                <a:latin typeface="Arial"/>
                <a:ea typeface="Arial"/>
                <a:cs typeface="Arial"/>
              </a:defRPr>
            </a:lvl8pPr>
            <a:lvl9pPr>
              <a:buNone/>
              <a:defRPr sz="1200" b="1">
                <a:solidFill>
                  <a:srgbClr val="007B73"/>
                </a:solidFill>
                <a:latin typeface="Arial"/>
                <a:ea typeface="Arial"/>
                <a:cs typeface="Arial"/>
              </a:defRPr>
            </a:lvl9pPr>
          </a:lstStyle>
          <a:p xmlns:a="http://schemas.openxmlformats.org/drawingml/2006/main">
            <a:pPr>
              <a:buNone/>
              <a:defRPr sz="1200" b="1">
                <a:solidFill>
                  <a:srgbClr val="007B73"/>
                </a:solidFill>
                <a:latin typeface="Arial"/>
                <a:ea typeface="Arial"/>
                <a:cs typeface="Arial"/>
              </a:defRPr>
            </a:pPr>
            <a:r>
              <a:rPr sz="1200" b="1">
                <a:solidFill>
                  <a:srgbClr val="007B73"/>
                </a:solidFill>
                <a:latin typeface="Arial"/>
                <a:ea typeface="Arial"/>
                <a:cs typeface="Arial"/>
              </a:rPr>
              <a:t>DELIVERY AND NEXT GATES</a:t>
            </a:r>
          </a:p>
        </p:txBody>
      </p:sp>
      <p:sp>
        <p:nvSpPr>
          <p:cNvPr id="2" name="">
            <a:extLst xmlns:a="http://schemas.openxmlformats.org/drawingml/2006/main">
              <a:ext uri="{FF2B5EF4-FFF2-40B4-BE49-F238E27FC236}">
                <a16:creationId xmlns:a16="http://schemas.microsoft.com/office/drawing/2014/main" id="{4268C64A-E6AF-4197-9219-CB0597FC3E4A}"/>
              </a:ext>
            </a:extLst>
          </p:cNvPr>
          <p:cNvSpPr>
            <a:spLocks xmlns:a="http://schemas.openxmlformats.org/drawingml/2006/main" noGrp="1"/>
          </p:cNvSpPr>
          <p:nvPr/>
        </p:nvSpPr>
        <p:spPr>
          <a:xfrm xmlns:a="http://schemas.openxmlformats.org/drawingml/2006/main">
            <a:off x="571500" y="895350"/>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171B"/>
                </a:solidFill>
                <a:latin typeface="Arial"/>
                <a:ea typeface="Arial"/>
                <a:cs typeface="Arial"/>
              </a:defRPr>
            </a:defPPr>
            <a:lvl1pPr>
              <a:buNone/>
              <a:defRPr sz="3450" b="1">
                <a:solidFill>
                  <a:srgbClr val="10171B"/>
                </a:solidFill>
                <a:latin typeface="Arial"/>
                <a:ea typeface="Arial"/>
                <a:cs typeface="Arial"/>
              </a:defRPr>
            </a:lvl1pPr>
            <a:lvl2pPr>
              <a:buNone/>
              <a:defRPr sz="3450" b="1">
                <a:solidFill>
                  <a:srgbClr val="10171B"/>
                </a:solidFill>
                <a:latin typeface="Arial"/>
                <a:ea typeface="Arial"/>
                <a:cs typeface="Arial"/>
              </a:defRPr>
            </a:lvl2pPr>
            <a:lvl3pPr>
              <a:buNone/>
              <a:defRPr sz="3450" b="1">
                <a:solidFill>
                  <a:srgbClr val="10171B"/>
                </a:solidFill>
                <a:latin typeface="Arial"/>
                <a:ea typeface="Arial"/>
                <a:cs typeface="Arial"/>
              </a:defRPr>
            </a:lvl3pPr>
            <a:lvl4pPr>
              <a:buNone/>
              <a:defRPr sz="3450" b="1">
                <a:solidFill>
                  <a:srgbClr val="10171B"/>
                </a:solidFill>
                <a:latin typeface="Arial"/>
                <a:ea typeface="Arial"/>
                <a:cs typeface="Arial"/>
              </a:defRPr>
            </a:lvl4pPr>
            <a:lvl5pPr>
              <a:buNone/>
              <a:defRPr sz="3450" b="1">
                <a:solidFill>
                  <a:srgbClr val="10171B"/>
                </a:solidFill>
                <a:latin typeface="Arial"/>
                <a:ea typeface="Arial"/>
                <a:cs typeface="Arial"/>
              </a:defRPr>
            </a:lvl5pPr>
            <a:lvl6pPr>
              <a:buNone/>
              <a:defRPr sz="3450" b="1">
                <a:solidFill>
                  <a:srgbClr val="10171B"/>
                </a:solidFill>
                <a:latin typeface="Arial"/>
                <a:ea typeface="Arial"/>
                <a:cs typeface="Arial"/>
              </a:defRPr>
            </a:lvl6pPr>
            <a:lvl7pPr>
              <a:buNone/>
              <a:defRPr sz="3450" b="1">
                <a:solidFill>
                  <a:srgbClr val="10171B"/>
                </a:solidFill>
                <a:latin typeface="Arial"/>
                <a:ea typeface="Arial"/>
                <a:cs typeface="Arial"/>
              </a:defRPr>
            </a:lvl7pPr>
            <a:lvl8pPr>
              <a:buNone/>
              <a:defRPr sz="3450" b="1">
                <a:solidFill>
                  <a:srgbClr val="10171B"/>
                </a:solidFill>
                <a:latin typeface="Arial"/>
                <a:ea typeface="Arial"/>
                <a:cs typeface="Arial"/>
              </a:defRPr>
            </a:lvl8pPr>
            <a:lvl9pPr>
              <a:buNone/>
              <a:defRPr sz="3450" b="1">
                <a:solidFill>
                  <a:srgbClr val="10171B"/>
                </a:solidFill>
                <a:latin typeface="Arial"/>
                <a:ea typeface="Arial"/>
                <a:cs typeface="Arial"/>
              </a:defRPr>
            </a:lvl9pPr>
          </a:lstStyle>
          <a:p xmlns:a="http://schemas.openxmlformats.org/drawingml/2006/main">
            <a:pPr>
              <a:buNone/>
              <a:defRPr sz="3450" b="1">
                <a:solidFill>
                  <a:srgbClr val="10171B"/>
                </a:solidFill>
                <a:latin typeface="Arial"/>
                <a:ea typeface="Arial"/>
                <a:cs typeface="Arial"/>
              </a:defRPr>
            </a:pPr>
            <a:r>
              <a:rPr sz="3450" b="1">
                <a:solidFill>
                  <a:srgbClr val="10171B"/>
                </a:solidFill>
                <a:latin typeface="Arial"/>
                <a:ea typeface="Arial"/>
                <a:cs typeface="Arial"/>
              </a:rPr>
              <a:t>A reviewable package before a supervised release</a:t>
            </a:r>
          </a:p>
        </p:txBody>
      </p:sp>
      <p:sp>
        <p:nvSpPr>
          <p:cNvPr id="3" name="">
            <a:extLst xmlns:a="http://schemas.openxmlformats.org/drawingml/2006/main">
              <a:ext uri="{FF2B5EF4-FFF2-40B4-BE49-F238E27FC236}">
                <a16:creationId xmlns:a16="http://schemas.microsoft.com/office/drawing/2014/main" id="{D839DAC3-70B2-4308-A7ED-3B3ABA70D6F0}"/>
              </a:ext>
            </a:extLst>
          </p:cNvPr>
          <p:cNvSpPr>
            <a:spLocks xmlns:a="http://schemas.openxmlformats.org/drawingml/2006/main" noGrp="1"/>
          </p:cNvSpPr>
          <p:nvPr/>
        </p:nvSpPr>
        <p:spPr>
          <a:xfrm xmlns:a="http://schemas.openxmlformats.org/drawingml/2006/main">
            <a:off x="571500" y="2038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16B"/>
                </a:solidFill>
                <a:latin typeface="Arial"/>
                <a:ea typeface="Arial"/>
                <a:cs typeface="Arial"/>
              </a:defRPr>
            </a:defPPr>
            <a:lvl1pPr>
              <a:buNone/>
              <a:defRPr sz="1725" b="0">
                <a:solidFill>
                  <a:srgbClr val="52616B"/>
                </a:solidFill>
                <a:latin typeface="Arial"/>
                <a:ea typeface="Arial"/>
                <a:cs typeface="Arial"/>
              </a:defRPr>
            </a:lvl1pPr>
            <a:lvl2pPr>
              <a:buNone/>
              <a:defRPr sz="1725" b="0">
                <a:solidFill>
                  <a:srgbClr val="52616B"/>
                </a:solidFill>
                <a:latin typeface="Arial"/>
                <a:ea typeface="Arial"/>
                <a:cs typeface="Arial"/>
              </a:defRPr>
            </a:lvl2pPr>
            <a:lvl3pPr>
              <a:buNone/>
              <a:defRPr sz="1725" b="0">
                <a:solidFill>
                  <a:srgbClr val="52616B"/>
                </a:solidFill>
                <a:latin typeface="Arial"/>
                <a:ea typeface="Arial"/>
                <a:cs typeface="Arial"/>
              </a:defRPr>
            </a:lvl3pPr>
            <a:lvl4pPr>
              <a:buNone/>
              <a:defRPr sz="1725" b="0">
                <a:solidFill>
                  <a:srgbClr val="52616B"/>
                </a:solidFill>
                <a:latin typeface="Arial"/>
                <a:ea typeface="Arial"/>
                <a:cs typeface="Arial"/>
              </a:defRPr>
            </a:lvl4pPr>
            <a:lvl5pPr>
              <a:buNone/>
              <a:defRPr sz="1725" b="0">
                <a:solidFill>
                  <a:srgbClr val="52616B"/>
                </a:solidFill>
                <a:latin typeface="Arial"/>
                <a:ea typeface="Arial"/>
                <a:cs typeface="Arial"/>
              </a:defRPr>
            </a:lvl5pPr>
            <a:lvl6pPr>
              <a:buNone/>
              <a:defRPr sz="1725" b="0">
                <a:solidFill>
                  <a:srgbClr val="52616B"/>
                </a:solidFill>
                <a:latin typeface="Arial"/>
                <a:ea typeface="Arial"/>
                <a:cs typeface="Arial"/>
              </a:defRPr>
            </a:lvl6pPr>
            <a:lvl7pPr>
              <a:buNone/>
              <a:defRPr sz="1725" b="0">
                <a:solidFill>
                  <a:srgbClr val="52616B"/>
                </a:solidFill>
                <a:latin typeface="Arial"/>
                <a:ea typeface="Arial"/>
                <a:cs typeface="Arial"/>
              </a:defRPr>
            </a:lvl7pPr>
            <a:lvl8pPr>
              <a:buNone/>
              <a:defRPr sz="1725" b="0">
                <a:solidFill>
                  <a:srgbClr val="52616B"/>
                </a:solidFill>
                <a:latin typeface="Arial"/>
                <a:ea typeface="Arial"/>
                <a:cs typeface="Arial"/>
              </a:defRPr>
            </a:lvl8pPr>
            <a:lvl9pPr>
              <a:buNone/>
              <a:defRPr sz="1725" b="0">
                <a:solidFill>
                  <a:srgbClr val="52616B"/>
                </a:solidFill>
                <a:latin typeface="Arial"/>
                <a:ea typeface="Arial"/>
                <a:cs typeface="Arial"/>
              </a:defRPr>
            </a:lvl9pPr>
          </a:lstStyle>
          <a:p xmlns:a="http://schemas.openxmlformats.org/drawingml/2006/main">
            <a:pPr>
              <a:buNone/>
              <a:defRPr sz="1725" b="0">
                <a:solidFill>
                  <a:srgbClr val="52616B"/>
                </a:solidFill>
                <a:latin typeface="Arial"/>
                <a:ea typeface="Arial"/>
                <a:cs typeface="Arial"/>
              </a:defRPr>
            </a:pPr>
            <a:r>
              <a:rPr sz="1725" b="0">
                <a:solidFill>
                  <a:srgbClr val="52616B"/>
                </a:solidFill>
                <a:latin typeface="Arial"/>
                <a:ea typeface="Arial"/>
                <a:cs typeface="Arial"/>
              </a:rPr>
              <a:t>Eight required materials and the approved video are linked from the repository.</a:t>
            </a:r>
          </a:p>
        </p:txBody>
      </p:sp>
      <p:sp>
        <p:nvSpPr>
          <p:cNvPr id="4" name="">
            <a:extLst xmlns:a="http://schemas.openxmlformats.org/drawingml/2006/main">
              <a:ext uri="{FF2B5EF4-FFF2-40B4-BE49-F238E27FC236}">
                <a16:creationId xmlns:a16="http://schemas.microsoft.com/office/drawing/2014/main" id="{DA7FE013-ABA4-4046-8315-90DFA5073ED8}"/>
              </a:ext>
            </a:extLst>
          </p:cNvPr>
          <p:cNvSpPr>
            <a:spLocks xmlns:a="http://schemas.openxmlformats.org/drawingml/2006/main" noGrp="1"/>
          </p:cNvSpPr>
          <p:nvPr/>
        </p:nvSpPr>
        <p:spPr>
          <a:xfrm xmlns:a="http://schemas.openxmlformats.org/drawingml/2006/main">
            <a:off x="571500" y="6305550"/>
            <a:ext cx="11049000" cy="9525"/>
          </a:xfrm>
          <a:prstGeom xmlns:a="http://schemas.openxmlformats.org/drawingml/2006/main" prst="rect">
            <a:avLst/>
          </a:prstGeom>
          <a:solidFill xmlns:a="http://schemas.openxmlformats.org/drawingml/2006/main">
            <a:srgbClr val="D7E1E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E73044-61F7-4256-8725-FCB48F9DBF02}"/>
              </a:ext>
            </a:extLst>
          </p:cNvPr>
          <p:cNvSpPr>
            <a:spLocks xmlns:a="http://schemas.openxmlformats.org/drawingml/2006/main" noGrp="1"/>
          </p:cNvSpPr>
          <p:nvPr/>
        </p:nvSpPr>
        <p:spPr>
          <a:xfrm xmlns:a="http://schemas.openxmlformats.org/drawingml/2006/main">
            <a:off x="571500" y="64484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2616B"/>
                </a:solidFill>
                <a:latin typeface="Arial"/>
                <a:ea typeface="Arial"/>
                <a:cs typeface="Arial"/>
              </a:defRPr>
            </a:defPPr>
            <a:lvl1pPr>
              <a:buNone/>
              <a:defRPr sz="1050" b="0">
                <a:solidFill>
                  <a:srgbClr val="52616B"/>
                </a:solidFill>
                <a:latin typeface="Arial"/>
                <a:ea typeface="Arial"/>
                <a:cs typeface="Arial"/>
              </a:defRPr>
            </a:lvl1pPr>
            <a:lvl2pPr>
              <a:buNone/>
              <a:defRPr sz="1050" b="0">
                <a:solidFill>
                  <a:srgbClr val="52616B"/>
                </a:solidFill>
                <a:latin typeface="Arial"/>
                <a:ea typeface="Arial"/>
                <a:cs typeface="Arial"/>
              </a:defRPr>
            </a:lvl2pPr>
            <a:lvl3pPr>
              <a:buNone/>
              <a:defRPr sz="1050" b="0">
                <a:solidFill>
                  <a:srgbClr val="52616B"/>
                </a:solidFill>
                <a:latin typeface="Arial"/>
                <a:ea typeface="Arial"/>
                <a:cs typeface="Arial"/>
              </a:defRPr>
            </a:lvl3pPr>
            <a:lvl4pPr>
              <a:buNone/>
              <a:defRPr sz="1050" b="0">
                <a:solidFill>
                  <a:srgbClr val="52616B"/>
                </a:solidFill>
                <a:latin typeface="Arial"/>
                <a:ea typeface="Arial"/>
                <a:cs typeface="Arial"/>
              </a:defRPr>
            </a:lvl4pPr>
            <a:lvl5pPr>
              <a:buNone/>
              <a:defRPr sz="1050" b="0">
                <a:solidFill>
                  <a:srgbClr val="52616B"/>
                </a:solidFill>
                <a:latin typeface="Arial"/>
                <a:ea typeface="Arial"/>
                <a:cs typeface="Arial"/>
              </a:defRPr>
            </a:lvl5pPr>
            <a:lvl6pPr>
              <a:buNone/>
              <a:defRPr sz="1050" b="0">
                <a:solidFill>
                  <a:srgbClr val="52616B"/>
                </a:solidFill>
                <a:latin typeface="Arial"/>
                <a:ea typeface="Arial"/>
                <a:cs typeface="Arial"/>
              </a:defRPr>
            </a:lvl6pPr>
            <a:lvl7pPr>
              <a:buNone/>
              <a:defRPr sz="1050" b="0">
                <a:solidFill>
                  <a:srgbClr val="52616B"/>
                </a:solidFill>
                <a:latin typeface="Arial"/>
                <a:ea typeface="Arial"/>
                <a:cs typeface="Arial"/>
              </a:defRPr>
            </a:lvl7pPr>
            <a:lvl8pPr>
              <a:buNone/>
              <a:defRPr sz="1050" b="0">
                <a:solidFill>
                  <a:srgbClr val="52616B"/>
                </a:solidFill>
                <a:latin typeface="Arial"/>
                <a:ea typeface="Arial"/>
                <a:cs typeface="Arial"/>
              </a:defRPr>
            </a:lvl8pPr>
            <a:lvl9pPr>
              <a:buNone/>
              <a:defRPr sz="1050" b="0">
                <a:solidFill>
                  <a:srgbClr val="52616B"/>
                </a:solidFill>
                <a:latin typeface="Arial"/>
                <a:ea typeface="Arial"/>
                <a:cs typeface="Arial"/>
              </a:defRPr>
            </a:lvl9pPr>
          </a:lstStyle>
          <a:p xmlns:a="http://schemas.openxmlformats.org/drawingml/2006/main">
            <a:pPr>
              <a:buNone/>
              <a:defRPr sz="1050" b="0">
                <a:solidFill>
                  <a:srgbClr val="52616B"/>
                </a:solidFill>
                <a:latin typeface="Arial"/>
                <a:ea typeface="Arial"/>
                <a:cs typeface="Arial"/>
              </a:defRPr>
            </a:pPr>
            <a:r>
              <a:rPr sz="1050" b="0">
                <a:solidFill>
                  <a:srgbClr val="52616B"/>
                </a:solidFill>
                <a:latin typeface="Arial"/>
                <a:ea typeface="Arial"/>
                <a:cs typeface="Arial"/>
              </a:rPr>
              <a:t>AeroContext  /  Track 3  /  Simulation  /  24 Oct 2026</a:t>
            </a:r>
          </a:p>
        </p:txBody>
      </p:sp>
      <p:sp>
        <p:nvSpPr>
          <p:cNvPr id="6" name="">
            <a:extLst xmlns:a="http://schemas.openxmlformats.org/drawingml/2006/main">
              <a:ext uri="{FF2B5EF4-FFF2-40B4-BE49-F238E27FC236}">
                <a16:creationId xmlns:a16="http://schemas.microsoft.com/office/drawing/2014/main" id="{A3EF1998-AB2F-4F0A-9624-095864B3D4B2}"/>
              </a:ext>
            </a:extLst>
          </p:cNvPr>
          <p:cNvSpPr>
            <a:spLocks xmlns:a="http://schemas.openxmlformats.org/drawingml/2006/main" noGrp="1"/>
          </p:cNvSpPr>
          <p:nvPr/>
        </p:nvSpPr>
        <p:spPr>
          <a:xfrm xmlns:a="http://schemas.openxmlformats.org/drawingml/2006/main">
            <a:off x="11096625" y="64389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10171B"/>
                </a:solidFill>
                <a:latin typeface="Arial"/>
                <a:ea typeface="Arial"/>
                <a:cs typeface="Arial"/>
              </a:defRPr>
            </a:defPPr>
            <a:lvl1pPr>
              <a:buNone/>
              <a:defRPr sz="1050" b="1">
                <a:solidFill>
                  <a:srgbClr val="10171B"/>
                </a:solidFill>
                <a:latin typeface="Arial"/>
                <a:ea typeface="Arial"/>
                <a:cs typeface="Arial"/>
              </a:defRPr>
            </a:lvl1pPr>
            <a:lvl2pPr>
              <a:buNone/>
              <a:defRPr sz="1050" b="1">
                <a:solidFill>
                  <a:srgbClr val="10171B"/>
                </a:solidFill>
                <a:latin typeface="Arial"/>
                <a:ea typeface="Arial"/>
                <a:cs typeface="Arial"/>
              </a:defRPr>
            </a:lvl2pPr>
            <a:lvl3pPr>
              <a:buNone/>
              <a:defRPr sz="1050" b="1">
                <a:solidFill>
                  <a:srgbClr val="10171B"/>
                </a:solidFill>
                <a:latin typeface="Arial"/>
                <a:ea typeface="Arial"/>
                <a:cs typeface="Arial"/>
              </a:defRPr>
            </a:lvl3pPr>
            <a:lvl4pPr>
              <a:buNone/>
              <a:defRPr sz="1050" b="1">
                <a:solidFill>
                  <a:srgbClr val="10171B"/>
                </a:solidFill>
                <a:latin typeface="Arial"/>
                <a:ea typeface="Arial"/>
                <a:cs typeface="Arial"/>
              </a:defRPr>
            </a:lvl4pPr>
            <a:lvl5pPr>
              <a:buNone/>
              <a:defRPr sz="1050" b="1">
                <a:solidFill>
                  <a:srgbClr val="10171B"/>
                </a:solidFill>
                <a:latin typeface="Arial"/>
                <a:ea typeface="Arial"/>
                <a:cs typeface="Arial"/>
              </a:defRPr>
            </a:lvl5pPr>
            <a:lvl6pPr>
              <a:buNone/>
              <a:defRPr sz="1050" b="1">
                <a:solidFill>
                  <a:srgbClr val="10171B"/>
                </a:solidFill>
                <a:latin typeface="Arial"/>
                <a:ea typeface="Arial"/>
                <a:cs typeface="Arial"/>
              </a:defRPr>
            </a:lvl6pPr>
            <a:lvl7pPr>
              <a:buNone/>
              <a:defRPr sz="1050" b="1">
                <a:solidFill>
                  <a:srgbClr val="10171B"/>
                </a:solidFill>
                <a:latin typeface="Arial"/>
                <a:ea typeface="Arial"/>
                <a:cs typeface="Arial"/>
              </a:defRPr>
            </a:lvl7pPr>
            <a:lvl8pPr>
              <a:buNone/>
              <a:defRPr sz="1050" b="1">
                <a:solidFill>
                  <a:srgbClr val="10171B"/>
                </a:solidFill>
                <a:latin typeface="Arial"/>
                <a:ea typeface="Arial"/>
                <a:cs typeface="Arial"/>
              </a:defRPr>
            </a:lvl8pPr>
            <a:lvl9pPr>
              <a:buNone/>
              <a:defRPr sz="1050" b="1">
                <a:solidFill>
                  <a:srgbClr val="10171B"/>
                </a:solidFill>
                <a:latin typeface="Arial"/>
                <a:ea typeface="Arial"/>
                <a:cs typeface="Arial"/>
              </a:defRPr>
            </a:lvl9pPr>
          </a:lstStyle>
          <a:p xmlns:a="http://schemas.openxmlformats.org/drawingml/2006/main">
            <a:pPr>
              <a:buNone/>
              <a:defRPr sz="1050" b="1">
                <a:solidFill>
                  <a:srgbClr val="10171B"/>
                </a:solidFill>
                <a:latin typeface="Arial"/>
                <a:ea typeface="Arial"/>
                <a:cs typeface="Arial"/>
              </a:defRPr>
            </a:pPr>
            <a:r>
              <a:rPr sz="1050" b="1">
                <a:solidFill>
                  <a:srgbClr val="10171B"/>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996F85F3-E908-47D9-8F98-9CE33C85C55C}"/>
              </a:ext>
            </a:extLst>
          </p:cNvPr>
          <p:cNvSpPr>
            <a:spLocks xmlns:a="http://schemas.openxmlformats.org/drawingml/2006/main" noGrp="1"/>
          </p:cNvSpPr>
          <p:nvPr/>
        </p:nvSpPr>
        <p:spPr>
          <a:xfrm xmlns:a="http://schemas.openxmlformats.org/drawingml/2006/main">
            <a:off x="571500" y="3095625"/>
            <a:ext cx="5334000"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EAA72D2-AEC4-471B-95DC-2B10FCC7CC1F}"/>
              </a:ext>
            </a:extLst>
          </p:cNvPr>
          <p:cNvSpPr>
            <a:spLocks xmlns:a="http://schemas.openxmlformats.org/drawingml/2006/main" noGrp="1"/>
          </p:cNvSpPr>
          <p:nvPr/>
        </p:nvSpPr>
        <p:spPr>
          <a:xfrm xmlns:a="http://schemas.openxmlformats.org/drawingml/2006/main">
            <a:off x="57150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11E230-4035-43AC-A827-00AE169E6F83}"/>
              </a:ext>
            </a:extLst>
          </p:cNvPr>
          <p:cNvSpPr>
            <a:spLocks xmlns:a="http://schemas.openxmlformats.org/drawingml/2006/main" noGrp="1"/>
          </p:cNvSpPr>
          <p:nvPr/>
        </p:nvSpPr>
        <p:spPr>
          <a:xfrm xmlns:a="http://schemas.openxmlformats.org/drawingml/2006/main">
            <a:off x="781050" y="3286125"/>
            <a:ext cx="4914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Review now</a:t>
            </a:r>
          </a:p>
        </p:txBody>
      </p:sp>
      <p:sp>
        <p:nvSpPr>
          <p:cNvPr id="10" name="">
            <a:extLst xmlns:a="http://schemas.openxmlformats.org/drawingml/2006/main">
              <a:ext uri="{FF2B5EF4-FFF2-40B4-BE49-F238E27FC236}">
                <a16:creationId xmlns:a16="http://schemas.microsoft.com/office/drawing/2014/main" id="{19E24383-A5F6-4E03-B5EA-C8524C1A065D}"/>
              </a:ext>
            </a:extLst>
          </p:cNvPr>
          <p:cNvSpPr>
            <a:spLocks xmlns:a="http://schemas.openxmlformats.org/drawingml/2006/main" noGrp="1"/>
          </p:cNvSpPr>
          <p:nvPr/>
        </p:nvSpPr>
        <p:spPr>
          <a:xfrm xmlns:a="http://schemas.openxmlformats.org/drawingml/2006/main">
            <a:off x="781050" y="3857625"/>
            <a:ext cx="49149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Editable presentation and technical report</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Source, rules, tests and frozen evidence</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Synthetic feedback and risk card</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Approved video and source hashes</a:t>
            </a:r>
          </a:p>
        </p:txBody>
      </p:sp>
      <p:sp>
        <p:nvSpPr>
          <p:cNvPr id="11" name="">
            <a:extLst xmlns:a="http://schemas.openxmlformats.org/drawingml/2006/main">
              <a:ext uri="{FF2B5EF4-FFF2-40B4-BE49-F238E27FC236}">
                <a16:creationId xmlns:a16="http://schemas.microsoft.com/office/drawing/2014/main" id="{8F75FDA4-713B-4292-B59A-EBDBF3DEE6E1}"/>
              </a:ext>
            </a:extLst>
          </p:cNvPr>
          <p:cNvSpPr>
            <a:spLocks xmlns:a="http://schemas.openxmlformats.org/drawingml/2006/main" noGrp="1"/>
          </p:cNvSpPr>
          <p:nvPr/>
        </p:nvSpPr>
        <p:spPr>
          <a:xfrm xmlns:a="http://schemas.openxmlformats.org/drawingml/2006/main">
            <a:off x="6172200" y="3095625"/>
            <a:ext cx="5448300" cy="2647950"/>
          </a:xfrm>
          <a:prstGeom xmlns:a="http://schemas.openxmlformats.org/drawingml/2006/main" prst="rect">
            <a:avLst/>
          </a:prstGeom>
          <a:solidFill xmlns:a="http://schemas.openxmlformats.org/drawingml/2006/main">
            <a:srgbClr val="F1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5775C0-7651-4226-A905-4F0D5D30E855}"/>
              </a:ext>
            </a:extLst>
          </p:cNvPr>
          <p:cNvSpPr>
            <a:spLocks xmlns:a="http://schemas.openxmlformats.org/drawingml/2006/main" noGrp="1"/>
          </p:cNvSpPr>
          <p:nvPr/>
        </p:nvSpPr>
        <p:spPr>
          <a:xfrm xmlns:a="http://schemas.openxmlformats.org/drawingml/2006/main">
            <a:off x="6172200" y="3095625"/>
            <a:ext cx="38100" cy="2647950"/>
          </a:xfrm>
          <a:prstGeom xmlns:a="http://schemas.openxmlformats.org/drawingml/2006/main" prst="rect">
            <a:avLst/>
          </a:prstGeom>
          <a:solidFill xmlns:a="http://schemas.openxmlformats.org/drawingml/2006/main">
            <a:srgbClr val="007B7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D213106-AE46-41FF-ACEE-0DE97AABD7FE}"/>
              </a:ext>
            </a:extLst>
          </p:cNvPr>
          <p:cNvSpPr>
            <a:spLocks xmlns:a="http://schemas.openxmlformats.org/drawingml/2006/main" noGrp="1"/>
          </p:cNvSpPr>
          <p:nvPr/>
        </p:nvSpPr>
        <p:spPr>
          <a:xfrm xmlns:a="http://schemas.openxmlformats.org/drawingml/2006/main">
            <a:off x="6381750" y="3286125"/>
            <a:ext cx="5029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B73"/>
                </a:solidFill>
                <a:latin typeface="Arial"/>
                <a:ea typeface="Arial"/>
                <a:cs typeface="Arial"/>
              </a:defRPr>
            </a:defPPr>
            <a:lvl1pPr>
              <a:buNone/>
              <a:defRPr sz="1950" b="1">
                <a:solidFill>
                  <a:srgbClr val="007B73"/>
                </a:solidFill>
                <a:latin typeface="Arial"/>
                <a:ea typeface="Arial"/>
                <a:cs typeface="Arial"/>
              </a:defRPr>
            </a:lvl1pPr>
            <a:lvl2pPr>
              <a:buNone/>
              <a:defRPr sz="1950" b="1">
                <a:solidFill>
                  <a:srgbClr val="007B73"/>
                </a:solidFill>
                <a:latin typeface="Arial"/>
                <a:ea typeface="Arial"/>
                <a:cs typeface="Arial"/>
              </a:defRPr>
            </a:lvl2pPr>
            <a:lvl3pPr>
              <a:buNone/>
              <a:defRPr sz="1950" b="1">
                <a:solidFill>
                  <a:srgbClr val="007B73"/>
                </a:solidFill>
                <a:latin typeface="Arial"/>
                <a:ea typeface="Arial"/>
                <a:cs typeface="Arial"/>
              </a:defRPr>
            </a:lvl3pPr>
            <a:lvl4pPr>
              <a:buNone/>
              <a:defRPr sz="1950" b="1">
                <a:solidFill>
                  <a:srgbClr val="007B73"/>
                </a:solidFill>
                <a:latin typeface="Arial"/>
                <a:ea typeface="Arial"/>
                <a:cs typeface="Arial"/>
              </a:defRPr>
            </a:lvl4pPr>
            <a:lvl5pPr>
              <a:buNone/>
              <a:defRPr sz="1950" b="1">
                <a:solidFill>
                  <a:srgbClr val="007B73"/>
                </a:solidFill>
                <a:latin typeface="Arial"/>
                <a:ea typeface="Arial"/>
                <a:cs typeface="Arial"/>
              </a:defRPr>
            </a:lvl5pPr>
            <a:lvl6pPr>
              <a:buNone/>
              <a:defRPr sz="1950" b="1">
                <a:solidFill>
                  <a:srgbClr val="007B73"/>
                </a:solidFill>
                <a:latin typeface="Arial"/>
                <a:ea typeface="Arial"/>
                <a:cs typeface="Arial"/>
              </a:defRPr>
            </a:lvl6pPr>
            <a:lvl7pPr>
              <a:buNone/>
              <a:defRPr sz="1950" b="1">
                <a:solidFill>
                  <a:srgbClr val="007B73"/>
                </a:solidFill>
                <a:latin typeface="Arial"/>
                <a:ea typeface="Arial"/>
                <a:cs typeface="Arial"/>
              </a:defRPr>
            </a:lvl7pPr>
            <a:lvl8pPr>
              <a:buNone/>
              <a:defRPr sz="1950" b="1">
                <a:solidFill>
                  <a:srgbClr val="007B73"/>
                </a:solidFill>
                <a:latin typeface="Arial"/>
                <a:ea typeface="Arial"/>
                <a:cs typeface="Arial"/>
              </a:defRPr>
            </a:lvl8pPr>
            <a:lvl9pPr>
              <a:buNone/>
              <a:defRPr sz="1950" b="1">
                <a:solidFill>
                  <a:srgbClr val="007B73"/>
                </a:solidFill>
                <a:latin typeface="Arial"/>
                <a:ea typeface="Arial"/>
                <a:cs typeface="Arial"/>
              </a:defRPr>
            </a:lvl9pPr>
          </a:lstStyle>
          <a:p xmlns:a="http://schemas.openxmlformats.org/drawingml/2006/main">
            <a:pPr>
              <a:buNone/>
              <a:defRPr sz="1950" b="1">
                <a:solidFill>
                  <a:srgbClr val="007B73"/>
                </a:solidFill>
                <a:latin typeface="Arial"/>
                <a:ea typeface="Arial"/>
                <a:cs typeface="Arial"/>
              </a:defRPr>
            </a:pPr>
            <a:r>
              <a:rPr sz="1950" b="1">
                <a:solidFill>
                  <a:srgbClr val="007B73"/>
                </a:solidFill>
                <a:latin typeface="Arial"/>
                <a:ea typeface="Arial"/>
                <a:cs typeface="Arial"/>
              </a:rPr>
              <a:t>Before submission</a:t>
            </a:r>
          </a:p>
        </p:txBody>
      </p:sp>
      <p:sp>
        <p:nvSpPr>
          <p:cNvPr id="14" name="">
            <a:extLst xmlns:a="http://schemas.openxmlformats.org/drawingml/2006/main">
              <a:ext uri="{FF2B5EF4-FFF2-40B4-BE49-F238E27FC236}">
                <a16:creationId xmlns:a16="http://schemas.microsoft.com/office/drawing/2014/main" id="{FE075207-98B3-451C-A43E-595284294CEF}"/>
              </a:ext>
            </a:extLst>
          </p:cNvPr>
          <p:cNvSpPr>
            <a:spLocks xmlns:a="http://schemas.openxmlformats.org/drawingml/2006/main" noGrp="1"/>
          </p:cNvSpPr>
          <p:nvPr/>
        </p:nvSpPr>
        <p:spPr>
          <a:xfrm xmlns:a="http://schemas.openxmlformats.org/drawingml/2006/main">
            <a:off x="6381750" y="3857625"/>
            <a:ext cx="50292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0171B"/>
                </a:solidFill>
                <a:latin typeface="Arial"/>
                <a:ea typeface="Arial"/>
                <a:cs typeface="Arial"/>
              </a:defRPr>
            </a:defPPr>
            <a:lvl1pPr>
              <a:buNone/>
              <a:defRPr sz="1650" b="0">
                <a:solidFill>
                  <a:srgbClr val="10171B"/>
                </a:solidFill>
                <a:latin typeface="Arial"/>
                <a:ea typeface="Arial"/>
                <a:cs typeface="Arial"/>
              </a:defRPr>
            </a:lvl1pPr>
            <a:lvl2pPr>
              <a:buNone/>
              <a:defRPr sz="1650" b="0">
                <a:solidFill>
                  <a:srgbClr val="10171B"/>
                </a:solidFill>
                <a:latin typeface="Arial"/>
                <a:ea typeface="Arial"/>
                <a:cs typeface="Arial"/>
              </a:defRPr>
            </a:lvl2pPr>
            <a:lvl3pPr>
              <a:buNone/>
              <a:defRPr sz="1650" b="0">
                <a:solidFill>
                  <a:srgbClr val="10171B"/>
                </a:solidFill>
                <a:latin typeface="Arial"/>
                <a:ea typeface="Arial"/>
                <a:cs typeface="Arial"/>
              </a:defRPr>
            </a:lvl3pPr>
            <a:lvl4pPr>
              <a:buNone/>
              <a:defRPr sz="1650" b="0">
                <a:solidFill>
                  <a:srgbClr val="10171B"/>
                </a:solidFill>
                <a:latin typeface="Arial"/>
                <a:ea typeface="Arial"/>
                <a:cs typeface="Arial"/>
              </a:defRPr>
            </a:lvl4pPr>
            <a:lvl5pPr>
              <a:buNone/>
              <a:defRPr sz="1650" b="0">
                <a:solidFill>
                  <a:srgbClr val="10171B"/>
                </a:solidFill>
                <a:latin typeface="Arial"/>
                <a:ea typeface="Arial"/>
                <a:cs typeface="Arial"/>
              </a:defRPr>
            </a:lvl5pPr>
            <a:lvl6pPr>
              <a:buNone/>
              <a:defRPr sz="1650" b="0">
                <a:solidFill>
                  <a:srgbClr val="10171B"/>
                </a:solidFill>
                <a:latin typeface="Arial"/>
                <a:ea typeface="Arial"/>
                <a:cs typeface="Arial"/>
              </a:defRPr>
            </a:lvl6pPr>
            <a:lvl7pPr>
              <a:buNone/>
              <a:defRPr sz="1650" b="0">
                <a:solidFill>
                  <a:srgbClr val="10171B"/>
                </a:solidFill>
                <a:latin typeface="Arial"/>
                <a:ea typeface="Arial"/>
                <a:cs typeface="Arial"/>
              </a:defRPr>
            </a:lvl7pPr>
            <a:lvl8pPr>
              <a:buNone/>
              <a:defRPr sz="1650" b="0">
                <a:solidFill>
                  <a:srgbClr val="10171B"/>
                </a:solidFill>
                <a:latin typeface="Arial"/>
                <a:ea typeface="Arial"/>
                <a:cs typeface="Arial"/>
              </a:defRPr>
            </a:lvl8pPr>
            <a:lvl9pPr>
              <a:buNone/>
              <a:defRPr sz="1650" b="0">
                <a:solidFill>
                  <a:srgbClr val="10171B"/>
                </a:solidFill>
                <a:latin typeface="Arial"/>
                <a:ea typeface="Arial"/>
                <a:cs typeface="Arial"/>
              </a:defRPr>
            </a:lvl9pPr>
          </a:lstStyle>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Owner makes repository public</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Verify links and submit repository URL</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Rehearse; retain portal confirmation</a:t>
            </a:r>
          </a:p>
          <a:p xmlns:a="http://schemas.openxmlformats.org/drawingml/2006/main">
            <a:pPr>
              <a:buNone/>
              <a:defRPr sz="1650" b="0">
                <a:solidFill>
                  <a:srgbClr val="10171B"/>
                </a:solidFill>
                <a:latin typeface="Arial"/>
                <a:ea typeface="Arial"/>
                <a:cs typeface="Arial"/>
              </a:defRPr>
            </a:pPr>
            <a:r>
              <a:rPr sz="1650" b="0">
                <a:solidFill>
                  <a:srgbClr val="10171B"/>
                </a:solidFill>
                <a:latin typeface="Arial"/>
                <a:ea typeface="Arial"/>
                <a:cs typeface="Arial"/>
              </a:rPr>
              <a:t>Fresh judge install still unverified</a:t>
            </a:r>
          </a:p>
        </p:txBody>
      </p:sp>
    </p:spTree>
    <p:extLst>
      <p:ext uri="{BB962C8B-B14F-4D97-AF65-F5344CB8AC3E}">
        <p14:creationId xmlns:p14="http://schemas.microsoft.com/office/powerpoint/2010/main" val="162544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2026-10-24T06:44:01.2060000Z</dcterms:created>
  <dcterms:modified xsi:type="dcterms:W3CDTF">2026-10-24T06:44:01.2060000Z</dcterms:modified>
</coreProperties>
</file>