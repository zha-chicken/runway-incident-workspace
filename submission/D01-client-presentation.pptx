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69" r:id="rId6"/>
    <p:sldId id="258" r:id="rId7"/>
    <p:sldId id="259" r:id="rId8"/>
    <p:sldId id="260" r:id="rId9"/>
    <p:sldId id="261" r:id="rId10"/>
    <p:sldId id="262" r:id="rId11"/>
    <p:sldId id="263" r:id="rId12"/>
    <p:sldId id="264"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15f347-5c9f-f8ba-9d6d-83764c0a1b61}">
          <p14:sldIdLst>
            <p14:sldId id="256"/>
          </p14:sldIdLst>
        </p14:section>
        <p14:section name="Problem and product" id="{d69aea75-b73e-0ee7-c04f-32c1d7e7f3c7}">
          <p14:sldIdLst>
            <p14:sldId id="257"/>
            <p14:sldId id="269"/>
            <p14:sldId id="258"/>
            <p14:sldId id="259"/>
          </p14:sldIdLst>
        </p14:section>
        <p14:section name="Evidence" id="{9ab7c159-de1e-78d0-04b0-69e7d10d96f6}">
          <p14:sldIdLst>
            <p14:sldId id="260"/>
            <p14:sldId id="261"/>
            <p14:sldId id="262"/>
          </p14:sldIdLst>
        </p14:section>
        <p14:section name="Boundaries and delivery" id="{be2b3e9b-ea0a-70c3-d8b6-4934cf7ac593}">
          <p14:sldIdLst>
            <p14:sldId id="263"/>
            <p14:sldId id="26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AeroContext helps a fictional airline review incidents. It puts evidence, a proposed assessment, draft messages and reviewer decisions in one inspectable record. This is a simulation prototype, not an operational decision-maker. Today we show the implemented workflow, recorded results and known limits.
Sources: D02; Track 3 Problem Statement, pp.1–2; application code 27f5ec9; evaluations retain their original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supplied brief asks the team to compare normal operations with new disruptions and explain what is fact, assumption or unknown. The three audiences need different information. A weather warning does not establish a flight delay; an operational suggestion does not establish authority to act.
Sources: Organizer Track 3 Problem Statement; workbook RULE001, RULE002, RULE005, RULE007.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add an incident and attributed reports, review the assessment and citations, then decide on recommendations. Pending is explicit. Outcomes can be entered later without deleting earlier detail. After decisions are complete, the app offers reassessment or editing. Failed generation preserves the prior valid assessment.
Sources: D02; D04; evidence/browser; D05 synthetic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uses structured metadata and the same time-comparison logic exposed to the model. Historical shortfall triggers review, not a causal claim or current high risk by itself. The model provides explanations and drafts. Structural checks and one repair reduce certain errors, but valid JSON and real citations do not prove semantic support.
Sources: D04; src/domain/policy.ts; src/domain/report-period.ts; src/ai/service.ts; src/domain/output-checks.ts.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a real recorded model call, not a fabricated screen. Both reports are inside the window. Their separate origins, signal types and expansion support high risk. The accepted reply proposes referral, verification, monitoring and drafts; it does not establish a flight delay. The full inputs, outputs and review notes are included. This is now a disclosed case, not a future holdout.
Sources: evidence/unseen/cases/UNSEEN02-en/definition.json, outputs.md and evaluation.json.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and repeated supplied tests each accepted all 32 model-backed steps, but quality review found four and three failures respectively. The rerun cost more and needed more repair. Unseen testing yielded 19 of 20 usable final replies, with three quality failures and one blocked numeric comparison. We separate application acceptance from content quality.
Sources: D03; evidence/supplied-original/summary.json; evidence/supplied-current/summary.json; evidence/unseen/summary.json.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includes fresh synthetic examples, as explicitly chosen for this project. There are accepted, modified, rejected and pending decisions, with later outcomes and revision history. The initial assessment saved, but reassessment failed twice: an uncited fact and then a fabricated source ID. We present that limitation rather than claiming a completed successful loop.
Sources: D05-synthetic-feedback.md/.csv/.json; evidence/feedback/reassessment-review.md.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benefit proposed is a traceable chain from evidence to human judgment. We have quality, reliability, latency and cost observations, but no measured time savings and no proof of superiority over a basic prompt. Important limitations remain: unsupported service commitments, historical interpretation errors and validator false positives.
Sources: D03; D06; project TODO user decisions on 24 October 2026; evidence/supplied-current/verification.json.
Release verification: 27f5ec9 passed 351 tests, TypeScript and Webpack. Its default build hit an environment worker-port restriction; the earlier default-build pass belongs to 8ad14e3. Frozen model results are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connects every required submission item to an artifact. The owner-approved video, quota settings and acknowledgements are included. The owner will change visibility to public, verify signed-out access and submit the repository link. Fresh judge-machine real inference, persistence/export and Docker remain unverified. No new model call was made for publication. Codex and Claude assisted development and documentation; Claude created the approved video. D05 records are synthetic.
Sources: submission/README.md; D07; D08; ACKNOWLEDGEMENTS.md; publication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 Title (dark)">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548640" y="6382512"/>
            <a:ext cx="6400800" cy="237744"/>
          </a:xfrm>
          <a:prstGeom prst="rect">
            <a:avLst/>
          </a:prstGeom>
          <a:noFill/>
        </p:spPr>
        <p:txBody>
          <a:bodyPr wrap="square" lIns="0" tIns="0" rIns="0" bIns="0" rtlCol="0" anchor="ctr"/>
          <a:lstStyle/>
          <a:p>
            <a:pPr marL="0" indent="0">
              <a:buNone/>
            </a:pPr>
            <a:r>
              <a:rPr lang="en-US" sz="900" dirty="0">
                <a:solidFill>
                  <a:srgbClr val="A3ADBA"/>
                </a:solidFill>
              </a:rPr>
              <a:t>AeroContext  /  Track 3  /  Simulation  /  24 Oct 2026</a:t>
            </a:r>
            <a:endParaRPr lang="en-US" sz="900" dirty="0"/>
          </a:p>
        </p:txBody>
      </p:sp>
      <p:sp>
        <p:nvSpPr>
          <p:cNvPr id="3" name="Text 1"/>
          <p:cNvSpPr/>
          <p:nvPr>
            <p:ph type="title" idx="101" hasCustomPrompt="1"/>
          </p:nvPr>
        </p:nvSpPr>
        <p:spPr>
          <a:xfrm>
            <a:off x="548640" y="1207008"/>
            <a:ext cx="8778240" cy="1463040"/>
          </a:xfrm>
          <a:prstGeom prst="rect">
            <a:avLst/>
          </a:prstGeom>
          <a:noFill/>
        </p:spPr>
        <p:txBody>
          <a:bodyPr wrap="square" lIns="0" tIns="0" rIns="0" bIns="0" rtlCol="0" anchor="t"/>
          <a:lstStyle>
            <a:lvl1pPr marL="0" indent="0" algn="l">
              <a:lnSpc>
                <a:spcPct val="95000"/>
              </a:lnSpc>
              <a:buNone/>
              <a:defRPr lang="en-US" sz="4400" b="1" dirty="0">
                <a:solidFill>
                  <a:schemeClr val="bg1"/>
                </a:solidFill>
              </a:defRPr>
            </a:lvl1pPr>
          </a:lstStyle>
          <a:p>
            <a:pPr marL="0" indent="0" algn="l">
              <a:lnSpc>
                <a:spcPct val="95000"/>
              </a:lnSpc>
              <a:buNone/>
            </a:pPr>
            <a:endParaRPr lang="en-US" sz="4400" dirty="0"/>
          </a:p>
        </p:txBody>
      </p:sp>
      <p:sp>
        <p:nvSpPr>
          <p:cNvPr id="4" name="Text 1"/>
          <p:cNvSpPr/>
          <p:nvPr>
            <p:ph type="body" idx="102" hasCustomPrompt="1"/>
          </p:nvPr>
        </p:nvSpPr>
        <p:spPr>
          <a:xfrm>
            <a:off x="548640" y="2788920"/>
            <a:ext cx="8778240" cy="411480"/>
          </a:xfrm>
          <a:prstGeom prst="rect">
            <a:avLst/>
          </a:prstGeom>
          <a:noFill/>
        </p:spPr>
        <p:txBody>
          <a:bodyPr wrap="square" lIns="0" tIns="0" rIns="0" bIns="0" rtlCol="0" anchor="t"/>
          <a:lstStyle>
            <a:lvl1pPr marL="0" indent="0" algn="l">
              <a:buNone/>
              <a:defRPr lang="en-US" sz="1800" dirty="0">
                <a:solidFill>
                  <a:srgbClr val="A3ADBA"/>
                </a:solidFill>
              </a:defRPr>
            </a:lvl1pPr>
          </a:lstStyle>
          <a:p>
            <a:pPr marL="0" indent="0" algn="l">
              <a:buNone/>
            </a:pPr>
            <a:endParaRPr lang="en-US" sz="1800" dirty="0"/>
          </a:p>
        </p:txBody>
      </p:sp>
      <p:sp>
        <p:nvSpPr>
          <p:cNvPr id="25"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A3ADBA"/>
                </a:solidFill>
              </a:defRPr>
            </a:lvl1pPr>
          </a:lstStyle>
          <a:p>
            <a:pPr algn="r"/>
            <a:fld id="{F7021451-1387-4CA6-816F-3879F97B5CBC}" type="slidenum">
              <a:rPr lang="en-US" b="1"/>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 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382512"/>
            <a:ext cx="6400800" cy="237744"/>
          </a:xfrm>
          <a:prstGeom prst="rect">
            <a:avLst/>
          </a:prstGeom>
          <a:noFill/>
        </p:spPr>
        <p:txBody>
          <a:bodyPr wrap="square" lIns="0" tIns="0" rIns="0" bIns="0" rtlCol="0" anchor="ctr"/>
          <a:lstStyle/>
          <a:p>
            <a:pPr marL="0" indent="0">
              <a:buNone/>
            </a:pPr>
            <a:r>
              <a:rPr lang="en-US" sz="900" dirty="0">
                <a:solidFill>
                  <a:srgbClr val="5B6573"/>
                </a:solidFill>
              </a:rPr>
              <a:t>AeroContext  /  Track 3  /  Simulation  /  24 Oct 2026</a:t>
            </a:r>
            <a:endParaRPr lang="en-US" sz="900" dirty="0"/>
          </a:p>
        </p:txBody>
      </p:sp>
      <p:sp>
        <p:nvSpPr>
          <p:cNvPr id="3" name="Text 1"/>
          <p:cNvSpPr/>
          <p:nvPr>
            <p:ph type="body" idx="101" hasCustomPrompt="1"/>
          </p:nvPr>
        </p:nvSpPr>
        <p:spPr>
          <a:xfrm>
            <a:off x="786384" y="384048"/>
            <a:ext cx="8778240" cy="292608"/>
          </a:xfrm>
          <a:prstGeom prst="rect">
            <a:avLst/>
          </a:prstGeom>
          <a:noFill/>
        </p:spPr>
        <p:txBody>
          <a:bodyPr wrap="square" lIns="0" tIns="0" rIns="0" bIns="0" rtlCol="0" anchor="t"/>
          <a:lstStyle>
            <a:lvl1pPr marL="0" indent="0" algn="l">
              <a:buNone/>
              <a:defRPr lang="en-US" sz="1100" b="1" kern="0" spc="150" dirty="0">
                <a:solidFill>
                  <a:schemeClr val="accent1"/>
                </a:solidFill>
              </a:defRPr>
            </a:lvl1pPr>
          </a:lstStyle>
          <a:p>
            <a:pPr marL="0" indent="0" algn="l">
              <a:buNone/>
            </a:pPr>
            <a:endParaRPr lang="en-US" sz="1100" dirty="0"/>
          </a:p>
        </p:txBody>
      </p:sp>
      <p:sp>
        <p:nvSpPr>
          <p:cNvPr id="4" name="Text 1"/>
          <p:cNvSpPr/>
          <p:nvPr>
            <p:ph type="title" idx="102" hasCustomPrompt="1"/>
          </p:nvPr>
        </p:nvSpPr>
        <p:spPr>
          <a:xfrm>
            <a:off x="548640" y="768096"/>
            <a:ext cx="11091672" cy="1051560"/>
          </a:xfrm>
          <a:prstGeom prst="rect">
            <a:avLst/>
          </a:prstGeom>
          <a:noFill/>
        </p:spPr>
        <p:txBody>
          <a:bodyPr wrap="square" lIns="0" tIns="0" rIns="0" bIns="0" rtlCol="0" anchor="t"/>
          <a:lstStyle>
            <a:lvl1pPr marL="0" indent="0" algn="l">
              <a:lnSpc>
                <a:spcPct val="95000"/>
              </a:lnSpc>
              <a:buNone/>
              <a:defRPr lang="en-US" sz="3000" b="1" dirty="0">
                <a:solidFill>
                  <a:schemeClr val="tx1"/>
                </a:solidFill>
              </a:defRPr>
            </a:lvl1pPr>
          </a:lstStyle>
          <a:p>
            <a:pPr marL="0" indent="0" algn="l">
              <a:lnSpc>
                <a:spcPct val="95000"/>
              </a:lnSpc>
              <a:buNone/>
            </a:pPr>
            <a:endParaRPr lang="en-US" sz="3000" dirty="0"/>
          </a:p>
        </p:txBody>
      </p:sp>
      <p:sp>
        <p:nvSpPr>
          <p:cNvPr id="25"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A3ADBA"/>
                </a:solidFill>
              </a:defRPr>
            </a:lvl1pPr>
          </a:lstStyle>
          <a:p>
            <a:pPr algn="r"/>
            <a:fld id="{F7021451-1387-4CA6-816F-3879F97B5CBC}" type="slidenum">
              <a:rPr lang="en-US" b="1"/>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l"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2.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3.xml"/><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slideLayout" Target="../slideLayouts/slideLayout3.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9" Type="http://schemas.openxmlformats.org/officeDocument/2006/relationships/image" Target="../media/image15.png"/><Relationship Id="rId8" Type="http://schemas.openxmlformats.org/officeDocument/2006/relationships/image" Target="../media/image14.png"/><Relationship Id="rId7" Type="http://schemas.openxmlformats.org/officeDocument/2006/relationships/image" Target="../media/image13.png"/><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1" Type="http://schemas.openxmlformats.org/officeDocument/2006/relationships/notesSlide" Target="../notesSlides/notesSlide3.xml"/><Relationship Id="rId10" Type="http://schemas.openxmlformats.org/officeDocument/2006/relationships/slideLayout" Target="../slideLayouts/slideLayout3.xml"/><Relationship Id="rId1" Type="http://schemas.openxmlformats.org/officeDocument/2006/relationships/image" Target="../media/image7.png"/></Relationships>
</file>

<file path=ppt/slides/_rels/slide5.xml.rels><?xml version="1.0" encoding="UTF-8" standalone="yes"?>
<Relationships xmlns="http://schemas.openxmlformats.org/package/2006/relationships"><Relationship Id="rId9" Type="http://schemas.openxmlformats.org/officeDocument/2006/relationships/slideLayout" Target="../slideLayouts/slideLayout3.xml"/><Relationship Id="rId8" Type="http://schemas.openxmlformats.org/officeDocument/2006/relationships/image" Target="../media/image22.png"/><Relationship Id="rId7" Type="http://schemas.openxmlformats.org/officeDocument/2006/relationships/image" Target="../media/image21.png"/><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0" Type="http://schemas.openxmlformats.org/officeDocument/2006/relationships/notesSlide" Target="../notesSlides/notesSlide4.xml"/><Relationship Id="rId1" Type="http://schemas.openxmlformats.org/officeDocument/2006/relationships/image" Target="../media/image16.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5.xml"/><Relationship Id="rId7"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7" Type="http://schemas.openxmlformats.org/officeDocument/2006/relationships/notesSlide" Target="../notesSlides/notesSlide7.xml"/><Relationship Id="rId6" Type="http://schemas.openxmlformats.org/officeDocument/2006/relationships/slideLayout" Target="../slideLayouts/slideLayout3.xml"/><Relationship Id="rId5" Type="http://schemas.openxmlformats.org/officeDocument/2006/relationships/image" Target="../media/image33.png"/><Relationship Id="rId4" Type="http://schemas.openxmlformats.org/officeDocument/2006/relationships/image" Target="../media/image32.png"/><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image" Target="../media/image29.png"/></Relationships>
</file>

<file path=ppt/slides/_rels/slide9.xml.rels><?xml version="1.0" encoding="UTF-8" standalone="yes"?>
<Relationships xmlns="http://schemas.openxmlformats.org/package/2006/relationships"><Relationship Id="rId9" Type="http://schemas.openxmlformats.org/officeDocument/2006/relationships/notesSlide" Target="../notesSlides/notesSlide8.xml"/><Relationship Id="rId8" Type="http://schemas.openxmlformats.org/officeDocument/2006/relationships/slideLayout" Target="../slideLayouts/slideLayout3.xml"/><Relationship Id="rId7" Type="http://schemas.openxmlformats.org/officeDocument/2006/relationships/image" Target="../media/image38.png"/><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 Id="rId3"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image" Target="../media/image30.pn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9.xml"/><Relationship Id="rId7"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range rings" descr="preencoded.png"/>
          <p:cNvPicPr>
            <a:picLocks noChangeAspect="1"/>
          </p:cNvPicPr>
          <p:nvPr/>
        </p:nvPicPr>
        <p:blipFill>
          <a:blip r:embed="rId1"/>
          <a:stretch>
            <a:fillRect/>
          </a:stretch>
        </p:blipFill>
        <p:spPr>
          <a:xfrm>
            <a:off x="6793992" y="0"/>
            <a:ext cx="5394960" cy="6858000"/>
          </a:xfrm>
          <a:prstGeom prst="rect">
            <a:avLst/>
          </a:prstGeom>
        </p:spPr>
      </p:pic>
      <p:sp>
        <p:nvSpPr>
          <p:cNvPr id="3" name="kicker ring"/>
          <p:cNvSpPr/>
          <p:nvPr/>
        </p:nvSpPr>
        <p:spPr>
          <a:xfrm>
            <a:off x="548640" y="553212"/>
            <a:ext cx="137160" cy="137160"/>
          </a:xfrm>
          <a:prstGeom prst="ellipse">
            <a:avLst/>
          </a:prstGeom>
          <a:ln w="22225">
            <a:solidFill>
              <a:srgbClr val="FF5FB5"/>
            </a:solidFill>
            <a:prstDash val="solid"/>
          </a:ln>
        </p:spPr>
      </p:sp>
      <p:sp>
        <p:nvSpPr>
          <p:cNvPr id="4" name="kicker"/>
          <p:cNvSpPr txBox="1"/>
          <p:nvPr/>
        </p:nvSpPr>
        <p:spPr>
          <a:xfrm>
            <a:off x="786384" y="475488"/>
            <a:ext cx="5486400" cy="292608"/>
          </a:xfrm>
          <a:prstGeom prst="rect">
            <a:avLst/>
          </a:prstGeom>
          <a:noFill/>
        </p:spPr>
        <p:txBody>
          <a:bodyPr wrap="square" lIns="0" tIns="0" rIns="0" bIns="0" rtlCol="0" anchor="ctr"/>
          <a:lstStyle/>
          <a:p>
            <a:pPr marL="0" indent="0">
              <a:buNone/>
            </a:pPr>
            <a:r>
              <a:rPr lang="en-US" sz="1300" b="1" kern="0" spc="150" dirty="0">
                <a:solidFill>
                  <a:schemeClr val="bg1"/>
                </a:solidFill>
                <a:latin typeface="PingFang SC" panose="020B0400000000000000" pitchFamily="34" charset="-122"/>
                <a:ea typeface="PingFang SC" panose="020B0400000000000000" pitchFamily="34" charset="-122"/>
                <a:cs typeface="PingFang SC" panose="020B0400000000000000" pitchFamily="34" charset="-120"/>
              </a:rPr>
              <a:t>航衡</a:t>
            </a:r>
            <a:r>
              <a:rPr lang="en-US" sz="1300" b="1" kern="0" spc="150" dirty="0">
                <a:solidFill>
                  <a:schemeClr val="bg1"/>
                </a:solidFill>
              </a:rPr>
              <a:t>  ·  AEROCONTEXT</a:t>
            </a:r>
            <a:endParaRPr lang="en-US" sz="1300" dirty="0"/>
          </a:p>
        </p:txBody>
      </p:sp>
      <p:sp>
        <p:nvSpPr>
          <p:cNvPr id="5" name="event"/>
          <p:cNvSpPr txBox="1"/>
          <p:nvPr/>
        </p:nvSpPr>
        <p:spPr>
          <a:xfrm>
            <a:off x="7498080" y="475488"/>
            <a:ext cx="4142232" cy="292608"/>
          </a:xfrm>
          <a:prstGeom prst="rect">
            <a:avLst/>
          </a:prstGeom>
          <a:noFill/>
        </p:spPr>
        <p:txBody>
          <a:bodyPr wrap="square" lIns="0" tIns="0" rIns="0" bIns="0" rtlCol="0" anchor="ctr"/>
          <a:lstStyle/>
          <a:p>
            <a:pPr marL="0" indent="0" algn="r">
              <a:buNone/>
            </a:pPr>
            <a:r>
              <a:rPr lang="en-US" sz="1200" dirty="0">
                <a:solidFill>
                  <a:srgbClr val="A3ADBA"/>
                </a:solidFill>
              </a:rPr>
              <a:t>HackSHSID 2026  ·  Track 3</a:t>
            </a:r>
            <a:endParaRPr lang="en-US" sz="1200" dirty="0"/>
          </a:p>
        </p:txBody>
      </p:sp>
      <p:sp>
        <p:nvSpPr>
          <p:cNvPr id="6" name="Text 1"/>
          <p:cNvSpPr/>
          <p:nvPr>
            <p:ph type="title" idx="101" hasCustomPrompt="1"/>
          </p:nvPr>
        </p:nvSpPr>
        <p:spPr>
          <a:xfrm>
            <a:off x="548640" y="1207008"/>
            <a:ext cx="8778240" cy="1463040"/>
          </a:xfrm>
          <a:prstGeom prst="rect">
            <a:avLst/>
          </a:prstGeom>
          <a:noFill/>
        </p:spPr>
        <p:txBody>
          <a:bodyPr wrap="square" lIns="0" tIns="0" rIns="0" bIns="0" rtlCol="0" anchor="t"/>
          <a:lstStyle/>
          <a:p>
            <a:pPr marL="0" indent="0" algn="l">
              <a:lnSpc>
                <a:spcPct val="95000"/>
              </a:lnSpc>
              <a:buNone/>
            </a:pPr>
            <a:r>
              <a:rPr lang="en-US" sz="4400" b="1" dirty="0">
                <a:solidFill>
                  <a:schemeClr val="bg1"/>
                </a:solidFill>
              </a:rPr>
              <a:t>From incident reports</a:t>
            </a:r>
            <a:endParaRPr lang="en-US" sz="4400" dirty="0"/>
          </a:p>
          <a:p>
            <a:pPr marL="0" indent="0" algn="l">
              <a:lnSpc>
                <a:spcPct val="95000"/>
              </a:lnSpc>
              <a:buNone/>
            </a:pPr>
            <a:r>
              <a:rPr lang="en-US" sz="4400" b="1" dirty="0">
                <a:solidFill>
                  <a:schemeClr val="bg1"/>
                </a:solidFill>
              </a:rPr>
              <a:t>to decisions people can inspect</a:t>
            </a:r>
            <a:endParaRPr lang="en-US" sz="4400" dirty="0"/>
          </a:p>
        </p:txBody>
      </p:sp>
      <p:sp>
        <p:nvSpPr>
          <p:cNvPr id="7" name="Text 1"/>
          <p:cNvSpPr/>
          <p:nvPr>
            <p:ph type="body" idx="102" hasCustomPrompt="1"/>
          </p:nvPr>
        </p:nvSpPr>
        <p:spPr>
          <a:xfrm>
            <a:off x="548640" y="2788920"/>
            <a:ext cx="8778240" cy="411480"/>
          </a:xfrm>
          <a:prstGeom prst="rect">
            <a:avLst/>
          </a:prstGeom>
          <a:noFill/>
        </p:spPr>
        <p:txBody>
          <a:bodyPr wrap="square" lIns="0" tIns="0" rIns="0" bIns="0" rtlCol="0" anchor="t"/>
          <a:lstStyle/>
          <a:p>
            <a:pPr marL="0" indent="0" algn="l">
              <a:buNone/>
            </a:pPr>
            <a:r>
              <a:rPr lang="en-US" sz="1800" dirty="0">
                <a:solidFill>
                  <a:srgbClr val="A3ADBA"/>
                </a:solidFill>
              </a:rPr>
              <a:t>A bilingual workspace for evidence, draft communication and human review.</a:t>
            </a:r>
            <a:endParaRPr lang="en-US" sz="1800" dirty="0"/>
          </a:p>
        </p:txBody>
      </p:sp>
      <p:sp>
        <p:nvSpPr>
          <p:cNvPr id="8" name="b1 route"/>
          <p:cNvSpPr/>
          <p:nvPr/>
        </p:nvSpPr>
        <p:spPr>
          <a:xfrm>
            <a:off x="777240" y="4160520"/>
            <a:ext cx="6309360" cy="0"/>
          </a:xfrm>
          <a:prstGeom prst="line">
            <a:avLst/>
          </a:prstGeom>
          <a:noFill/>
          <a:ln w="28575">
            <a:solidFill>
              <a:srgbClr val="FF5FB5"/>
            </a:solidFill>
            <a:prstDash val="solid"/>
          </a:ln>
        </p:spPr>
      </p:sp>
      <p:sp>
        <p:nvSpPr>
          <p:cNvPr id="9" name="b2 node Evidence"/>
          <p:cNvSpPr/>
          <p:nvPr/>
        </p:nvSpPr>
        <p:spPr>
          <a:xfrm>
            <a:off x="658368" y="4041648"/>
            <a:ext cx="237744" cy="237744"/>
          </a:xfrm>
          <a:prstGeom prst="ellipse">
            <a:avLst/>
          </a:prstGeom>
          <a:solidFill>
            <a:srgbClr val="0D1117"/>
          </a:solidFill>
          <a:ln w="28575">
            <a:solidFill>
              <a:srgbClr val="FF5FB5"/>
            </a:solidFill>
            <a:prstDash val="solid"/>
          </a:ln>
        </p:spPr>
      </p:sp>
      <p:sp>
        <p:nvSpPr>
          <p:cNvPr id="10" name="b2 label Evidence"/>
          <p:cNvSpPr txBox="1"/>
          <p:nvPr/>
        </p:nvSpPr>
        <p:spPr>
          <a:xfrm>
            <a:off x="658368" y="3584448"/>
            <a:ext cx="2651760" cy="384048"/>
          </a:xfrm>
          <a:prstGeom prst="rect">
            <a:avLst/>
          </a:prstGeom>
          <a:noFill/>
        </p:spPr>
        <p:txBody>
          <a:bodyPr wrap="square" lIns="0" tIns="0" rIns="0" bIns="0" rtlCol="0" anchor="t"/>
          <a:lstStyle/>
          <a:p>
            <a:pPr marL="0" indent="0">
              <a:buNone/>
            </a:pPr>
            <a:r>
              <a:rPr lang="en-US" sz="2100" b="1" dirty="0">
                <a:solidFill>
                  <a:schemeClr val="bg1"/>
                </a:solidFill>
              </a:rPr>
              <a:t>Evidence</a:t>
            </a:r>
            <a:endParaRPr lang="en-US" sz="2100" dirty="0"/>
          </a:p>
        </p:txBody>
      </p:sp>
      <p:sp>
        <p:nvSpPr>
          <p:cNvPr id="11" name="b3 node Assessment"/>
          <p:cNvSpPr/>
          <p:nvPr/>
        </p:nvSpPr>
        <p:spPr>
          <a:xfrm>
            <a:off x="3493008" y="4041648"/>
            <a:ext cx="237744" cy="237744"/>
          </a:xfrm>
          <a:prstGeom prst="ellipse">
            <a:avLst/>
          </a:prstGeom>
          <a:solidFill>
            <a:srgbClr val="0D1117"/>
          </a:solidFill>
          <a:ln w="28575">
            <a:solidFill>
              <a:srgbClr val="FF5FB5"/>
            </a:solidFill>
            <a:prstDash val="solid"/>
          </a:ln>
        </p:spPr>
      </p:sp>
      <p:sp>
        <p:nvSpPr>
          <p:cNvPr id="12" name="b3 label Assessment"/>
          <p:cNvSpPr txBox="1"/>
          <p:nvPr/>
        </p:nvSpPr>
        <p:spPr>
          <a:xfrm>
            <a:off x="3493008" y="3584448"/>
            <a:ext cx="2651760" cy="384048"/>
          </a:xfrm>
          <a:prstGeom prst="rect">
            <a:avLst/>
          </a:prstGeom>
          <a:noFill/>
        </p:spPr>
        <p:txBody>
          <a:bodyPr wrap="square" lIns="0" tIns="0" rIns="0" bIns="0" rtlCol="0" anchor="t"/>
          <a:lstStyle/>
          <a:p>
            <a:pPr marL="0" indent="0">
              <a:buNone/>
            </a:pPr>
            <a:r>
              <a:rPr lang="en-US" sz="2100" b="1" dirty="0">
                <a:solidFill>
                  <a:schemeClr val="bg1"/>
                </a:solidFill>
              </a:rPr>
              <a:t>Assessment</a:t>
            </a:r>
            <a:endParaRPr lang="en-US" sz="2100" dirty="0"/>
          </a:p>
        </p:txBody>
      </p:sp>
      <p:sp>
        <p:nvSpPr>
          <p:cNvPr id="13" name="b4 node Review"/>
          <p:cNvSpPr/>
          <p:nvPr/>
        </p:nvSpPr>
        <p:spPr>
          <a:xfrm>
            <a:off x="6327648" y="4041648"/>
            <a:ext cx="237744" cy="237744"/>
          </a:xfrm>
          <a:prstGeom prst="ellipse">
            <a:avLst/>
          </a:prstGeom>
          <a:solidFill>
            <a:srgbClr val="0D1117"/>
          </a:solidFill>
          <a:ln w="28575">
            <a:solidFill>
              <a:srgbClr val="FF5FB5"/>
            </a:solidFill>
            <a:prstDash val="solid"/>
          </a:ln>
        </p:spPr>
      </p:sp>
      <p:sp>
        <p:nvSpPr>
          <p:cNvPr id="14" name="b4 label Review"/>
          <p:cNvSpPr txBox="1"/>
          <p:nvPr/>
        </p:nvSpPr>
        <p:spPr>
          <a:xfrm>
            <a:off x="6327648" y="3584448"/>
            <a:ext cx="2651760" cy="384048"/>
          </a:xfrm>
          <a:prstGeom prst="rect">
            <a:avLst/>
          </a:prstGeom>
          <a:noFill/>
        </p:spPr>
        <p:txBody>
          <a:bodyPr wrap="square" lIns="0" tIns="0" rIns="0" bIns="0" rtlCol="0" anchor="t"/>
          <a:lstStyle/>
          <a:p>
            <a:pPr marL="0" indent="0">
              <a:buNone/>
            </a:pPr>
            <a:r>
              <a:rPr lang="en-US" sz="2100" b="1" dirty="0">
                <a:solidFill>
                  <a:schemeClr val="bg1"/>
                </a:solidFill>
              </a:rPr>
              <a:t>Review</a:t>
            </a:r>
            <a:endParaRPr lang="en-US" sz="2100" dirty="0"/>
          </a:p>
        </p:txBody>
      </p:sp>
      <p:pic>
        <p:nvPicPr>
          <p:cNvPr id="15" name="b4 plane" descr="preencoded.png"/>
          <p:cNvPicPr>
            <a:picLocks noChangeAspect="1"/>
          </p:cNvPicPr>
          <p:nvPr/>
        </p:nvPicPr>
        <p:blipFill>
          <a:blip r:embed="rId2"/>
          <a:stretch>
            <a:fillRect/>
          </a:stretch>
        </p:blipFill>
        <p:spPr>
          <a:xfrm rot="2700000">
            <a:off x="7114032" y="3941064"/>
            <a:ext cx="438912" cy="438912"/>
          </a:xfrm>
          <a:prstGeom prst="rect">
            <a:avLst/>
          </a:prstGeom>
        </p:spPr>
      </p:pic>
      <p:sp>
        <p:nvSpPr>
          <p:cNvPr id="16" name="b5 promise"/>
          <p:cNvSpPr txBox="1"/>
          <p:nvPr/>
        </p:nvSpPr>
        <p:spPr>
          <a:xfrm>
            <a:off x="548640" y="4553712"/>
            <a:ext cx="6949440" cy="685800"/>
          </a:xfrm>
          <a:prstGeom prst="rect">
            <a:avLst/>
          </a:prstGeom>
          <a:noFill/>
        </p:spPr>
        <p:txBody>
          <a:bodyPr wrap="square" lIns="0" tIns="0" rIns="0" bIns="0" rtlCol="0" anchor="t"/>
          <a:lstStyle/>
          <a:p>
            <a:pPr marL="0" indent="0">
              <a:lnSpc>
                <a:spcPct val="115000"/>
              </a:lnSpc>
              <a:buNone/>
            </a:pPr>
            <a:r>
              <a:rPr lang="en-US" sz="1600" dirty="0">
                <a:solidFill>
                  <a:srgbClr val="D5DBE3"/>
                </a:solidFill>
              </a:rPr>
              <a:t>Keep facts, uncertainty and responsibility visible.</a:t>
            </a:r>
            <a:endParaRPr lang="en-US" sz="1600" dirty="0"/>
          </a:p>
          <a:p>
            <a:pPr marL="0" indent="0">
              <a:lnSpc>
                <a:spcPct val="115000"/>
              </a:lnSpc>
              <a:buNone/>
            </a:pPr>
            <a:r>
              <a:rPr lang="en-US" sz="1600" dirty="0">
                <a:solidFill>
                  <a:srgbClr val="D5DBE3"/>
                </a:solidFill>
              </a:rPr>
              <a:t>No automatic operational execution.</a:t>
            </a:r>
            <a:endParaRPr lang="en-US" sz="1600" dirty="0"/>
          </a:p>
        </p:txBody>
      </p:sp>
      <p:sp>
        <p:nvSpPr>
          <p:cNvPr id="17" name="b6 version card"/>
          <p:cNvSpPr/>
          <p:nvPr/>
        </p:nvSpPr>
        <p:spPr>
          <a:xfrm>
            <a:off x="8165592" y="3246120"/>
            <a:ext cx="3474720" cy="2331720"/>
          </a:xfrm>
          <a:prstGeom prst="roundRect">
            <a:avLst>
              <a:gd name="adj" fmla="val 2353"/>
            </a:avLst>
          </a:prstGeom>
          <a:solidFill>
            <a:srgbClr val="151B23"/>
          </a:solidFill>
          <a:ln w="9525">
            <a:solidFill>
              <a:srgbClr val="2A3442"/>
            </a:solidFill>
            <a:prstDash val="solid"/>
          </a:ln>
        </p:spPr>
      </p:sp>
      <p:sp>
        <p:nvSpPr>
          <p:cNvPr id="18" name="b6 version label"/>
          <p:cNvSpPr txBox="1"/>
          <p:nvPr/>
        </p:nvSpPr>
        <p:spPr>
          <a:xfrm>
            <a:off x="8412480" y="3456432"/>
            <a:ext cx="3017520" cy="228600"/>
          </a:xfrm>
          <a:prstGeom prst="rect">
            <a:avLst/>
          </a:prstGeom>
          <a:noFill/>
        </p:spPr>
        <p:txBody>
          <a:bodyPr wrap="square" lIns="0" tIns="0" rIns="0" bIns="0" rtlCol="0" anchor="t"/>
          <a:lstStyle/>
          <a:p>
            <a:pPr marL="0" indent="0">
              <a:buNone/>
            </a:pPr>
            <a:r>
              <a:rPr lang="en-US" sz="950" b="1" kern="0" spc="150" dirty="0">
                <a:solidFill>
                  <a:srgbClr val="A3ADBA"/>
                </a:solidFill>
              </a:rPr>
              <a:t>APPLICATION CODE VERSION</a:t>
            </a:r>
            <a:endParaRPr lang="en-US" sz="950" dirty="0"/>
          </a:p>
        </p:txBody>
      </p:sp>
      <p:sp>
        <p:nvSpPr>
          <p:cNvPr id="19" name="b6 version hash"/>
          <p:cNvSpPr txBox="1"/>
          <p:nvPr/>
        </p:nvSpPr>
        <p:spPr>
          <a:xfrm>
            <a:off x="8412480" y="3712464"/>
            <a:ext cx="3017520" cy="548640"/>
          </a:xfrm>
          <a:prstGeom prst="rect">
            <a:avLst/>
          </a:prstGeom>
          <a:noFill/>
        </p:spPr>
        <p:txBody>
          <a:bodyPr wrap="square" lIns="0" tIns="0" rIns="0" bIns="0" rtlCol="0" anchor="t"/>
          <a:lstStyle/>
          <a:p>
            <a:pPr marL="0" indent="0">
              <a:buNone/>
            </a:pPr>
            <a:r>
              <a:rPr lang="en-US" sz="3200" b="1" dirty="0">
                <a:solidFill>
                  <a:schemeClr val="bg1"/>
                </a:solidFill>
                <a:latin typeface="Arial" panose="020B0604020202090204" pitchFamily="34" charset="0"/>
                <a:ea typeface="Arial" panose="020B0604020202090204" pitchFamily="34" charset="-122"/>
                <a:cs typeface="Arial" panose="020B0604020202090204" pitchFamily="34" charset="-120"/>
              </a:rPr>
              <a:t>27f5ec9</a:t>
            </a:r>
            <a:endParaRPr lang="en-US" sz="3200" dirty="0"/>
          </a:p>
        </p:txBody>
      </p:sp>
      <p:sp>
        <p:nvSpPr>
          <p:cNvPr id="20" name="b6 version note"/>
          <p:cNvSpPr txBox="1"/>
          <p:nvPr/>
        </p:nvSpPr>
        <p:spPr>
          <a:xfrm>
            <a:off x="8412480" y="4352544"/>
            <a:ext cx="3063240" cy="1143000"/>
          </a:xfrm>
          <a:prstGeom prst="rect">
            <a:avLst/>
          </a:prstGeom>
          <a:noFill/>
        </p:spPr>
        <p:txBody>
          <a:bodyPr wrap="square" lIns="0" tIns="0" rIns="0" bIns="0" rtlCol="0" anchor="t"/>
          <a:lstStyle/>
          <a:p>
            <a:pPr marL="0" indent="0">
              <a:lnSpc>
                <a:spcPct val="110000"/>
              </a:lnSpc>
              <a:buNone/>
            </a:pPr>
            <a:r>
              <a:rPr lang="en-US" sz="1100" dirty="0">
                <a:solidFill>
                  <a:srgbClr val="D5DBE3"/>
                </a:solidFill>
              </a:rPr>
              <a:t>Application code unchanged since 27f5ec9; later commits update documentation and submission materials.</a:t>
            </a:r>
            <a:endParaRPr lang="en-US" sz="1100" dirty="0"/>
          </a:p>
          <a:p>
            <a:pPr marL="0" indent="0">
              <a:lnSpc>
                <a:spcPct val="110000"/>
              </a:lnSpc>
              <a:spcBef>
                <a:spcPts val="500"/>
              </a:spcBef>
              <a:buNone/>
            </a:pPr>
            <a:r>
              <a:rPr lang="en-US" sz="1100" dirty="0">
                <a:solidFill>
                  <a:srgbClr val="D5DBE3"/>
                </a:solidFill>
              </a:rPr>
              <a:t>Recorded evaluations and video keep their original checkpoints.</a:t>
            </a:r>
            <a:endParaRPr lang="en-US" sz="1100" dirty="0"/>
          </a:p>
        </p:txBody>
      </p:sp>
      <p:pic>
        <p:nvPicPr>
          <p:cNvPr id="21" name="b7 owner icon" descr="preencoded.png"/>
          <p:cNvPicPr>
            <a:picLocks noChangeAspect="1"/>
          </p:cNvPicPr>
          <p:nvPr/>
        </p:nvPicPr>
        <p:blipFill>
          <a:blip r:embed="rId3"/>
          <a:stretch>
            <a:fillRect/>
          </a:stretch>
        </p:blipFill>
        <p:spPr>
          <a:xfrm>
            <a:off x="548640" y="5468112"/>
            <a:ext cx="237744" cy="237744"/>
          </a:xfrm>
          <a:prstGeom prst="rect">
            <a:avLst/>
          </a:prstGeom>
        </p:spPr>
      </p:pic>
      <p:sp>
        <p:nvSpPr>
          <p:cNvPr id="22" name="b7 owner"/>
          <p:cNvSpPr txBox="1"/>
          <p:nvPr/>
        </p:nvSpPr>
        <p:spPr>
          <a:xfrm>
            <a:off x="896112" y="5449824"/>
            <a:ext cx="6400800" cy="274320"/>
          </a:xfrm>
          <a:prstGeom prst="rect">
            <a:avLst/>
          </a:prstGeom>
          <a:noFill/>
        </p:spPr>
        <p:txBody>
          <a:bodyPr wrap="square" lIns="0" tIns="0" rIns="0" bIns="0" rtlCol="0" anchor="ctr"/>
          <a:lstStyle/>
          <a:p>
            <a:pPr marL="0" indent="0">
              <a:buNone/>
            </a:pPr>
            <a:r>
              <a:rPr lang="en-US" sz="1250" b="1" dirty="0">
                <a:solidFill>
                  <a:schemeClr val="bg1"/>
                </a:solidFill>
              </a:rPr>
              <a:t>Benjamin Jin, class 9(4)</a:t>
            </a:r>
            <a:r>
              <a:rPr lang="en-US" sz="1250" dirty="0">
                <a:solidFill>
                  <a:srgbClr val="A3ADBA"/>
                </a:solidFill>
              </a:rPr>
              <a:t>   ·   GitHub: zha-chicken</a:t>
            </a:r>
            <a:endParaRPr lang="en-US" sz="1250" dirty="0"/>
          </a:p>
        </p:txBody>
      </p:sp>
      <p:sp>
        <p:nvSpPr>
          <p:cNvPr id="23" name="b7 owner role"/>
          <p:cNvSpPr txBox="1"/>
          <p:nvPr/>
        </p:nvSpPr>
        <p:spPr>
          <a:xfrm>
            <a:off x="896112" y="5760720"/>
            <a:ext cx="6400800" cy="256032"/>
          </a:xfrm>
          <a:prstGeom prst="rect">
            <a:avLst/>
          </a:prstGeom>
          <a:noFill/>
        </p:spPr>
        <p:txBody>
          <a:bodyPr wrap="square" lIns="0" tIns="0" rIns="0" bIns="0" rtlCol="0" anchor="ctr"/>
          <a:lstStyle/>
          <a:p>
            <a:pPr marL="0" indent="0">
              <a:buNone/>
            </a:pPr>
            <a:r>
              <a:rPr lang="en-US" sz="1200" dirty="0">
                <a:solidFill>
                  <a:srgbClr val="D5DBE3"/>
                </a:solidFill>
              </a:rPr>
              <a:t>Project owner · designed the guided-workflow UI/UX and interaction logic</a:t>
            </a:r>
            <a:endParaRPr lang="en-US" sz="1200" dirty="0"/>
          </a:p>
        </p:txBody>
      </p:sp>
      <p:sp>
        <p:nvSpPr>
          <p:cNvPr id="25"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A3ADBA"/>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600"/>
                                        <p:tgtEl>
                                          <p:spTgt spid="8"/>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childTnLst>
                          </p:cTn>
                        </p:par>
                        <p:par>
                          <p:cTn id="15" fill="hold">
                            <p:stCondLst>
                              <p:cond delay="1500"/>
                            </p:stCondLst>
                            <p:childTnLst>
                              <p:par>
                                <p:cTn id="16" presetID="10" presetClass="entr" presetSubtype="0" fill="hold" grpId="0" nodeType="after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00"/>
                                        <p:tgtEl>
                                          <p:spTgt spid="12"/>
                                        </p:tgtEl>
                                      </p:cBhvr>
                                    </p:animEffect>
                                  </p:childTnLst>
                                </p:cTn>
                              </p:par>
                            </p:childTnLst>
                          </p:cTn>
                        </p:par>
                        <p:par>
                          <p:cTn id="22" fill="hold">
                            <p:stCondLst>
                              <p:cond delay="20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childTnLst>
                          </p:cTn>
                        </p:par>
                        <p:par>
                          <p:cTn id="32" fill="hold">
                            <p:stCondLst>
                              <p:cond delay="2500"/>
                            </p:stCondLst>
                            <p:childTnLst>
                              <p:par>
                                <p:cTn id="33" presetID="10" presetClass="entr" presetSubtype="0" fill="hold" grpId="0" nodeType="after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childTnLst>
                          </p:cTn>
                        </p:par>
                        <p:par>
                          <p:cTn id="36" fill="hold">
                            <p:stCondLst>
                              <p:cond delay="3000"/>
                            </p:stCondLst>
                            <p:childTnLst>
                              <p:par>
                                <p:cTn id="37" presetID="10" presetClass="entr" presetSubtype="0" fill="hold" grpId="0" nodeType="after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0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0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0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00"/>
                                        <p:tgtEl>
                                          <p:spTgt spid="20"/>
                                        </p:tgtEl>
                                      </p:cBhvr>
                                    </p:animEffect>
                                  </p:childTnLst>
                                </p:cTn>
                              </p:par>
                            </p:childTnLst>
                          </p:cTn>
                        </p:par>
                        <p:par>
                          <p:cTn id="49" fill="hold">
                            <p:stCondLst>
                              <p:cond delay="3500"/>
                            </p:stCondLst>
                            <p:childTnLst>
                              <p:par>
                                <p:cTn id="50" presetID="10" presetClass="entr" presetSubtype="0" fill="hold" grpId="0" nodeType="after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4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THE CLIENT PROBLEM</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A risk signal is not a confirmed flight outcome</a:t>
            </a:r>
            <a:endParaRPr lang="en-US" sz="3000" dirty="0"/>
          </a:p>
        </p:txBody>
      </p:sp>
      <p:sp>
        <p:nvSpPr>
          <p:cNvPr id="8" name="b1 panel"/>
          <p:cNvSpPr/>
          <p:nvPr/>
        </p:nvSpPr>
        <p:spPr>
          <a:xfrm>
            <a:off x="548640" y="1481328"/>
            <a:ext cx="4343400" cy="4553712"/>
          </a:xfrm>
          <a:prstGeom prst="roundRect">
            <a:avLst>
              <a:gd name="adj" fmla="val 1263"/>
            </a:avLst>
          </a:prstGeom>
          <a:solidFill>
            <a:srgbClr val="0D1117"/>
          </a:solidFill>
        </p:spPr>
      </p:sp>
      <p:sp>
        <p:nvSpPr>
          <p:cNvPr id="9" name="b1 eg"/>
          <p:cNvSpPr txBox="1"/>
          <p:nvPr/>
        </p:nvSpPr>
        <p:spPr>
          <a:xfrm>
            <a:off x="868680" y="1828800"/>
            <a:ext cx="2743200" cy="228600"/>
          </a:xfrm>
          <a:prstGeom prst="rect">
            <a:avLst/>
          </a:prstGeom>
          <a:noFill/>
        </p:spPr>
        <p:txBody>
          <a:bodyPr wrap="square" lIns="0" tIns="0" rIns="0" bIns="0" rtlCol="0" anchor="t"/>
          <a:lstStyle/>
          <a:p>
            <a:pPr marL="0" indent="0">
              <a:buNone/>
            </a:pPr>
            <a:r>
              <a:rPr lang="en-US" sz="950" b="1" kern="0" spc="150" dirty="0">
                <a:solidFill>
                  <a:srgbClr val="A3ADBA"/>
                </a:solidFill>
              </a:rPr>
              <a:t>FOR EXAMPLE</a:t>
            </a:r>
            <a:endParaRPr lang="en-US" sz="950" dirty="0"/>
          </a:p>
        </p:txBody>
      </p:sp>
      <p:sp>
        <p:nvSpPr>
          <p:cNvPr id="10" name="b1 pair 1"/>
          <p:cNvSpPr txBox="1"/>
          <p:nvPr/>
        </p:nvSpPr>
        <p:spPr>
          <a:xfrm>
            <a:off x="868680" y="2212848"/>
            <a:ext cx="3749040" cy="868680"/>
          </a:xfrm>
          <a:prstGeom prst="rect">
            <a:avLst/>
          </a:prstGeom>
          <a:noFill/>
        </p:spPr>
        <p:txBody>
          <a:bodyPr wrap="square" lIns="0" tIns="0" rIns="0" bIns="0" rtlCol="0" anchor="t"/>
          <a:lstStyle/>
          <a:p>
            <a:pPr marL="0" indent="0">
              <a:lnSpc>
                <a:spcPct val="105000"/>
              </a:lnSpc>
              <a:buNone/>
            </a:pPr>
            <a:r>
              <a:rPr lang="en-US" sz="2100" b="1" dirty="0">
                <a:solidFill>
                  <a:schemeClr val="bg1"/>
                </a:solidFill>
              </a:rPr>
              <a:t>A weather warning</a:t>
            </a:r>
            <a:endParaRPr lang="en-US" sz="2100" dirty="0"/>
          </a:p>
          <a:p>
            <a:pPr marL="0" indent="0">
              <a:lnSpc>
                <a:spcPct val="105000"/>
              </a:lnSpc>
              <a:buNone/>
            </a:pPr>
            <a:r>
              <a:rPr lang="en-US" sz="2100" b="1" dirty="0">
                <a:solidFill>
                  <a:srgbClr val="FF5FB5"/>
                </a:solidFill>
              </a:rPr>
              <a:t>≠ </a:t>
            </a:r>
            <a:r>
              <a:rPr lang="en-US" sz="2100" b="1" dirty="0">
                <a:solidFill>
                  <a:srgbClr val="D5DBE3"/>
                </a:solidFill>
              </a:rPr>
              <a:t>a flight delay</a:t>
            </a:r>
            <a:endParaRPr lang="en-US" sz="2100" dirty="0"/>
          </a:p>
        </p:txBody>
      </p:sp>
      <p:sp>
        <p:nvSpPr>
          <p:cNvPr id="11" name="b1 pair 2"/>
          <p:cNvSpPr txBox="1"/>
          <p:nvPr/>
        </p:nvSpPr>
        <p:spPr>
          <a:xfrm>
            <a:off x="868680" y="3291840"/>
            <a:ext cx="3749040" cy="868680"/>
          </a:xfrm>
          <a:prstGeom prst="rect">
            <a:avLst/>
          </a:prstGeom>
          <a:noFill/>
        </p:spPr>
        <p:txBody>
          <a:bodyPr wrap="square" lIns="0" tIns="0" rIns="0" bIns="0" rtlCol="0" anchor="t"/>
          <a:lstStyle/>
          <a:p>
            <a:pPr marL="0" indent="0">
              <a:lnSpc>
                <a:spcPct val="105000"/>
              </a:lnSpc>
              <a:buNone/>
            </a:pPr>
            <a:r>
              <a:rPr lang="en-US" sz="2100" b="1" dirty="0">
                <a:solidFill>
                  <a:schemeClr val="bg1"/>
                </a:solidFill>
              </a:rPr>
              <a:t>An operational suggestion</a:t>
            </a:r>
            <a:endParaRPr lang="en-US" sz="2100" dirty="0"/>
          </a:p>
          <a:p>
            <a:pPr marL="0" indent="0">
              <a:lnSpc>
                <a:spcPct val="105000"/>
              </a:lnSpc>
              <a:buNone/>
            </a:pPr>
            <a:r>
              <a:rPr lang="en-US" sz="2100" b="1" dirty="0">
                <a:solidFill>
                  <a:srgbClr val="FF5FB5"/>
                </a:solidFill>
              </a:rPr>
              <a:t>≠ </a:t>
            </a:r>
            <a:r>
              <a:rPr lang="en-US" sz="2100" b="1" dirty="0">
                <a:solidFill>
                  <a:srgbClr val="D5DBE3"/>
                </a:solidFill>
              </a:rPr>
              <a:t>authority to act</a:t>
            </a:r>
            <a:endParaRPr lang="en-US" sz="2100" dirty="0"/>
          </a:p>
        </p:txBody>
      </p:sp>
      <p:sp>
        <p:nvSpPr>
          <p:cNvPr id="12" name="b1 rule"/>
          <p:cNvSpPr/>
          <p:nvPr/>
        </p:nvSpPr>
        <p:spPr>
          <a:xfrm>
            <a:off x="868680" y="4846320"/>
            <a:ext cx="3657600" cy="0"/>
          </a:xfrm>
          <a:prstGeom prst="line">
            <a:avLst/>
          </a:prstGeom>
          <a:noFill/>
          <a:ln w="9525">
            <a:solidFill>
              <a:srgbClr val="2A3442"/>
            </a:solidFill>
            <a:prstDash val="solid"/>
          </a:ln>
        </p:spPr>
      </p:sp>
      <p:sp>
        <p:nvSpPr>
          <p:cNvPr id="13" name="b1 statement"/>
          <p:cNvSpPr txBox="1"/>
          <p:nvPr/>
        </p:nvSpPr>
        <p:spPr>
          <a:xfrm>
            <a:off x="868680" y="4553712"/>
            <a:ext cx="3703320" cy="1234440"/>
          </a:xfrm>
          <a:prstGeom prst="rect">
            <a:avLst/>
          </a:prstGeom>
          <a:noFill/>
        </p:spPr>
        <p:txBody>
          <a:bodyPr wrap="square" lIns="0" tIns="0" rIns="0" bIns="0" rtlCol="0" anchor="b"/>
          <a:lstStyle/>
          <a:p>
            <a:pPr marL="0" indent="0">
              <a:lnSpc>
                <a:spcPct val="115000"/>
              </a:lnSpc>
              <a:buNone/>
            </a:pPr>
            <a:r>
              <a:rPr lang="en-US" sz="1600" dirty="0">
                <a:solidFill>
                  <a:schemeClr val="bg1"/>
                </a:solidFill>
              </a:rPr>
              <a:t>Teams must interpret incomplete or conflicting reports without turning uncertainty into a promise.</a:t>
            </a:r>
            <a:endParaRPr lang="en-US" sz="1600" dirty="0"/>
          </a:p>
        </p:txBody>
      </p:sp>
      <p:sp>
        <p:nvSpPr>
          <p:cNvPr id="14" name="b2 row 1 card"/>
          <p:cNvSpPr/>
          <p:nvPr/>
        </p:nvSpPr>
        <p:spPr>
          <a:xfrm>
            <a:off x="5257800" y="1481328"/>
            <a:ext cx="6382512" cy="1389888"/>
          </a:xfrm>
          <a:prstGeom prst="roundRect">
            <a:avLst>
              <a:gd name="adj" fmla="val 3947"/>
            </a:avLst>
          </a:prstGeom>
          <a:solidFill>
            <a:srgbClr val="F1F3F5"/>
          </a:solidFill>
        </p:spPr>
      </p:sp>
      <p:sp>
        <p:nvSpPr>
          <p:cNvPr id="15" name="b2 row 1 disc"/>
          <p:cNvSpPr/>
          <p:nvPr/>
        </p:nvSpPr>
        <p:spPr>
          <a:xfrm>
            <a:off x="5532120" y="1865376"/>
            <a:ext cx="621792" cy="621792"/>
          </a:xfrm>
          <a:prstGeom prst="ellipse">
            <a:avLst/>
          </a:prstGeom>
          <a:solidFill>
            <a:srgbClr val="0D1117"/>
          </a:solidFill>
        </p:spPr>
      </p:sp>
      <p:pic>
        <p:nvPicPr>
          <p:cNvPr id="16" name="b2 row 1 icon" descr="preencoded.png"/>
          <p:cNvPicPr>
            <a:picLocks noChangeAspect="1"/>
          </p:cNvPicPr>
          <p:nvPr/>
        </p:nvPicPr>
        <p:blipFill>
          <a:blip r:embed="rId1"/>
          <a:stretch>
            <a:fillRect/>
          </a:stretch>
        </p:blipFill>
        <p:spPr>
          <a:xfrm>
            <a:off x="5668914" y="2002170"/>
            <a:ext cx="348204" cy="348204"/>
          </a:xfrm>
          <a:prstGeom prst="rect">
            <a:avLst/>
          </a:prstGeom>
        </p:spPr>
      </p:pic>
      <p:sp>
        <p:nvSpPr>
          <p:cNvPr id="17" name="b2 row 1 head"/>
          <p:cNvSpPr txBox="1"/>
          <p:nvPr/>
        </p:nvSpPr>
        <p:spPr>
          <a:xfrm>
            <a:off x="6446520" y="1728216"/>
            <a:ext cx="4937760" cy="347472"/>
          </a:xfrm>
          <a:prstGeom prst="rect">
            <a:avLst/>
          </a:prstGeom>
          <a:noFill/>
        </p:spPr>
        <p:txBody>
          <a:bodyPr wrap="square" lIns="0" tIns="0" rIns="0" bIns="0" rtlCol="0" anchor="t"/>
          <a:lstStyle/>
          <a:p>
            <a:pPr marL="0" indent="0">
              <a:buNone/>
            </a:pPr>
            <a:r>
              <a:rPr lang="en-US" sz="1800" b="1" dirty="0">
                <a:solidFill>
                  <a:schemeClr val="tx1"/>
                </a:solidFill>
              </a:rPr>
              <a:t>Fragmented evidence</a:t>
            </a:r>
            <a:endParaRPr lang="en-US" sz="1800" dirty="0"/>
          </a:p>
        </p:txBody>
      </p:sp>
      <p:sp>
        <p:nvSpPr>
          <p:cNvPr id="18" name="b2 row 1 body"/>
          <p:cNvSpPr txBox="1"/>
          <p:nvPr/>
        </p:nvSpPr>
        <p:spPr>
          <a:xfrm>
            <a:off x="6446520" y="2121408"/>
            <a:ext cx="4937760" cy="566928"/>
          </a:xfrm>
          <a:prstGeom prst="rect">
            <a:avLst/>
          </a:prstGeom>
          <a:noFill/>
        </p:spPr>
        <p:txBody>
          <a:bodyPr wrap="square" lIns="0" tIns="0" rIns="0" bIns="0" rtlCol="0" anchor="t"/>
          <a:lstStyle/>
          <a:p>
            <a:pPr marL="0" indent="0">
              <a:lnSpc>
                <a:spcPct val="110000"/>
              </a:lnSpc>
              <a:buNone/>
            </a:pPr>
            <a:r>
              <a:rPr lang="en-US" sz="1400" dirty="0">
                <a:solidFill>
                  <a:srgbClr val="262D36"/>
                </a:solidFill>
              </a:rPr>
              <a:t>Different report times, source reliability and historical comparisons.</a:t>
            </a:r>
            <a:endParaRPr lang="en-US" sz="1400" dirty="0"/>
          </a:p>
        </p:txBody>
      </p:sp>
      <p:sp>
        <p:nvSpPr>
          <p:cNvPr id="19" name="b3 row 2 card"/>
          <p:cNvSpPr/>
          <p:nvPr/>
        </p:nvSpPr>
        <p:spPr>
          <a:xfrm>
            <a:off x="5257800" y="3044952"/>
            <a:ext cx="6382512" cy="1389888"/>
          </a:xfrm>
          <a:prstGeom prst="roundRect">
            <a:avLst>
              <a:gd name="adj" fmla="val 3947"/>
            </a:avLst>
          </a:prstGeom>
          <a:solidFill>
            <a:srgbClr val="F1F3F5"/>
          </a:solidFill>
        </p:spPr>
      </p:sp>
      <p:sp>
        <p:nvSpPr>
          <p:cNvPr id="20" name="b3 row 2 disc"/>
          <p:cNvSpPr/>
          <p:nvPr/>
        </p:nvSpPr>
        <p:spPr>
          <a:xfrm>
            <a:off x="5532120" y="3429000"/>
            <a:ext cx="621792" cy="621792"/>
          </a:xfrm>
          <a:prstGeom prst="ellipse">
            <a:avLst/>
          </a:prstGeom>
          <a:solidFill>
            <a:srgbClr val="0D1117"/>
          </a:solidFill>
        </p:spPr>
      </p:sp>
      <p:pic>
        <p:nvPicPr>
          <p:cNvPr id="21" name="b3 row 2 icon" descr="preencoded.png"/>
          <p:cNvPicPr>
            <a:picLocks noChangeAspect="1"/>
          </p:cNvPicPr>
          <p:nvPr/>
        </p:nvPicPr>
        <p:blipFill>
          <a:blip r:embed="rId2"/>
          <a:stretch>
            <a:fillRect/>
          </a:stretch>
        </p:blipFill>
        <p:spPr>
          <a:xfrm>
            <a:off x="5668914" y="3565794"/>
            <a:ext cx="348204" cy="348204"/>
          </a:xfrm>
          <a:prstGeom prst="rect">
            <a:avLst/>
          </a:prstGeom>
        </p:spPr>
      </p:pic>
      <p:sp>
        <p:nvSpPr>
          <p:cNvPr id="22" name="b3 row 2 head"/>
          <p:cNvSpPr txBox="1"/>
          <p:nvPr/>
        </p:nvSpPr>
        <p:spPr>
          <a:xfrm>
            <a:off x="6446520" y="3291840"/>
            <a:ext cx="4937760" cy="347472"/>
          </a:xfrm>
          <a:prstGeom prst="rect">
            <a:avLst/>
          </a:prstGeom>
          <a:noFill/>
        </p:spPr>
        <p:txBody>
          <a:bodyPr wrap="square" lIns="0" tIns="0" rIns="0" bIns="0" rtlCol="0" anchor="t"/>
          <a:lstStyle/>
          <a:p>
            <a:pPr marL="0" indent="0">
              <a:buNone/>
            </a:pPr>
            <a:r>
              <a:rPr lang="en-US" sz="1800" b="1" dirty="0">
                <a:solidFill>
                  <a:schemeClr val="tx1"/>
                </a:solidFill>
              </a:rPr>
              <a:t>Different audiences</a:t>
            </a:r>
            <a:endParaRPr lang="en-US" sz="1800" dirty="0"/>
          </a:p>
        </p:txBody>
      </p:sp>
      <p:sp>
        <p:nvSpPr>
          <p:cNvPr id="23" name="b3 row 2 body"/>
          <p:cNvSpPr txBox="1"/>
          <p:nvPr/>
        </p:nvSpPr>
        <p:spPr>
          <a:xfrm>
            <a:off x="6446520" y="3685032"/>
            <a:ext cx="4937760" cy="566928"/>
          </a:xfrm>
          <a:prstGeom prst="rect">
            <a:avLst/>
          </a:prstGeom>
          <a:noFill/>
        </p:spPr>
        <p:txBody>
          <a:bodyPr wrap="square" lIns="0" tIns="0" rIns="0" bIns="0" rtlCol="0" anchor="t"/>
          <a:lstStyle/>
          <a:p>
            <a:pPr marL="0" indent="0">
              <a:lnSpc>
                <a:spcPct val="110000"/>
              </a:lnSpc>
              <a:buNone/>
            </a:pPr>
            <a:r>
              <a:rPr lang="en-US" sz="1400" dirty="0">
                <a:solidFill>
                  <a:srgbClr val="262D36"/>
                </a:solidFill>
              </a:rPr>
              <a:t>Operations, airport coordination and passengers need different drafts.</a:t>
            </a:r>
            <a:endParaRPr lang="en-US" sz="1400" dirty="0"/>
          </a:p>
        </p:txBody>
      </p:sp>
      <p:sp>
        <p:nvSpPr>
          <p:cNvPr id="24" name="b4 row 3 card"/>
          <p:cNvSpPr/>
          <p:nvPr/>
        </p:nvSpPr>
        <p:spPr>
          <a:xfrm>
            <a:off x="5257800" y="4608576"/>
            <a:ext cx="6382512" cy="1389888"/>
          </a:xfrm>
          <a:prstGeom prst="roundRect">
            <a:avLst>
              <a:gd name="adj" fmla="val 3947"/>
            </a:avLst>
          </a:prstGeom>
          <a:solidFill>
            <a:srgbClr val="F1F3F5"/>
          </a:solidFill>
        </p:spPr>
      </p:sp>
      <p:sp>
        <p:nvSpPr>
          <p:cNvPr id="25" name="b4 row 3 disc"/>
          <p:cNvSpPr/>
          <p:nvPr/>
        </p:nvSpPr>
        <p:spPr>
          <a:xfrm>
            <a:off x="5532120" y="4992624"/>
            <a:ext cx="621792" cy="621792"/>
          </a:xfrm>
          <a:prstGeom prst="ellipse">
            <a:avLst/>
          </a:prstGeom>
          <a:solidFill>
            <a:srgbClr val="0D1117"/>
          </a:solidFill>
        </p:spPr>
      </p:sp>
      <p:pic>
        <p:nvPicPr>
          <p:cNvPr id="26" name="b4 row 3 icon" descr="preencoded.png"/>
          <p:cNvPicPr>
            <a:picLocks noChangeAspect="1"/>
          </p:cNvPicPr>
          <p:nvPr/>
        </p:nvPicPr>
        <p:blipFill>
          <a:blip r:embed="rId3"/>
          <a:stretch>
            <a:fillRect/>
          </a:stretch>
        </p:blipFill>
        <p:spPr>
          <a:xfrm>
            <a:off x="5668914" y="5129418"/>
            <a:ext cx="348204" cy="348204"/>
          </a:xfrm>
          <a:prstGeom prst="rect">
            <a:avLst/>
          </a:prstGeom>
        </p:spPr>
      </p:pic>
      <p:sp>
        <p:nvSpPr>
          <p:cNvPr id="27" name="b4 row 3 head"/>
          <p:cNvSpPr txBox="1"/>
          <p:nvPr/>
        </p:nvSpPr>
        <p:spPr>
          <a:xfrm>
            <a:off x="6446520" y="4855464"/>
            <a:ext cx="4937760" cy="347472"/>
          </a:xfrm>
          <a:prstGeom prst="rect">
            <a:avLst/>
          </a:prstGeom>
          <a:noFill/>
        </p:spPr>
        <p:txBody>
          <a:bodyPr wrap="square" lIns="0" tIns="0" rIns="0" bIns="0" rtlCol="0" anchor="t"/>
          <a:lstStyle/>
          <a:p>
            <a:pPr marL="0" indent="0">
              <a:buNone/>
            </a:pPr>
            <a:r>
              <a:rPr lang="en-US" sz="1800" b="1" dirty="0">
                <a:solidFill>
                  <a:schemeClr val="tx1"/>
                </a:solidFill>
              </a:rPr>
              <a:t>Human responsibility</a:t>
            </a:r>
            <a:endParaRPr lang="en-US" sz="1800" dirty="0"/>
          </a:p>
        </p:txBody>
      </p:sp>
      <p:sp>
        <p:nvSpPr>
          <p:cNvPr id="28" name="b4 row 3 body"/>
          <p:cNvSpPr txBox="1"/>
          <p:nvPr/>
        </p:nvSpPr>
        <p:spPr>
          <a:xfrm>
            <a:off x="6446520" y="5248656"/>
            <a:ext cx="4937760" cy="566928"/>
          </a:xfrm>
          <a:prstGeom prst="rect">
            <a:avLst/>
          </a:prstGeom>
          <a:noFill/>
        </p:spPr>
        <p:txBody>
          <a:bodyPr wrap="square" lIns="0" tIns="0" rIns="0" bIns="0" rtlCol="0" anchor="t"/>
          <a:lstStyle/>
          <a:p>
            <a:pPr marL="0" indent="0">
              <a:lnSpc>
                <a:spcPct val="110000"/>
              </a:lnSpc>
              <a:buNone/>
            </a:pPr>
            <a:r>
              <a:rPr lang="en-US" sz="1400" dirty="0">
                <a:solidFill>
                  <a:srgbClr val="262D36"/>
                </a:solidFill>
              </a:rPr>
              <a:t>Safety, release, dispatch and publication decisions stay with authorized people.</a:t>
            </a:r>
            <a:endParaRPr lang="en-US" sz="140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40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4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4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0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40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400"/>
                                        <p:tgtEl>
                                          <p:spTgt spid="23"/>
                                        </p:tgtEl>
                                      </p:cBhvr>
                                    </p:animEffect>
                                  </p:childTnLst>
                                </p:cTn>
                              </p:par>
                            </p:childTnLst>
                          </p:cTn>
                        </p:par>
                        <p:par>
                          <p:cTn id="55" fill="hold">
                            <p:stCondLst>
                              <p:cond delay="1500"/>
                            </p:stCondLst>
                            <p:childTnLst>
                              <p:par>
                                <p:cTn id="56" presetID="10" presetClass="entr" presetSubtype="0" fill="hold" grpId="0" nodeType="after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0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00"/>
                                        <p:tgtEl>
                                          <p:spTgt spid="2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a:xfrm flipH="1">
            <a:off x="2232978" y="1947545"/>
            <a:ext cx="7726045" cy="763270"/>
          </a:xfrm>
        </p:spPr>
        <p:txBody>
          <a:bodyPr>
            <a:normAutofit fontScale="90000"/>
          </a:bodyPr>
          <a:lstStyle/>
          <a:p>
            <a:pPr algn="ctr"/>
            <a:r>
              <a:rPr lang="zh-CN" altLang="en-US"/>
              <a:t>“</a:t>
            </a:r>
            <a:r>
              <a:rPr lang="en-US" altLang="zh-CN"/>
              <a:t>I value UI/UX as much as analysis logic.</a:t>
            </a:r>
            <a:r>
              <a:rPr lang="zh-CN" altLang="en-US"/>
              <a:t>”</a:t>
            </a:r>
            <a:endParaRPr lang="zh-CN" altLang="en-US"/>
          </a:p>
        </p:txBody>
      </p:sp>
      <p:sp>
        <p:nvSpPr>
          <p:cNvPr id="57" name="文本框 56"/>
          <p:cNvSpPr txBox="1"/>
          <p:nvPr>
            <p:custDataLst>
              <p:tags r:id="rId2"/>
            </p:custDataLst>
          </p:nvPr>
        </p:nvSpPr>
        <p:spPr>
          <a:xfrm flipH="1">
            <a:off x="2232978" y="2805430"/>
            <a:ext cx="7726045" cy="2173605"/>
          </a:xfrm>
          <a:prstGeom prst="rect">
            <a:avLst/>
          </a:prstGeom>
          <a:noFill/>
        </p:spPr>
        <p:txBody>
          <a:bodyPr wrap="square" lIns="0" tIns="0" rIns="0" bIns="0" rtlCol="0">
            <a:normAutofit fontScale="90000" lnSpcReduction="20000"/>
          </a:bodyPr>
          <a:lstStyle/>
          <a:p>
            <a:pPr indent="0" algn="ctr" fontAlgn="auto">
              <a:lnSpc>
                <a:spcPct val="140000"/>
              </a:lnSpc>
            </a:pPr>
            <a:r>
              <a:rPr lang="en-US" altLang="zh-CN" sz="2400" kern="0" dirty="0">
                <a:ln>
                  <a:noFill/>
                  <a:prstDash val="sysDot"/>
                </a:ln>
                <a:solidFill>
                  <a:schemeClr val="tx1">
                    <a:lumMod val="85000"/>
                    <a:lumOff val="15000"/>
                  </a:schemeClr>
                </a:solidFill>
                <a:latin typeface="Times New Roman" panose="02020503050405090304" charset="0"/>
                <a:cs typeface="Times New Roman" panose="02020503050405090304" charset="0"/>
                <a:sym typeface="+mn-ea"/>
              </a:rPr>
              <a:t>I’ve been suffering from bad UI/UX designs and bad interaction logics for a long time, so I know the importance of them. For example, I believe system leading the user to their wanted function is way better than the user finding the next function that they would want in a page crowded with functions</a:t>
            </a:r>
            <a:endParaRPr lang="en-US" altLang="zh-CN" sz="2400" kern="0" dirty="0">
              <a:ln>
                <a:noFill/>
                <a:prstDash val="sysDot"/>
              </a:ln>
              <a:solidFill>
                <a:schemeClr val="tx1">
                  <a:lumMod val="85000"/>
                  <a:lumOff val="15000"/>
                </a:schemeClr>
              </a:solidFill>
              <a:latin typeface="Times New Roman" panose="02020503050405090304" charset="0"/>
              <a:cs typeface="Times New Roman" panose="02020503050405090304" charset="0"/>
              <a:sym typeface="+mn-ea"/>
            </a:endParaRPr>
          </a:p>
        </p:txBody>
      </p:sp>
      <p:sp>
        <p:nvSpPr>
          <p:cNvPr id="17" name="图形 15"/>
          <p:cNvSpPr/>
          <p:nvPr>
            <p:custDataLst>
              <p:tags r:id="rId3"/>
            </p:custDataLst>
          </p:nvPr>
        </p:nvSpPr>
        <p:spPr>
          <a:xfrm>
            <a:off x="1079500" y="1028065"/>
            <a:ext cx="1807845" cy="4803140"/>
          </a:xfrm>
          <a:custGeom>
            <a:avLst/>
            <a:gdLst>
              <a:gd name="connsiteX0" fmla="*/ 284321 w 284416"/>
              <a:gd name="connsiteY0" fmla="*/ 86574 h 687583"/>
              <a:gd name="connsiteX1" fmla="*/ 12478 w 284416"/>
              <a:gd name="connsiteY1" fmla="*/ 468 h 687583"/>
              <a:gd name="connsiteX2" fmla="*/ 0 w 284416"/>
              <a:gd name="connsiteY2" fmla="*/ 9612 h 687583"/>
              <a:gd name="connsiteX3" fmla="*/ 0 w 284416"/>
              <a:gd name="connsiteY3" fmla="*/ 677981 h 687583"/>
              <a:gd name="connsiteX4" fmla="*/ 12192 w 284416"/>
              <a:gd name="connsiteY4" fmla="*/ 687221 h 687583"/>
              <a:gd name="connsiteX5" fmla="*/ 284417 w 284416"/>
              <a:gd name="connsiteY5" fmla="*/ 612544 h 687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4416" h="687583">
                <a:moveTo>
                  <a:pt x="284321" y="86574"/>
                </a:moveTo>
                <a:lnTo>
                  <a:pt x="12478" y="468"/>
                </a:lnTo>
                <a:cubicBezTo>
                  <a:pt x="6286" y="-1532"/>
                  <a:pt x="0" y="3135"/>
                  <a:pt x="0" y="9612"/>
                </a:cubicBezTo>
                <a:lnTo>
                  <a:pt x="0" y="677981"/>
                </a:lnTo>
                <a:cubicBezTo>
                  <a:pt x="0" y="684363"/>
                  <a:pt x="6001" y="688935"/>
                  <a:pt x="12192" y="687221"/>
                </a:cubicBezTo>
                <a:lnTo>
                  <a:pt x="284417" y="612544"/>
                </a:lnTo>
              </a:path>
            </a:pathLst>
          </a:custGeom>
          <a:noFill/>
          <a:ln w="38100" cap="flat">
            <a:gradFill>
              <a:gsLst>
                <a:gs pos="0">
                  <a:schemeClr val="accent1">
                    <a:alpha val="85000"/>
                  </a:schemeClr>
                </a:gs>
                <a:gs pos="100000">
                  <a:schemeClr val="accent1">
                    <a:lumMod val="60000"/>
                    <a:lumOff val="40000"/>
                    <a:alpha val="0"/>
                  </a:schemeClr>
                </a:gs>
              </a:gsLst>
              <a:lin ang="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 name="图形 15"/>
          <p:cNvSpPr/>
          <p:nvPr>
            <p:custDataLst>
              <p:tags r:id="rId4"/>
            </p:custDataLst>
          </p:nvPr>
        </p:nvSpPr>
        <p:spPr>
          <a:xfrm>
            <a:off x="1263650" y="1272540"/>
            <a:ext cx="1623695" cy="4315460"/>
          </a:xfrm>
          <a:custGeom>
            <a:avLst/>
            <a:gdLst>
              <a:gd name="connsiteX0" fmla="*/ 284321 w 284416"/>
              <a:gd name="connsiteY0" fmla="*/ 86574 h 687583"/>
              <a:gd name="connsiteX1" fmla="*/ 12478 w 284416"/>
              <a:gd name="connsiteY1" fmla="*/ 468 h 687583"/>
              <a:gd name="connsiteX2" fmla="*/ 0 w 284416"/>
              <a:gd name="connsiteY2" fmla="*/ 9612 h 687583"/>
              <a:gd name="connsiteX3" fmla="*/ 0 w 284416"/>
              <a:gd name="connsiteY3" fmla="*/ 677981 h 687583"/>
              <a:gd name="connsiteX4" fmla="*/ 12192 w 284416"/>
              <a:gd name="connsiteY4" fmla="*/ 687221 h 687583"/>
              <a:gd name="connsiteX5" fmla="*/ 284417 w 284416"/>
              <a:gd name="connsiteY5" fmla="*/ 612544 h 687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4416" h="687583">
                <a:moveTo>
                  <a:pt x="284321" y="86574"/>
                </a:moveTo>
                <a:lnTo>
                  <a:pt x="12478" y="468"/>
                </a:lnTo>
                <a:cubicBezTo>
                  <a:pt x="6286" y="-1532"/>
                  <a:pt x="0" y="3135"/>
                  <a:pt x="0" y="9612"/>
                </a:cubicBezTo>
                <a:lnTo>
                  <a:pt x="0" y="677981"/>
                </a:lnTo>
                <a:cubicBezTo>
                  <a:pt x="0" y="684363"/>
                  <a:pt x="6001" y="688935"/>
                  <a:pt x="12192" y="687221"/>
                </a:cubicBezTo>
                <a:lnTo>
                  <a:pt x="284417" y="612544"/>
                </a:lnTo>
              </a:path>
            </a:pathLst>
          </a:custGeom>
          <a:noFill/>
          <a:ln w="25400" cap="flat">
            <a:gradFill>
              <a:gsLst>
                <a:gs pos="0">
                  <a:schemeClr val="accent1">
                    <a:alpha val="40000"/>
                  </a:schemeClr>
                </a:gs>
                <a:gs pos="100000">
                  <a:schemeClr val="accent1">
                    <a:lumMod val="60000"/>
                    <a:lumOff val="40000"/>
                    <a:alpha val="0"/>
                  </a:schemeClr>
                </a:gs>
              </a:gsLst>
              <a:lin ang="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4" name="图形 15"/>
          <p:cNvSpPr/>
          <p:nvPr>
            <p:custDataLst>
              <p:tags r:id="rId5"/>
            </p:custDataLst>
          </p:nvPr>
        </p:nvSpPr>
        <p:spPr>
          <a:xfrm flipH="1">
            <a:off x="9434830" y="1028065"/>
            <a:ext cx="1807845" cy="4803140"/>
          </a:xfrm>
          <a:custGeom>
            <a:avLst/>
            <a:gdLst>
              <a:gd name="connsiteX0" fmla="*/ 284321 w 284416"/>
              <a:gd name="connsiteY0" fmla="*/ 86574 h 687583"/>
              <a:gd name="connsiteX1" fmla="*/ 12478 w 284416"/>
              <a:gd name="connsiteY1" fmla="*/ 468 h 687583"/>
              <a:gd name="connsiteX2" fmla="*/ 0 w 284416"/>
              <a:gd name="connsiteY2" fmla="*/ 9612 h 687583"/>
              <a:gd name="connsiteX3" fmla="*/ 0 w 284416"/>
              <a:gd name="connsiteY3" fmla="*/ 677981 h 687583"/>
              <a:gd name="connsiteX4" fmla="*/ 12192 w 284416"/>
              <a:gd name="connsiteY4" fmla="*/ 687221 h 687583"/>
              <a:gd name="connsiteX5" fmla="*/ 284417 w 284416"/>
              <a:gd name="connsiteY5" fmla="*/ 612544 h 687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4416" h="687583">
                <a:moveTo>
                  <a:pt x="284321" y="86574"/>
                </a:moveTo>
                <a:lnTo>
                  <a:pt x="12478" y="468"/>
                </a:lnTo>
                <a:cubicBezTo>
                  <a:pt x="6286" y="-1532"/>
                  <a:pt x="0" y="3135"/>
                  <a:pt x="0" y="9612"/>
                </a:cubicBezTo>
                <a:lnTo>
                  <a:pt x="0" y="677981"/>
                </a:lnTo>
                <a:cubicBezTo>
                  <a:pt x="0" y="684363"/>
                  <a:pt x="6001" y="688935"/>
                  <a:pt x="12192" y="687221"/>
                </a:cubicBezTo>
                <a:lnTo>
                  <a:pt x="284417" y="612544"/>
                </a:lnTo>
              </a:path>
            </a:pathLst>
          </a:custGeom>
          <a:noFill/>
          <a:ln w="38100" cap="flat">
            <a:gradFill>
              <a:gsLst>
                <a:gs pos="0">
                  <a:schemeClr val="accent1">
                    <a:alpha val="85000"/>
                  </a:schemeClr>
                </a:gs>
                <a:gs pos="100000">
                  <a:schemeClr val="accent1">
                    <a:lumMod val="60000"/>
                    <a:lumOff val="40000"/>
                    <a:alpha val="0"/>
                  </a:schemeClr>
                </a:gs>
              </a:gsLst>
              <a:lin ang="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 name="图形 15"/>
          <p:cNvSpPr/>
          <p:nvPr>
            <p:custDataLst>
              <p:tags r:id="rId6"/>
            </p:custDataLst>
          </p:nvPr>
        </p:nvSpPr>
        <p:spPr>
          <a:xfrm flipH="1">
            <a:off x="9434830" y="1272540"/>
            <a:ext cx="1623695" cy="4315460"/>
          </a:xfrm>
          <a:custGeom>
            <a:avLst/>
            <a:gdLst>
              <a:gd name="connsiteX0" fmla="*/ 284321 w 284416"/>
              <a:gd name="connsiteY0" fmla="*/ 86574 h 687583"/>
              <a:gd name="connsiteX1" fmla="*/ 12478 w 284416"/>
              <a:gd name="connsiteY1" fmla="*/ 468 h 687583"/>
              <a:gd name="connsiteX2" fmla="*/ 0 w 284416"/>
              <a:gd name="connsiteY2" fmla="*/ 9612 h 687583"/>
              <a:gd name="connsiteX3" fmla="*/ 0 w 284416"/>
              <a:gd name="connsiteY3" fmla="*/ 677981 h 687583"/>
              <a:gd name="connsiteX4" fmla="*/ 12192 w 284416"/>
              <a:gd name="connsiteY4" fmla="*/ 687221 h 687583"/>
              <a:gd name="connsiteX5" fmla="*/ 284417 w 284416"/>
              <a:gd name="connsiteY5" fmla="*/ 612544 h 687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4416" h="687583">
                <a:moveTo>
                  <a:pt x="284321" y="86574"/>
                </a:moveTo>
                <a:lnTo>
                  <a:pt x="12478" y="468"/>
                </a:lnTo>
                <a:cubicBezTo>
                  <a:pt x="6286" y="-1532"/>
                  <a:pt x="0" y="3135"/>
                  <a:pt x="0" y="9612"/>
                </a:cubicBezTo>
                <a:lnTo>
                  <a:pt x="0" y="677981"/>
                </a:lnTo>
                <a:cubicBezTo>
                  <a:pt x="0" y="684363"/>
                  <a:pt x="6001" y="688935"/>
                  <a:pt x="12192" y="687221"/>
                </a:cubicBezTo>
                <a:lnTo>
                  <a:pt x="284417" y="612544"/>
                </a:lnTo>
              </a:path>
            </a:pathLst>
          </a:custGeom>
          <a:noFill/>
          <a:ln w="25400" cap="flat">
            <a:gradFill>
              <a:gsLst>
                <a:gs pos="0">
                  <a:schemeClr val="accent1">
                    <a:alpha val="40000"/>
                  </a:schemeClr>
                </a:gs>
                <a:gs pos="100000">
                  <a:schemeClr val="accent1">
                    <a:lumMod val="60000"/>
                    <a:lumOff val="40000"/>
                    <a:alpha val="0"/>
                  </a:schemeClr>
                </a:gs>
              </a:gsLst>
              <a:lin ang="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Tree>
    <p:custDataLst>
      <p:tags r:id="rId7"/>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3000" dirty="0"/>
              <a:t>MY DES/GN </a:t>
            </a:r>
            <a:endParaRPr lang="en-US" sz="30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a:sym typeface="+mn-ea"/>
              </a:rPr>
              <a:t>GUIDED WORKFLOW: </a:t>
            </a:r>
            <a:r>
              <a:rPr lang="en-US" sz="3000" b="1" dirty="0">
                <a:solidFill>
                  <a:schemeClr val="tx1"/>
                </a:solidFill>
              </a:rPr>
              <a:t>The system leads each step</a:t>
            </a:r>
            <a:endParaRPr lang="en-US" sz="3000" dirty="0"/>
          </a:p>
        </p:txBody>
      </p:sp>
      <p:sp>
        <p:nvSpPr>
          <p:cNvPr id="8" name="subtitle"/>
          <p:cNvSpPr txBox="1"/>
          <p:nvPr/>
        </p:nvSpPr>
        <p:spPr>
          <a:xfrm>
            <a:off x="548640" y="1335024"/>
            <a:ext cx="11064240" cy="329184"/>
          </a:xfrm>
          <a:prstGeom prst="rect">
            <a:avLst/>
          </a:prstGeom>
          <a:noFill/>
        </p:spPr>
        <p:txBody>
          <a:bodyPr wrap="square" lIns="0" tIns="0" rIns="0" bIns="0" rtlCol="0" anchor="ctr"/>
          <a:lstStyle/>
          <a:p>
            <a:pPr marL="0" indent="0">
              <a:buNone/>
            </a:pPr>
            <a:r>
              <a:rPr lang="en-US" sz="1500" b="1" dirty="0">
                <a:solidFill>
                  <a:schemeClr val="tx1"/>
                </a:solidFill>
              </a:rPr>
              <a:t>Before: </a:t>
            </a:r>
            <a:r>
              <a:rPr lang="en-US" sz="1500" dirty="0">
                <a:solidFill>
                  <a:schemeClr val="accent5"/>
                </a:solidFill>
              </a:rPr>
              <a:t>every tool shared one tabbed incident page.</a:t>
            </a:r>
            <a:r>
              <a:rPr lang="en-US" sz="1500" b="1" dirty="0">
                <a:solidFill>
                  <a:schemeClr val="accent1"/>
                </a:solidFill>
              </a:rPr>
              <a:t>      Now: </a:t>
            </a:r>
            <a:r>
              <a:rPr lang="en-US" sz="1500" dirty="0">
                <a:solidFill>
                  <a:schemeClr val="tx1"/>
                </a:solidFill>
              </a:rPr>
              <a:t>a home page, then one clear next step at a time.</a:t>
            </a:r>
            <a:endParaRPr lang="en-US" sz="1500" dirty="0"/>
          </a:p>
        </p:txBody>
      </p:sp>
      <p:sp>
        <p:nvSpPr>
          <p:cNvPr id="9" name="b1 route"/>
          <p:cNvSpPr/>
          <p:nvPr/>
        </p:nvSpPr>
        <p:spPr>
          <a:xfrm>
            <a:off x="621792" y="1819656"/>
            <a:ext cx="9005011" cy="0"/>
          </a:xfrm>
          <a:prstGeom prst="line">
            <a:avLst/>
          </a:prstGeom>
          <a:noFill/>
          <a:ln w="25400">
            <a:solidFill>
              <a:srgbClr val="C2187A"/>
            </a:solidFill>
            <a:prstDash val="solid"/>
          </a:ln>
        </p:spPr>
      </p:sp>
      <p:sp>
        <p:nvSpPr>
          <p:cNvPr id="10" name="b2 screen 1 node"/>
          <p:cNvSpPr/>
          <p:nvPr/>
        </p:nvSpPr>
        <p:spPr>
          <a:xfrm>
            <a:off x="548640" y="1746504"/>
            <a:ext cx="146304" cy="146304"/>
          </a:xfrm>
          <a:prstGeom prst="ellipse">
            <a:avLst/>
          </a:prstGeom>
          <a:solidFill>
            <a:srgbClr val="FFFFFF"/>
          </a:solidFill>
          <a:ln w="25400">
            <a:solidFill>
              <a:srgbClr val="C2187A"/>
            </a:solidFill>
            <a:prstDash val="solid"/>
          </a:ln>
        </p:spPr>
      </p:sp>
      <p:sp>
        <p:nvSpPr>
          <p:cNvPr id="11" name="b2 screen 1 tag"/>
          <p:cNvSpPr txBox="1"/>
          <p:nvPr/>
        </p:nvSpPr>
        <p:spPr>
          <a:xfrm>
            <a:off x="548640" y="1920240"/>
            <a:ext cx="2086661" cy="182880"/>
          </a:xfrm>
          <a:prstGeom prst="rect">
            <a:avLst/>
          </a:prstGeom>
          <a:noFill/>
        </p:spPr>
        <p:txBody>
          <a:bodyPr wrap="square" lIns="0" tIns="0" rIns="0" bIns="0" rtlCol="0" anchor="t"/>
          <a:lstStyle/>
          <a:p>
            <a:pPr marL="0" indent="0">
              <a:buNone/>
            </a:pPr>
            <a:r>
              <a:rPr lang="en-US" sz="900" b="1" kern="0" spc="100" dirty="0">
                <a:solidFill>
                  <a:schemeClr val="accent1"/>
                </a:solidFill>
              </a:rPr>
              <a:t>01 · RECORD</a:t>
            </a:r>
            <a:endParaRPr lang="en-US" sz="900" dirty="0"/>
          </a:p>
        </p:txBody>
      </p:sp>
      <p:sp>
        <p:nvSpPr>
          <p:cNvPr id="12" name="b2 screen 1 name"/>
          <p:cNvSpPr txBox="1"/>
          <p:nvPr/>
        </p:nvSpPr>
        <p:spPr>
          <a:xfrm>
            <a:off x="548640" y="2103120"/>
            <a:ext cx="2086661" cy="256032"/>
          </a:xfrm>
          <a:prstGeom prst="rect">
            <a:avLst/>
          </a:prstGeom>
          <a:noFill/>
        </p:spPr>
        <p:txBody>
          <a:bodyPr wrap="square" lIns="0" tIns="0" rIns="0" bIns="0" rtlCol="0" anchor="ctr"/>
          <a:lstStyle/>
          <a:p>
            <a:pPr marL="0" indent="0">
              <a:buNone/>
            </a:pPr>
            <a:r>
              <a:rPr lang="en-US" sz="1300" b="1" dirty="0">
                <a:solidFill>
                  <a:schemeClr val="tx1"/>
                </a:solidFill>
              </a:rPr>
              <a:t>Home</a:t>
            </a:r>
            <a:endParaRPr lang="en-US" sz="1300" dirty="0"/>
          </a:p>
        </p:txBody>
      </p:sp>
      <p:pic>
        <p:nvPicPr>
          <p:cNvPr id="13" name="b2 screen 1 image" descr="Screenshot (fictional data): AeroContext home page: the Choose an incident list and the New incident button"/>
          <p:cNvPicPr>
            <a:picLocks noChangeAspect="1"/>
          </p:cNvPicPr>
          <p:nvPr/>
        </p:nvPicPr>
        <p:blipFill>
          <a:blip r:embed="rId1"/>
          <a:stretch>
            <a:fillRect/>
          </a:stretch>
        </p:blipFill>
        <p:spPr>
          <a:xfrm>
            <a:off x="548640" y="2414016"/>
            <a:ext cx="2086661" cy="1344168"/>
          </a:xfrm>
          <a:prstGeom prst="rect">
            <a:avLst/>
          </a:prstGeom>
        </p:spPr>
      </p:pic>
      <p:sp>
        <p:nvSpPr>
          <p:cNvPr id="14" name="b2 screen 1 frame"/>
          <p:cNvSpPr/>
          <p:nvPr/>
        </p:nvSpPr>
        <p:spPr>
          <a:xfrm>
            <a:off x="548640" y="2414016"/>
            <a:ext cx="2086661" cy="1344168"/>
          </a:xfrm>
          <a:prstGeom prst="rect">
            <a:avLst/>
          </a:prstGeom>
          <a:ln w="9525">
            <a:solidFill>
              <a:srgbClr val="D5DBE2"/>
            </a:solidFill>
            <a:prstDash val="solid"/>
          </a:ln>
        </p:spPr>
      </p:sp>
      <p:sp>
        <p:nvSpPr>
          <p:cNvPr id="15" name="b2 screen 1 ring"/>
          <p:cNvSpPr/>
          <p:nvPr/>
        </p:nvSpPr>
        <p:spPr>
          <a:xfrm>
            <a:off x="2351588" y="2501798"/>
            <a:ext cx="276391" cy="91440"/>
          </a:xfrm>
          <a:prstGeom prst="roundRect">
            <a:avLst>
              <a:gd name="adj" fmla="val 40000"/>
            </a:avLst>
          </a:prstGeom>
          <a:ln w="25400">
            <a:solidFill>
              <a:srgbClr val="C2187A"/>
            </a:solidFill>
            <a:prstDash val="solid"/>
          </a:ln>
        </p:spPr>
      </p:sp>
      <p:sp>
        <p:nvSpPr>
          <p:cNvPr id="16" name="b2 screen 1 caption"/>
          <p:cNvSpPr txBox="1"/>
          <p:nvPr/>
        </p:nvSpPr>
        <p:spPr>
          <a:xfrm>
            <a:off x="548640" y="3840480"/>
            <a:ext cx="2086661" cy="640080"/>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Choose an incident from the list, or create a new one.</a:t>
            </a:r>
            <a:endParaRPr lang="en-US" sz="1100" dirty="0"/>
          </a:p>
        </p:txBody>
      </p:sp>
      <p:sp>
        <p:nvSpPr>
          <p:cNvPr id="17" name="b3 screen 2 node"/>
          <p:cNvSpPr/>
          <p:nvPr/>
        </p:nvSpPr>
        <p:spPr>
          <a:xfrm>
            <a:off x="2799893" y="1746504"/>
            <a:ext cx="146304" cy="146304"/>
          </a:xfrm>
          <a:prstGeom prst="ellipse">
            <a:avLst/>
          </a:prstGeom>
          <a:solidFill>
            <a:srgbClr val="FFFFFF"/>
          </a:solidFill>
          <a:ln w="25400">
            <a:solidFill>
              <a:srgbClr val="C2187A"/>
            </a:solidFill>
            <a:prstDash val="solid"/>
          </a:ln>
        </p:spPr>
      </p:sp>
      <p:sp>
        <p:nvSpPr>
          <p:cNvPr id="18" name="b3 screen 2 tag"/>
          <p:cNvSpPr txBox="1"/>
          <p:nvPr/>
        </p:nvSpPr>
        <p:spPr>
          <a:xfrm>
            <a:off x="2799893" y="1920240"/>
            <a:ext cx="2086661" cy="182880"/>
          </a:xfrm>
          <a:prstGeom prst="rect">
            <a:avLst/>
          </a:prstGeom>
          <a:noFill/>
        </p:spPr>
        <p:txBody>
          <a:bodyPr wrap="square" lIns="0" tIns="0" rIns="0" bIns="0" rtlCol="0" anchor="t"/>
          <a:lstStyle/>
          <a:p>
            <a:pPr marL="0" indent="0">
              <a:buNone/>
            </a:pPr>
            <a:r>
              <a:rPr lang="en-US" sz="900" b="1" kern="0" spc="100" dirty="0">
                <a:solidFill>
                  <a:schemeClr val="accent1"/>
                </a:solidFill>
              </a:rPr>
              <a:t>01 · RECORD</a:t>
            </a:r>
            <a:endParaRPr lang="en-US" sz="900" dirty="0"/>
          </a:p>
        </p:txBody>
      </p:sp>
      <p:sp>
        <p:nvSpPr>
          <p:cNvPr id="19" name="b3 screen 2 name"/>
          <p:cNvSpPr txBox="1"/>
          <p:nvPr/>
        </p:nvSpPr>
        <p:spPr>
          <a:xfrm>
            <a:off x="2799893" y="2103120"/>
            <a:ext cx="2086661" cy="256032"/>
          </a:xfrm>
          <a:prstGeom prst="rect">
            <a:avLst/>
          </a:prstGeom>
          <a:noFill/>
        </p:spPr>
        <p:txBody>
          <a:bodyPr wrap="square" lIns="0" tIns="0" rIns="0" bIns="0" rtlCol="0" anchor="ctr"/>
          <a:lstStyle/>
          <a:p>
            <a:pPr marL="0" indent="0">
              <a:buNone/>
            </a:pPr>
            <a:r>
              <a:rPr lang="en-US" sz="1300" b="1" dirty="0">
                <a:solidFill>
                  <a:schemeClr val="tx1"/>
                </a:solidFill>
              </a:rPr>
              <a:t>One next step</a:t>
            </a:r>
            <a:endParaRPr lang="en-US" sz="1300" dirty="0"/>
          </a:p>
        </p:txBody>
      </p:sp>
      <p:pic>
        <p:nvPicPr>
          <p:cNvPr id="20" name="b3 screen 2 image" descr="Screenshot (fictional data): Incident page before analysis: step tracker, situation card and the Start analysis panel"/>
          <p:cNvPicPr>
            <a:picLocks noChangeAspect="1"/>
          </p:cNvPicPr>
          <p:nvPr/>
        </p:nvPicPr>
        <p:blipFill>
          <a:blip r:embed="rId2"/>
          <a:stretch>
            <a:fillRect/>
          </a:stretch>
        </p:blipFill>
        <p:spPr>
          <a:xfrm>
            <a:off x="2799893" y="2414016"/>
            <a:ext cx="2086661" cy="1344168"/>
          </a:xfrm>
          <a:prstGeom prst="rect">
            <a:avLst/>
          </a:prstGeom>
        </p:spPr>
      </p:pic>
      <p:sp>
        <p:nvSpPr>
          <p:cNvPr id="21" name="b3 screen 2 frame"/>
          <p:cNvSpPr/>
          <p:nvPr/>
        </p:nvSpPr>
        <p:spPr>
          <a:xfrm>
            <a:off x="2799893" y="2414016"/>
            <a:ext cx="2086661" cy="1344168"/>
          </a:xfrm>
          <a:prstGeom prst="rect">
            <a:avLst/>
          </a:prstGeom>
          <a:ln w="9525">
            <a:solidFill>
              <a:srgbClr val="D5DBE2"/>
            </a:solidFill>
            <a:prstDash val="solid"/>
          </a:ln>
        </p:spPr>
      </p:sp>
      <p:sp>
        <p:nvSpPr>
          <p:cNvPr id="22" name="b3 screen 2 ring"/>
          <p:cNvSpPr/>
          <p:nvPr/>
        </p:nvSpPr>
        <p:spPr>
          <a:xfrm>
            <a:off x="4271734" y="2942747"/>
            <a:ext cx="558927" cy="115427"/>
          </a:xfrm>
          <a:prstGeom prst="roundRect">
            <a:avLst>
              <a:gd name="adj" fmla="val 31688"/>
            </a:avLst>
          </a:prstGeom>
          <a:ln w="25400">
            <a:solidFill>
              <a:srgbClr val="C2187A"/>
            </a:solidFill>
            <a:prstDash val="solid"/>
          </a:ln>
        </p:spPr>
      </p:sp>
      <p:sp>
        <p:nvSpPr>
          <p:cNvPr id="23" name="b3 screen 2 caption"/>
          <p:cNvSpPr txBox="1"/>
          <p:nvPr/>
        </p:nvSpPr>
        <p:spPr>
          <a:xfrm>
            <a:off x="2799893" y="3840480"/>
            <a:ext cx="2086661" cy="640080"/>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Read the situation and evidence; the one primary action is Start analysis.</a:t>
            </a:r>
            <a:endParaRPr lang="en-US" sz="1100" dirty="0"/>
          </a:p>
        </p:txBody>
      </p:sp>
      <p:sp>
        <p:nvSpPr>
          <p:cNvPr id="24" name="b4 screen 3 node"/>
          <p:cNvSpPr/>
          <p:nvPr/>
        </p:nvSpPr>
        <p:spPr>
          <a:xfrm>
            <a:off x="5051146" y="1746504"/>
            <a:ext cx="146304" cy="146304"/>
          </a:xfrm>
          <a:prstGeom prst="ellipse">
            <a:avLst/>
          </a:prstGeom>
          <a:solidFill>
            <a:srgbClr val="FFFFFF"/>
          </a:solidFill>
          <a:ln w="25400">
            <a:solidFill>
              <a:srgbClr val="C2187A"/>
            </a:solidFill>
            <a:prstDash val="solid"/>
          </a:ln>
        </p:spPr>
      </p:sp>
      <p:sp>
        <p:nvSpPr>
          <p:cNvPr id="25" name="b4 screen 3 tag"/>
          <p:cNvSpPr txBox="1"/>
          <p:nvPr/>
        </p:nvSpPr>
        <p:spPr>
          <a:xfrm>
            <a:off x="5051146" y="1920240"/>
            <a:ext cx="2086661" cy="182880"/>
          </a:xfrm>
          <a:prstGeom prst="rect">
            <a:avLst/>
          </a:prstGeom>
          <a:noFill/>
        </p:spPr>
        <p:txBody>
          <a:bodyPr wrap="square" lIns="0" tIns="0" rIns="0" bIns="0" rtlCol="0" anchor="t"/>
          <a:lstStyle/>
          <a:p>
            <a:pPr marL="0" indent="0">
              <a:buNone/>
            </a:pPr>
            <a:r>
              <a:rPr lang="en-US" sz="900" b="1" kern="0" spc="100" dirty="0">
                <a:solidFill>
                  <a:schemeClr val="accent1"/>
                </a:solidFill>
              </a:rPr>
              <a:t>02 · ANALYZE</a:t>
            </a:r>
            <a:endParaRPr lang="en-US" sz="900" dirty="0"/>
          </a:p>
        </p:txBody>
      </p:sp>
      <p:sp>
        <p:nvSpPr>
          <p:cNvPr id="26" name="b4 screen 3 name"/>
          <p:cNvSpPr txBox="1"/>
          <p:nvPr/>
        </p:nvSpPr>
        <p:spPr>
          <a:xfrm>
            <a:off x="5051146" y="2103120"/>
            <a:ext cx="2086661" cy="256032"/>
          </a:xfrm>
          <a:prstGeom prst="rect">
            <a:avLst/>
          </a:prstGeom>
          <a:noFill/>
        </p:spPr>
        <p:txBody>
          <a:bodyPr wrap="square" lIns="0" tIns="0" rIns="0" bIns="0" rtlCol="0" anchor="ctr"/>
          <a:lstStyle/>
          <a:p>
            <a:pPr marL="0" indent="0">
              <a:buNone/>
            </a:pPr>
            <a:r>
              <a:rPr lang="en-US" sz="1300" b="1" dirty="0">
                <a:solidFill>
                  <a:schemeClr val="tx1"/>
                </a:solidFill>
              </a:rPr>
              <a:t>Focused analysis</a:t>
            </a:r>
            <a:endParaRPr lang="en-US" sz="1300" dirty="0"/>
          </a:p>
        </p:txBody>
      </p:sp>
      <p:pic>
        <p:nvPicPr>
          <p:cNvPr id="27" name="b4 screen 3 image" descr="Screenshot (fictional data): Analysis screen: Analyzing HAI with a list of what AeroContext is doing"/>
          <p:cNvPicPr>
            <a:picLocks noChangeAspect="1"/>
          </p:cNvPicPr>
          <p:nvPr/>
        </p:nvPicPr>
        <p:blipFill>
          <a:blip r:embed="rId3"/>
          <a:stretch>
            <a:fillRect/>
          </a:stretch>
        </p:blipFill>
        <p:spPr>
          <a:xfrm>
            <a:off x="5051146" y="2414016"/>
            <a:ext cx="2086661" cy="1344168"/>
          </a:xfrm>
          <a:prstGeom prst="rect">
            <a:avLst/>
          </a:prstGeom>
        </p:spPr>
      </p:pic>
      <p:sp>
        <p:nvSpPr>
          <p:cNvPr id="28" name="b4 screen 3 frame"/>
          <p:cNvSpPr/>
          <p:nvPr/>
        </p:nvSpPr>
        <p:spPr>
          <a:xfrm>
            <a:off x="5051146" y="2414016"/>
            <a:ext cx="2086661" cy="1344168"/>
          </a:xfrm>
          <a:prstGeom prst="rect">
            <a:avLst/>
          </a:prstGeom>
          <a:ln w="9525">
            <a:solidFill>
              <a:srgbClr val="D5DBE2"/>
            </a:solidFill>
            <a:prstDash val="solid"/>
          </a:ln>
        </p:spPr>
      </p:sp>
      <p:sp>
        <p:nvSpPr>
          <p:cNvPr id="29" name="b4 screen 3 ring"/>
          <p:cNvSpPr/>
          <p:nvPr/>
        </p:nvSpPr>
        <p:spPr>
          <a:xfrm>
            <a:off x="5379049" y="2564816"/>
            <a:ext cx="1438305" cy="714904"/>
          </a:xfrm>
          <a:prstGeom prst="roundRect">
            <a:avLst>
              <a:gd name="adj" fmla="val 5116"/>
            </a:avLst>
          </a:prstGeom>
          <a:ln w="25400">
            <a:solidFill>
              <a:srgbClr val="C2187A"/>
            </a:solidFill>
            <a:prstDash val="solid"/>
          </a:ln>
        </p:spPr>
      </p:sp>
      <p:sp>
        <p:nvSpPr>
          <p:cNvPr id="30" name="b4 screen 3 caption"/>
          <p:cNvSpPr txBox="1"/>
          <p:nvPr/>
        </p:nvSpPr>
        <p:spPr>
          <a:xfrm>
            <a:off x="5051146" y="3840480"/>
            <a:ext cx="2086661" cy="640080"/>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While it runs, the main area shows only the analysis.</a:t>
            </a:r>
            <a:endParaRPr lang="en-US" sz="1100" dirty="0"/>
          </a:p>
        </p:txBody>
      </p:sp>
      <p:sp>
        <p:nvSpPr>
          <p:cNvPr id="31" name="b5 screen 4 node"/>
          <p:cNvSpPr/>
          <p:nvPr/>
        </p:nvSpPr>
        <p:spPr>
          <a:xfrm>
            <a:off x="7302398" y="1746504"/>
            <a:ext cx="146304" cy="146304"/>
          </a:xfrm>
          <a:prstGeom prst="ellipse">
            <a:avLst/>
          </a:prstGeom>
          <a:solidFill>
            <a:srgbClr val="FFFFFF"/>
          </a:solidFill>
          <a:ln w="25400">
            <a:solidFill>
              <a:srgbClr val="C2187A"/>
            </a:solidFill>
            <a:prstDash val="solid"/>
          </a:ln>
        </p:spPr>
      </p:sp>
      <p:sp>
        <p:nvSpPr>
          <p:cNvPr id="32" name="b5 screen 4 tag"/>
          <p:cNvSpPr txBox="1"/>
          <p:nvPr/>
        </p:nvSpPr>
        <p:spPr>
          <a:xfrm>
            <a:off x="7302398" y="1920240"/>
            <a:ext cx="2086661" cy="182880"/>
          </a:xfrm>
          <a:prstGeom prst="rect">
            <a:avLst/>
          </a:prstGeom>
          <a:noFill/>
        </p:spPr>
        <p:txBody>
          <a:bodyPr wrap="square" lIns="0" tIns="0" rIns="0" bIns="0" rtlCol="0" anchor="t"/>
          <a:lstStyle/>
          <a:p>
            <a:pPr marL="0" indent="0">
              <a:buNone/>
            </a:pPr>
            <a:r>
              <a:rPr lang="en-US" sz="900" b="1" kern="0" spc="100" dirty="0">
                <a:solidFill>
                  <a:schemeClr val="accent1"/>
                </a:solidFill>
              </a:rPr>
              <a:t>03 · DECIDE</a:t>
            </a:r>
            <a:endParaRPr lang="en-US" sz="900" dirty="0"/>
          </a:p>
        </p:txBody>
      </p:sp>
      <p:sp>
        <p:nvSpPr>
          <p:cNvPr id="33" name="b5 screen 4 name"/>
          <p:cNvSpPr txBox="1"/>
          <p:nvPr/>
        </p:nvSpPr>
        <p:spPr>
          <a:xfrm>
            <a:off x="7302398" y="2103120"/>
            <a:ext cx="2086661" cy="256032"/>
          </a:xfrm>
          <a:prstGeom prst="rect">
            <a:avLst/>
          </a:prstGeom>
          <a:noFill/>
        </p:spPr>
        <p:txBody>
          <a:bodyPr wrap="square" lIns="0" tIns="0" rIns="0" bIns="0" rtlCol="0" anchor="ctr"/>
          <a:lstStyle/>
          <a:p>
            <a:pPr marL="0" indent="0">
              <a:buNone/>
            </a:pPr>
            <a:r>
              <a:rPr lang="en-US" sz="1300" b="1" dirty="0">
                <a:solidFill>
                  <a:schemeClr val="tx1"/>
                </a:solidFill>
              </a:rPr>
              <a:t>Six large blocks</a:t>
            </a:r>
            <a:endParaRPr lang="en-US" sz="1300" dirty="0"/>
          </a:p>
        </p:txBody>
      </p:sp>
      <p:pic>
        <p:nvPicPr>
          <p:cNvPr id="34" name="b5 screen 4 image" descr="Screenshot (fictional data): Incident hub after analysis: the Assess and decide card beside Situation, Evidence, Messages, Ask AeroContext and Record and export blocks"/>
          <p:cNvPicPr>
            <a:picLocks noChangeAspect="1"/>
          </p:cNvPicPr>
          <p:nvPr/>
        </p:nvPicPr>
        <p:blipFill>
          <a:blip r:embed="rId4"/>
          <a:stretch>
            <a:fillRect/>
          </a:stretch>
        </p:blipFill>
        <p:spPr>
          <a:xfrm>
            <a:off x="7302398" y="2414016"/>
            <a:ext cx="2086661" cy="1344168"/>
          </a:xfrm>
          <a:prstGeom prst="rect">
            <a:avLst/>
          </a:prstGeom>
        </p:spPr>
      </p:pic>
      <p:sp>
        <p:nvSpPr>
          <p:cNvPr id="35" name="b5 screen 4 frame"/>
          <p:cNvSpPr/>
          <p:nvPr/>
        </p:nvSpPr>
        <p:spPr>
          <a:xfrm>
            <a:off x="7302398" y="2414016"/>
            <a:ext cx="2086661" cy="1344168"/>
          </a:xfrm>
          <a:prstGeom prst="rect">
            <a:avLst/>
          </a:prstGeom>
          <a:ln w="9525">
            <a:solidFill>
              <a:srgbClr val="D5DBE2"/>
            </a:solidFill>
            <a:prstDash val="solid"/>
          </a:ln>
        </p:spPr>
      </p:sp>
      <p:sp>
        <p:nvSpPr>
          <p:cNvPr id="36" name="b5 screen 4 ring"/>
          <p:cNvSpPr/>
          <p:nvPr/>
        </p:nvSpPr>
        <p:spPr>
          <a:xfrm>
            <a:off x="7317303" y="2590880"/>
            <a:ext cx="1373097" cy="709319"/>
          </a:xfrm>
          <a:prstGeom prst="roundRect">
            <a:avLst>
              <a:gd name="adj" fmla="val 5156"/>
            </a:avLst>
          </a:prstGeom>
          <a:ln w="25400">
            <a:solidFill>
              <a:srgbClr val="C2187A"/>
            </a:solidFill>
            <a:prstDash val="solid"/>
          </a:ln>
        </p:spPr>
      </p:sp>
      <p:sp>
        <p:nvSpPr>
          <p:cNvPr id="37" name="b5 screen 4 caption"/>
          <p:cNvSpPr txBox="1"/>
          <p:nvPr/>
        </p:nvSpPr>
        <p:spPr>
          <a:xfrm>
            <a:off x="7302398" y="3840480"/>
            <a:ext cx="2086661" cy="640080"/>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The main area holds six large blocks, led by Assess &amp; decide.</a:t>
            </a:r>
            <a:endParaRPr lang="en-US" sz="1100" dirty="0"/>
          </a:p>
        </p:txBody>
      </p:sp>
      <p:sp>
        <p:nvSpPr>
          <p:cNvPr id="38" name="b6 screen 5 node"/>
          <p:cNvSpPr/>
          <p:nvPr/>
        </p:nvSpPr>
        <p:spPr>
          <a:xfrm>
            <a:off x="9553651" y="1746504"/>
            <a:ext cx="146304" cy="146304"/>
          </a:xfrm>
          <a:prstGeom prst="ellipse">
            <a:avLst/>
          </a:prstGeom>
          <a:solidFill>
            <a:srgbClr val="FFFFFF"/>
          </a:solidFill>
          <a:ln w="25400">
            <a:solidFill>
              <a:srgbClr val="C2187A"/>
            </a:solidFill>
            <a:prstDash val="solid"/>
          </a:ln>
        </p:spPr>
      </p:sp>
      <p:sp>
        <p:nvSpPr>
          <p:cNvPr id="39" name="b6 screen 5 tag"/>
          <p:cNvSpPr txBox="1"/>
          <p:nvPr/>
        </p:nvSpPr>
        <p:spPr>
          <a:xfrm>
            <a:off x="9553651" y="1920240"/>
            <a:ext cx="2086661" cy="182880"/>
          </a:xfrm>
          <a:prstGeom prst="rect">
            <a:avLst/>
          </a:prstGeom>
          <a:noFill/>
        </p:spPr>
        <p:txBody>
          <a:bodyPr wrap="square" lIns="0" tIns="0" rIns="0" bIns="0" rtlCol="0" anchor="t"/>
          <a:lstStyle/>
          <a:p>
            <a:pPr marL="0" indent="0">
              <a:buNone/>
            </a:pPr>
            <a:r>
              <a:rPr lang="en-US" sz="900" b="1" kern="0" spc="100" dirty="0">
                <a:solidFill>
                  <a:schemeClr val="accent1"/>
                </a:solidFill>
              </a:rPr>
              <a:t>04 · REVISIT</a:t>
            </a:r>
            <a:endParaRPr lang="en-US" sz="900" dirty="0"/>
          </a:p>
        </p:txBody>
      </p:sp>
      <p:sp>
        <p:nvSpPr>
          <p:cNvPr id="40" name="b6 screen 5 name"/>
          <p:cNvSpPr txBox="1"/>
          <p:nvPr/>
        </p:nvSpPr>
        <p:spPr>
          <a:xfrm>
            <a:off x="9553651" y="2103120"/>
            <a:ext cx="2086661" cy="256032"/>
          </a:xfrm>
          <a:prstGeom prst="rect">
            <a:avLst/>
          </a:prstGeom>
          <a:noFill/>
        </p:spPr>
        <p:txBody>
          <a:bodyPr wrap="square" lIns="0" tIns="0" rIns="0" bIns="0" rtlCol="0" anchor="ctr"/>
          <a:lstStyle/>
          <a:p>
            <a:pPr marL="0" indent="0">
              <a:buNone/>
            </a:pPr>
            <a:r>
              <a:rPr lang="en-US" sz="1300" b="1" dirty="0">
                <a:solidFill>
                  <a:schemeClr val="tx1"/>
                </a:solidFill>
              </a:rPr>
              <a:t>What next?</a:t>
            </a:r>
            <a:endParaRPr lang="en-US" sz="1300" dirty="0"/>
          </a:p>
        </p:txBody>
      </p:sp>
      <p:pic>
        <p:nvPicPr>
          <p:cNvPr id="41" name="b6 screen 5 image" descr="Screenshot (fictional data): Banner reading All decisions recorded. What next? with Reassess, Modify a decision and Record outcomes buttons"/>
          <p:cNvPicPr>
            <a:picLocks noChangeAspect="1"/>
          </p:cNvPicPr>
          <p:nvPr/>
        </p:nvPicPr>
        <p:blipFill>
          <a:blip r:embed="rId5"/>
          <a:stretch>
            <a:fillRect/>
          </a:stretch>
        </p:blipFill>
        <p:spPr>
          <a:xfrm>
            <a:off x="9553651" y="2414016"/>
            <a:ext cx="2086661" cy="1344168"/>
          </a:xfrm>
          <a:prstGeom prst="rect">
            <a:avLst/>
          </a:prstGeom>
        </p:spPr>
      </p:pic>
      <p:sp>
        <p:nvSpPr>
          <p:cNvPr id="42" name="b6 screen 5 frame"/>
          <p:cNvSpPr/>
          <p:nvPr/>
        </p:nvSpPr>
        <p:spPr>
          <a:xfrm>
            <a:off x="9553651" y="2414016"/>
            <a:ext cx="2086661" cy="1344168"/>
          </a:xfrm>
          <a:prstGeom prst="rect">
            <a:avLst/>
          </a:prstGeom>
          <a:ln w="9525">
            <a:solidFill>
              <a:srgbClr val="D5DBE2"/>
            </a:solidFill>
            <a:prstDash val="solid"/>
          </a:ln>
        </p:spPr>
      </p:sp>
      <p:sp>
        <p:nvSpPr>
          <p:cNvPr id="43" name="b6 screen 5 ring"/>
          <p:cNvSpPr/>
          <p:nvPr/>
        </p:nvSpPr>
        <p:spPr>
          <a:xfrm>
            <a:off x="9568556" y="2605774"/>
            <a:ext cx="2064304" cy="301600"/>
          </a:xfrm>
          <a:prstGeom prst="roundRect">
            <a:avLst>
              <a:gd name="adj" fmla="val 12127"/>
            </a:avLst>
          </a:prstGeom>
          <a:ln w="25400">
            <a:solidFill>
              <a:srgbClr val="C2187A"/>
            </a:solidFill>
            <a:prstDash val="solid"/>
          </a:ln>
        </p:spPr>
      </p:sp>
      <p:sp>
        <p:nvSpPr>
          <p:cNvPr id="44" name="b6 screen 5 caption"/>
          <p:cNvSpPr txBox="1"/>
          <p:nvPr/>
        </p:nvSpPr>
        <p:spPr>
          <a:xfrm>
            <a:off x="9553651" y="3840480"/>
            <a:ext cx="2086661" cy="640080"/>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After the last decision, a banner offers Reassess, Modify a decision or Record outcomes.</a:t>
            </a:r>
            <a:endParaRPr lang="en-US" sz="1100" dirty="0"/>
          </a:p>
        </p:txBody>
      </p:sp>
      <p:sp>
        <p:nvSpPr>
          <p:cNvPr id="45" name="b7 band"/>
          <p:cNvSpPr/>
          <p:nvPr/>
        </p:nvSpPr>
        <p:spPr>
          <a:xfrm>
            <a:off x="548640" y="4535424"/>
            <a:ext cx="11091672" cy="1298448"/>
          </a:xfrm>
          <a:prstGeom prst="roundRect">
            <a:avLst>
              <a:gd name="adj" fmla="val 4225"/>
            </a:avLst>
          </a:prstGeom>
          <a:solidFill>
            <a:srgbClr val="F1F3F5"/>
          </a:solidFill>
        </p:spPr>
      </p:sp>
      <p:sp>
        <p:nvSpPr>
          <p:cNvPr id="46" name="b7 step 0 name"/>
          <p:cNvSpPr txBox="1"/>
          <p:nvPr/>
        </p:nvSpPr>
        <p:spPr>
          <a:xfrm>
            <a:off x="777240" y="4645152"/>
            <a:ext cx="2103120" cy="237744"/>
          </a:xfrm>
          <a:prstGeom prst="rect">
            <a:avLst/>
          </a:prstGeom>
          <a:noFill/>
        </p:spPr>
        <p:txBody>
          <a:bodyPr wrap="square" lIns="0" tIns="0" rIns="0" bIns="0" rtlCol="0" anchor="ctr"/>
          <a:lstStyle/>
          <a:p>
            <a:pPr marL="0" indent="0">
              <a:buNone/>
            </a:pPr>
            <a:r>
              <a:rPr lang="en-US" sz="1300" b="1" dirty="0">
                <a:solidFill>
                  <a:schemeClr val="accent1"/>
                </a:solidFill>
              </a:rPr>
              <a:t>01  </a:t>
            </a:r>
            <a:r>
              <a:rPr lang="en-US" sz="1300" b="1" dirty="0">
                <a:solidFill>
                  <a:schemeClr val="tx1"/>
                </a:solidFill>
              </a:rPr>
              <a:t>Record</a:t>
            </a:r>
            <a:endParaRPr lang="en-US" sz="1300" dirty="0"/>
          </a:p>
        </p:txBody>
      </p:sp>
      <p:sp>
        <p:nvSpPr>
          <p:cNvPr id="47" name="b7 step 0 body"/>
          <p:cNvSpPr txBox="1"/>
          <p:nvPr/>
        </p:nvSpPr>
        <p:spPr>
          <a:xfrm>
            <a:off x="777240" y="4919472"/>
            <a:ext cx="2103120" cy="530352"/>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Incident, reports, privacy review and source/time metadata</a:t>
            </a:r>
            <a:endParaRPr lang="en-US" sz="1100" dirty="0"/>
          </a:p>
        </p:txBody>
      </p:sp>
      <p:sp>
        <p:nvSpPr>
          <p:cNvPr id="48" name="b7 step 1 name"/>
          <p:cNvSpPr txBox="1"/>
          <p:nvPr/>
        </p:nvSpPr>
        <p:spPr>
          <a:xfrm>
            <a:off x="3136392" y="4645152"/>
            <a:ext cx="2103120" cy="237744"/>
          </a:xfrm>
          <a:prstGeom prst="rect">
            <a:avLst/>
          </a:prstGeom>
          <a:noFill/>
        </p:spPr>
        <p:txBody>
          <a:bodyPr wrap="square" lIns="0" tIns="0" rIns="0" bIns="0" rtlCol="0" anchor="ctr"/>
          <a:lstStyle/>
          <a:p>
            <a:pPr marL="0" indent="0">
              <a:buNone/>
            </a:pPr>
            <a:r>
              <a:rPr lang="en-US" sz="1300" b="1" dirty="0">
                <a:solidFill>
                  <a:schemeClr val="accent1"/>
                </a:solidFill>
              </a:rPr>
              <a:t>02  </a:t>
            </a:r>
            <a:r>
              <a:rPr lang="en-US" sz="1300" b="1" dirty="0">
                <a:solidFill>
                  <a:schemeClr val="tx1"/>
                </a:solidFill>
              </a:rPr>
              <a:t>Analyze</a:t>
            </a:r>
            <a:endParaRPr lang="en-US" sz="1300" dirty="0"/>
          </a:p>
        </p:txBody>
      </p:sp>
      <p:sp>
        <p:nvSpPr>
          <p:cNvPr id="49" name="b7 step 1 body"/>
          <p:cNvSpPr txBox="1"/>
          <p:nvPr/>
        </p:nvSpPr>
        <p:spPr>
          <a:xfrm>
            <a:off x="3136392" y="4919472"/>
            <a:ext cx="2103120" cy="530352"/>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Scoped history, deterministic policy, model explanation</a:t>
            </a:r>
            <a:endParaRPr lang="en-US" sz="1100" dirty="0"/>
          </a:p>
        </p:txBody>
      </p:sp>
      <p:sp>
        <p:nvSpPr>
          <p:cNvPr id="50" name="b7 step 2 name"/>
          <p:cNvSpPr txBox="1"/>
          <p:nvPr/>
        </p:nvSpPr>
        <p:spPr>
          <a:xfrm>
            <a:off x="5495544" y="4645152"/>
            <a:ext cx="3017520" cy="237744"/>
          </a:xfrm>
          <a:prstGeom prst="rect">
            <a:avLst/>
          </a:prstGeom>
          <a:noFill/>
        </p:spPr>
        <p:txBody>
          <a:bodyPr wrap="square" lIns="0" tIns="0" rIns="0" bIns="0" rtlCol="0" anchor="ctr"/>
          <a:lstStyle/>
          <a:p>
            <a:pPr marL="0" indent="0">
              <a:buNone/>
            </a:pPr>
            <a:r>
              <a:rPr lang="en-US" sz="1300" b="1" dirty="0">
                <a:solidFill>
                  <a:schemeClr val="accent1"/>
                </a:solidFill>
              </a:rPr>
              <a:t>03  </a:t>
            </a:r>
            <a:r>
              <a:rPr lang="en-US" sz="1300" b="1" dirty="0">
                <a:solidFill>
                  <a:schemeClr val="tx1"/>
                </a:solidFill>
              </a:rPr>
              <a:t>Decide</a:t>
            </a:r>
            <a:endParaRPr lang="en-US" sz="1300" dirty="0"/>
          </a:p>
        </p:txBody>
      </p:sp>
      <p:sp>
        <p:nvSpPr>
          <p:cNvPr id="51" name="b7 step 2 body"/>
          <p:cNvSpPr txBox="1"/>
          <p:nvPr/>
        </p:nvSpPr>
        <p:spPr>
          <a:xfrm>
            <a:off x="5495544" y="4919472"/>
            <a:ext cx="3017520" cy="530352"/>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Accept, modify, reject or leave Pending; retain full reasons. Accepted does not mean executed; Pending does not mean approved.</a:t>
            </a:r>
            <a:endParaRPr lang="en-US" sz="1100" dirty="0"/>
          </a:p>
        </p:txBody>
      </p:sp>
      <p:sp>
        <p:nvSpPr>
          <p:cNvPr id="52" name="b7 step 3 name"/>
          <p:cNvSpPr txBox="1"/>
          <p:nvPr/>
        </p:nvSpPr>
        <p:spPr>
          <a:xfrm>
            <a:off x="8769096" y="4645152"/>
            <a:ext cx="2633472" cy="237744"/>
          </a:xfrm>
          <a:prstGeom prst="rect">
            <a:avLst/>
          </a:prstGeom>
          <a:noFill/>
        </p:spPr>
        <p:txBody>
          <a:bodyPr wrap="square" lIns="0" tIns="0" rIns="0" bIns="0" rtlCol="0" anchor="ctr"/>
          <a:lstStyle/>
          <a:p>
            <a:pPr marL="0" indent="0">
              <a:buNone/>
            </a:pPr>
            <a:r>
              <a:rPr lang="en-US" sz="1300" b="1" dirty="0">
                <a:solidFill>
                  <a:schemeClr val="accent1"/>
                </a:solidFill>
              </a:rPr>
              <a:t>04  </a:t>
            </a:r>
            <a:r>
              <a:rPr lang="en-US" sz="1300" b="1" dirty="0">
                <a:solidFill>
                  <a:schemeClr val="tx1"/>
                </a:solidFill>
              </a:rPr>
              <a:t>Revisit</a:t>
            </a:r>
            <a:endParaRPr lang="en-US" sz="1300" dirty="0"/>
          </a:p>
        </p:txBody>
      </p:sp>
      <p:sp>
        <p:nvSpPr>
          <p:cNvPr id="53" name="b7 step 3 body"/>
          <p:cNvSpPr txBox="1"/>
          <p:nvPr/>
        </p:nvSpPr>
        <p:spPr>
          <a:xfrm>
            <a:off x="8769096" y="4919472"/>
            <a:ext cx="2633472" cy="530352"/>
          </a:xfrm>
          <a:prstGeom prst="rect">
            <a:avLst/>
          </a:prstGeom>
          <a:noFill/>
        </p:spPr>
        <p:txBody>
          <a:bodyPr wrap="square" lIns="0" tIns="0" rIns="0" bIns="0" rtlCol="0" anchor="t"/>
          <a:lstStyle/>
          <a:p>
            <a:pPr marL="0" indent="0">
              <a:lnSpc>
                <a:spcPct val="105000"/>
              </a:lnSpc>
              <a:buNone/>
            </a:pPr>
            <a:r>
              <a:rPr lang="en-US" sz="1100" dirty="0">
                <a:solidFill>
                  <a:srgbClr val="262D36"/>
                </a:solidFill>
              </a:rPr>
              <a:t>Record outcomes later; reassess or edit; preserve revisions. An unrecorded outcome remains unknown.</a:t>
            </a:r>
            <a:endParaRPr lang="en-US" sz="1100" dirty="0"/>
          </a:p>
        </p:txBody>
      </p:sp>
      <p:sp>
        <p:nvSpPr>
          <p:cNvPr id="54" name="b8 across rule"/>
          <p:cNvSpPr/>
          <p:nvPr/>
        </p:nvSpPr>
        <p:spPr>
          <a:xfrm>
            <a:off x="777240" y="5495544"/>
            <a:ext cx="10637215" cy="0"/>
          </a:xfrm>
          <a:prstGeom prst="line">
            <a:avLst/>
          </a:prstGeom>
          <a:noFill/>
          <a:ln w="9525">
            <a:solidFill>
              <a:srgbClr val="D5DBE2"/>
            </a:solidFill>
            <a:prstDash val="solid"/>
          </a:ln>
        </p:spPr>
      </p:sp>
      <p:sp>
        <p:nvSpPr>
          <p:cNvPr id="55" name="b8 across label"/>
          <p:cNvSpPr txBox="1"/>
          <p:nvPr/>
        </p:nvSpPr>
        <p:spPr>
          <a:xfrm>
            <a:off x="777240" y="5559552"/>
            <a:ext cx="3749040" cy="201168"/>
          </a:xfrm>
          <a:prstGeom prst="rect">
            <a:avLst/>
          </a:prstGeom>
          <a:noFill/>
        </p:spPr>
        <p:txBody>
          <a:bodyPr wrap="square" lIns="0" tIns="0" rIns="0" bIns="0" rtlCol="0" anchor="ctr"/>
          <a:lstStyle/>
          <a:p>
            <a:pPr marL="0" indent="0">
              <a:buNone/>
            </a:pPr>
            <a:r>
              <a:rPr lang="en-US" sz="1100" b="1" dirty="0">
                <a:solidFill>
                  <a:schemeClr val="accent1"/>
                </a:solidFill>
              </a:rPr>
              <a:t>One record from evidence to later outcomes</a:t>
            </a:r>
            <a:endParaRPr lang="en-US" sz="1100" dirty="0"/>
          </a:p>
        </p:txBody>
      </p:sp>
      <p:pic>
        <p:nvPicPr>
          <p:cNvPr id="56" name="b8 cap icon 0" descr="preencoded.png"/>
          <p:cNvPicPr>
            <a:picLocks noChangeAspect="1"/>
          </p:cNvPicPr>
          <p:nvPr/>
        </p:nvPicPr>
        <p:blipFill>
          <a:blip r:embed="rId6"/>
          <a:stretch>
            <a:fillRect/>
          </a:stretch>
        </p:blipFill>
        <p:spPr>
          <a:xfrm>
            <a:off x="4663440" y="5577840"/>
            <a:ext cx="164592" cy="164592"/>
          </a:xfrm>
          <a:prstGeom prst="rect">
            <a:avLst/>
          </a:prstGeom>
        </p:spPr>
      </p:pic>
      <p:sp>
        <p:nvSpPr>
          <p:cNvPr id="57" name="b8 cap text 0"/>
          <p:cNvSpPr txBox="1"/>
          <p:nvPr/>
        </p:nvSpPr>
        <p:spPr>
          <a:xfrm>
            <a:off x="4892040" y="5559552"/>
            <a:ext cx="1362456" cy="201168"/>
          </a:xfrm>
          <a:prstGeom prst="rect">
            <a:avLst/>
          </a:prstGeom>
          <a:noFill/>
        </p:spPr>
        <p:txBody>
          <a:bodyPr wrap="square" lIns="0" tIns="0" rIns="0" bIns="0" rtlCol="0" anchor="ctr"/>
          <a:lstStyle/>
          <a:p>
            <a:pPr marL="0" indent="0">
              <a:buNone/>
            </a:pPr>
            <a:r>
              <a:rPr lang="en-US" sz="1050" dirty="0">
                <a:solidFill>
                  <a:schemeClr val="tx1"/>
                </a:solidFill>
              </a:rPr>
              <a:t>English and Chinese</a:t>
            </a:r>
            <a:endParaRPr lang="en-US" sz="1050" dirty="0"/>
          </a:p>
        </p:txBody>
      </p:sp>
      <p:pic>
        <p:nvPicPr>
          <p:cNvPr id="58" name="b8 cap icon 1" descr="preencoded.png"/>
          <p:cNvPicPr>
            <a:picLocks noChangeAspect="1"/>
          </p:cNvPicPr>
          <p:nvPr/>
        </p:nvPicPr>
        <p:blipFill>
          <a:blip r:embed="rId7"/>
          <a:stretch>
            <a:fillRect/>
          </a:stretch>
        </p:blipFill>
        <p:spPr>
          <a:xfrm>
            <a:off x="6483096" y="5577840"/>
            <a:ext cx="164592" cy="164592"/>
          </a:xfrm>
          <a:prstGeom prst="rect">
            <a:avLst/>
          </a:prstGeom>
        </p:spPr>
      </p:pic>
      <p:sp>
        <p:nvSpPr>
          <p:cNvPr id="59" name="b8 cap text 1"/>
          <p:cNvSpPr txBox="1"/>
          <p:nvPr/>
        </p:nvSpPr>
        <p:spPr>
          <a:xfrm>
            <a:off x="6711696" y="5559552"/>
            <a:ext cx="1170432" cy="201168"/>
          </a:xfrm>
          <a:prstGeom prst="rect">
            <a:avLst/>
          </a:prstGeom>
          <a:noFill/>
        </p:spPr>
        <p:txBody>
          <a:bodyPr wrap="square" lIns="0" tIns="0" rIns="0" bIns="0" rtlCol="0" anchor="ctr"/>
          <a:lstStyle/>
          <a:p>
            <a:pPr marL="0" indent="0">
              <a:buNone/>
            </a:pPr>
            <a:r>
              <a:rPr lang="en-US" sz="1050" dirty="0">
                <a:solidFill>
                  <a:schemeClr val="tx1"/>
                </a:solidFill>
              </a:rPr>
              <a:t>clickable citations</a:t>
            </a:r>
            <a:endParaRPr lang="en-US" sz="1050" dirty="0"/>
          </a:p>
        </p:txBody>
      </p:sp>
      <p:pic>
        <p:nvPicPr>
          <p:cNvPr id="60" name="b8 cap icon 2" descr="preencoded.png"/>
          <p:cNvPicPr>
            <a:picLocks noChangeAspect="1"/>
          </p:cNvPicPr>
          <p:nvPr/>
        </p:nvPicPr>
        <p:blipFill>
          <a:blip r:embed="rId8"/>
          <a:stretch>
            <a:fillRect/>
          </a:stretch>
        </p:blipFill>
        <p:spPr>
          <a:xfrm>
            <a:off x="8110728" y="5577840"/>
            <a:ext cx="164592" cy="164592"/>
          </a:xfrm>
          <a:prstGeom prst="rect">
            <a:avLst/>
          </a:prstGeom>
        </p:spPr>
      </p:pic>
      <p:sp>
        <p:nvSpPr>
          <p:cNvPr id="61" name="b8 cap text 2"/>
          <p:cNvSpPr txBox="1"/>
          <p:nvPr/>
        </p:nvSpPr>
        <p:spPr>
          <a:xfrm>
            <a:off x="8339328" y="5559552"/>
            <a:ext cx="1143000" cy="201168"/>
          </a:xfrm>
          <a:prstGeom prst="rect">
            <a:avLst/>
          </a:prstGeom>
          <a:noFill/>
        </p:spPr>
        <p:txBody>
          <a:bodyPr wrap="square" lIns="0" tIns="0" rIns="0" bIns="0" rtlCol="0" anchor="ctr"/>
          <a:lstStyle/>
          <a:p>
            <a:pPr marL="0" indent="0">
              <a:buNone/>
            </a:pPr>
            <a:r>
              <a:rPr lang="en-US" sz="1050" dirty="0">
                <a:solidFill>
                  <a:schemeClr val="tx1"/>
                </a:solidFill>
              </a:rPr>
              <a:t>versioned history</a:t>
            </a:r>
            <a:endParaRPr lang="en-US" sz="1050" dirty="0"/>
          </a:p>
        </p:txBody>
      </p:sp>
      <p:pic>
        <p:nvPicPr>
          <p:cNvPr id="62" name="b8 cap icon 3" descr="preencoded.png"/>
          <p:cNvPicPr>
            <a:picLocks noChangeAspect="1"/>
          </p:cNvPicPr>
          <p:nvPr/>
        </p:nvPicPr>
        <p:blipFill>
          <a:blip r:embed="rId9"/>
          <a:stretch>
            <a:fillRect/>
          </a:stretch>
        </p:blipFill>
        <p:spPr>
          <a:xfrm>
            <a:off x="9710928" y="5577840"/>
            <a:ext cx="164592" cy="164592"/>
          </a:xfrm>
          <a:prstGeom prst="rect">
            <a:avLst/>
          </a:prstGeom>
        </p:spPr>
      </p:pic>
      <p:sp>
        <p:nvSpPr>
          <p:cNvPr id="63" name="b8 cap text 3"/>
          <p:cNvSpPr txBox="1"/>
          <p:nvPr/>
        </p:nvSpPr>
        <p:spPr>
          <a:xfrm>
            <a:off x="9939528" y="5559552"/>
            <a:ext cx="1453896" cy="201168"/>
          </a:xfrm>
          <a:prstGeom prst="rect">
            <a:avLst/>
          </a:prstGeom>
          <a:noFill/>
        </p:spPr>
        <p:txBody>
          <a:bodyPr wrap="square" lIns="0" tIns="0" rIns="0" bIns="0" rtlCol="0" anchor="ctr"/>
          <a:lstStyle/>
          <a:p>
            <a:pPr marL="0" indent="0">
              <a:buNone/>
            </a:pPr>
            <a:r>
              <a:rPr lang="en-US" sz="1050" dirty="0">
                <a:solidFill>
                  <a:schemeClr val="tx1"/>
                </a:solidFill>
              </a:rPr>
              <a:t>JSON export and print</a:t>
            </a:r>
            <a:endParaRPr lang="en-US" sz="1050" dirty="0"/>
          </a:p>
        </p:txBody>
      </p:sp>
      <p:sp>
        <p:nvSpPr>
          <p:cNvPr id="64" name="source"/>
          <p:cNvSpPr txBox="1"/>
          <p:nvPr/>
        </p:nvSpPr>
        <p:spPr>
          <a:xfrm>
            <a:off x="548640" y="6053328"/>
            <a:ext cx="11064240" cy="219456"/>
          </a:xfrm>
          <a:prstGeom prst="rect">
            <a:avLst/>
          </a:prstGeom>
          <a:noFill/>
        </p:spPr>
        <p:txBody>
          <a:bodyPr wrap="square" lIns="0" tIns="0" rIns="0" bIns="0" rtlCol="0" anchor="t"/>
          <a:lstStyle/>
          <a:p>
            <a:pPr marL="0" indent="0">
              <a:buNone/>
            </a:pPr>
            <a:r>
              <a:rPr lang="en-US" sz="1000" dirty="0">
                <a:solidFill>
                  <a:schemeClr val="accent5"/>
                </a:solidFill>
              </a:rPr>
              <a:t>Screens: real captures of the local prototype with fictional data (8ad14e3 build; UI unchanged in 27f5ec9). Ease of use and time savings were not measured.</a:t>
            </a:r>
            <a:endParaRPr lang="en-US" sz="100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600"/>
                                        <p:tgtEl>
                                          <p:spTgt spid="9"/>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0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0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400"/>
                                        <p:tgtEl>
                                          <p:spTgt spid="16"/>
                                        </p:tgtEl>
                                      </p:cBhvr>
                                    </p:animEffect>
                                  </p:childTnLst>
                                </p:cTn>
                              </p:par>
                            </p:childTnLst>
                          </p:cTn>
                        </p:par>
                        <p:par>
                          <p:cTn id="30" fill="hold">
                            <p:stCondLst>
                              <p:cond delay="1500"/>
                            </p:stCondLst>
                            <p:childTnLst>
                              <p:par>
                                <p:cTn id="31" presetID="10" presetClass="entr" presetSubtype="0" fill="hold" grpId="0" nodeType="after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0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00"/>
                                        <p:tgtEl>
                                          <p:spTgt spid="2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childTnLst>
                          </p:cTn>
                        </p:par>
                        <p:par>
                          <p:cTn id="52" fill="hold">
                            <p:stCondLst>
                              <p:cond delay="200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4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400"/>
                                        <p:tgtEl>
                                          <p:spTgt spid="25"/>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40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00"/>
                                        <p:tgtEl>
                                          <p:spTgt spid="2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9"/>
                                        </p:tgtEl>
                                        <p:attrNameLst>
                                          <p:attrName>style.visibility</p:attrName>
                                        </p:attrNameLst>
                                      </p:cBhvr>
                                      <p:to>
                                        <p:strVal val="visible"/>
                                      </p:to>
                                    </p:set>
                                    <p:animEffect transition="in" filter="fade">
                                      <p:cBhvr>
                                        <p:cTn id="70" dur="400"/>
                                        <p:tgtEl>
                                          <p:spTgt spid="2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400"/>
                                        <p:tgtEl>
                                          <p:spTgt spid="30"/>
                                        </p:tgtEl>
                                      </p:cBhvr>
                                    </p:animEffect>
                                  </p:childTnLst>
                                </p:cTn>
                              </p:par>
                            </p:childTnLst>
                          </p:cTn>
                        </p:par>
                        <p:par>
                          <p:cTn id="74" fill="hold">
                            <p:stCondLst>
                              <p:cond delay="2500"/>
                            </p:stCondLst>
                            <p:childTnLst>
                              <p:par>
                                <p:cTn id="75" presetID="10"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00"/>
                                        <p:tgtEl>
                                          <p:spTgt spid="3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400"/>
                                        <p:tgtEl>
                                          <p:spTgt spid="32"/>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400"/>
                                        <p:tgtEl>
                                          <p:spTgt spid="33"/>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4"/>
                                        </p:tgtEl>
                                        <p:attrNameLst>
                                          <p:attrName>style.visibility</p:attrName>
                                        </p:attrNameLst>
                                      </p:cBhvr>
                                      <p:to>
                                        <p:strVal val="visible"/>
                                      </p:to>
                                    </p:set>
                                    <p:animEffect transition="in" filter="fade">
                                      <p:cBhvr>
                                        <p:cTn id="86" dur="400"/>
                                        <p:tgtEl>
                                          <p:spTgt spid="34"/>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400"/>
                                        <p:tgtEl>
                                          <p:spTgt spid="35"/>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6"/>
                                        </p:tgtEl>
                                        <p:attrNameLst>
                                          <p:attrName>style.visibility</p:attrName>
                                        </p:attrNameLst>
                                      </p:cBhvr>
                                      <p:to>
                                        <p:strVal val="visible"/>
                                      </p:to>
                                    </p:set>
                                    <p:animEffect transition="in" filter="fade">
                                      <p:cBhvr>
                                        <p:cTn id="92" dur="400"/>
                                        <p:tgtEl>
                                          <p:spTgt spid="3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400"/>
                                        <p:tgtEl>
                                          <p:spTgt spid="37"/>
                                        </p:tgtEl>
                                      </p:cBhvr>
                                    </p:animEffect>
                                  </p:childTnLst>
                                </p:cTn>
                              </p:par>
                            </p:childTnLst>
                          </p:cTn>
                        </p:par>
                        <p:par>
                          <p:cTn id="96" fill="hold">
                            <p:stCondLst>
                              <p:cond delay="3000"/>
                            </p:stCondLst>
                            <p:childTnLst>
                              <p:par>
                                <p:cTn id="97" presetID="10" presetClass="entr" presetSubtype="0"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400"/>
                                        <p:tgtEl>
                                          <p:spTgt spid="3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400"/>
                                        <p:tgtEl>
                                          <p:spTgt spid="39"/>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0"/>
                                        </p:tgtEl>
                                        <p:attrNameLst>
                                          <p:attrName>style.visibility</p:attrName>
                                        </p:attrNameLst>
                                      </p:cBhvr>
                                      <p:to>
                                        <p:strVal val="visible"/>
                                      </p:to>
                                    </p:set>
                                    <p:animEffect transition="in" filter="fade">
                                      <p:cBhvr>
                                        <p:cTn id="105" dur="400"/>
                                        <p:tgtEl>
                                          <p:spTgt spid="40"/>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400"/>
                                        <p:tgtEl>
                                          <p:spTgt spid="41"/>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400"/>
                                        <p:tgtEl>
                                          <p:spTgt spid="42"/>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4" dur="400"/>
                                        <p:tgtEl>
                                          <p:spTgt spid="43"/>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4"/>
                                        </p:tgtEl>
                                        <p:attrNameLst>
                                          <p:attrName>style.visibility</p:attrName>
                                        </p:attrNameLst>
                                      </p:cBhvr>
                                      <p:to>
                                        <p:strVal val="visible"/>
                                      </p:to>
                                    </p:set>
                                    <p:animEffect transition="in" filter="fade">
                                      <p:cBhvr>
                                        <p:cTn id="117" dur="400"/>
                                        <p:tgtEl>
                                          <p:spTgt spid="44"/>
                                        </p:tgtEl>
                                      </p:cBhvr>
                                    </p:animEffect>
                                  </p:childTnLst>
                                </p:cTn>
                              </p:par>
                            </p:childTnLst>
                          </p:cTn>
                        </p:par>
                        <p:par>
                          <p:cTn id="118" fill="hold">
                            <p:stCondLst>
                              <p:cond delay="3500"/>
                            </p:stCondLst>
                            <p:childTnLst>
                              <p:par>
                                <p:cTn id="119" presetID="10" presetClass="entr" presetSubtype="0" fill="hold" grpId="0" nodeType="afterEffect">
                                  <p:stCondLst>
                                    <p:cond delay="0"/>
                                  </p:stCondLst>
                                  <p:childTnLst>
                                    <p:set>
                                      <p:cBhvr>
                                        <p:cTn id="120" dur="1" fill="hold">
                                          <p:stCondLst>
                                            <p:cond delay="0"/>
                                          </p:stCondLst>
                                        </p:cTn>
                                        <p:tgtEl>
                                          <p:spTgt spid="45"/>
                                        </p:tgtEl>
                                        <p:attrNameLst>
                                          <p:attrName>style.visibility</p:attrName>
                                        </p:attrNameLst>
                                      </p:cBhvr>
                                      <p:to>
                                        <p:strVal val="visible"/>
                                      </p:to>
                                    </p:set>
                                    <p:animEffect transition="in" filter="fade">
                                      <p:cBhvr>
                                        <p:cTn id="121" dur="400"/>
                                        <p:tgtEl>
                                          <p:spTgt spid="45"/>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6"/>
                                        </p:tgtEl>
                                        <p:attrNameLst>
                                          <p:attrName>style.visibility</p:attrName>
                                        </p:attrNameLst>
                                      </p:cBhvr>
                                      <p:to>
                                        <p:strVal val="visible"/>
                                      </p:to>
                                    </p:set>
                                    <p:animEffect transition="in" filter="fade">
                                      <p:cBhvr>
                                        <p:cTn id="124" dur="400"/>
                                        <p:tgtEl>
                                          <p:spTgt spid="46"/>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7"/>
                                        </p:tgtEl>
                                        <p:attrNameLst>
                                          <p:attrName>style.visibility</p:attrName>
                                        </p:attrNameLst>
                                      </p:cBhvr>
                                      <p:to>
                                        <p:strVal val="visible"/>
                                      </p:to>
                                    </p:set>
                                    <p:animEffect transition="in" filter="fade">
                                      <p:cBhvr>
                                        <p:cTn id="127" dur="400"/>
                                        <p:tgtEl>
                                          <p:spTgt spid="47"/>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8"/>
                                        </p:tgtEl>
                                        <p:attrNameLst>
                                          <p:attrName>style.visibility</p:attrName>
                                        </p:attrNameLst>
                                      </p:cBhvr>
                                      <p:to>
                                        <p:strVal val="visible"/>
                                      </p:to>
                                    </p:set>
                                    <p:animEffect transition="in" filter="fade">
                                      <p:cBhvr>
                                        <p:cTn id="130" dur="400"/>
                                        <p:tgtEl>
                                          <p:spTgt spid="48"/>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9"/>
                                        </p:tgtEl>
                                        <p:attrNameLst>
                                          <p:attrName>style.visibility</p:attrName>
                                        </p:attrNameLst>
                                      </p:cBhvr>
                                      <p:to>
                                        <p:strVal val="visible"/>
                                      </p:to>
                                    </p:set>
                                    <p:animEffect transition="in" filter="fade">
                                      <p:cBhvr>
                                        <p:cTn id="133" dur="400"/>
                                        <p:tgtEl>
                                          <p:spTgt spid="49"/>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50"/>
                                        </p:tgtEl>
                                        <p:attrNameLst>
                                          <p:attrName>style.visibility</p:attrName>
                                        </p:attrNameLst>
                                      </p:cBhvr>
                                      <p:to>
                                        <p:strVal val="visible"/>
                                      </p:to>
                                    </p:set>
                                    <p:animEffect transition="in" filter="fade">
                                      <p:cBhvr>
                                        <p:cTn id="136" dur="400"/>
                                        <p:tgtEl>
                                          <p:spTgt spid="50"/>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51"/>
                                        </p:tgtEl>
                                        <p:attrNameLst>
                                          <p:attrName>style.visibility</p:attrName>
                                        </p:attrNameLst>
                                      </p:cBhvr>
                                      <p:to>
                                        <p:strVal val="visible"/>
                                      </p:to>
                                    </p:set>
                                    <p:animEffect transition="in" filter="fade">
                                      <p:cBhvr>
                                        <p:cTn id="139" dur="400"/>
                                        <p:tgtEl>
                                          <p:spTgt spid="51"/>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52"/>
                                        </p:tgtEl>
                                        <p:attrNameLst>
                                          <p:attrName>style.visibility</p:attrName>
                                        </p:attrNameLst>
                                      </p:cBhvr>
                                      <p:to>
                                        <p:strVal val="visible"/>
                                      </p:to>
                                    </p:set>
                                    <p:animEffect transition="in" filter="fade">
                                      <p:cBhvr>
                                        <p:cTn id="142" dur="400"/>
                                        <p:tgtEl>
                                          <p:spTgt spid="52"/>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fade">
                                      <p:cBhvr>
                                        <p:cTn id="145" dur="400"/>
                                        <p:tgtEl>
                                          <p:spTgt spid="53"/>
                                        </p:tgtEl>
                                      </p:cBhvr>
                                    </p:animEffect>
                                  </p:childTnLst>
                                </p:cTn>
                              </p:par>
                            </p:childTnLst>
                          </p:cTn>
                        </p:par>
                        <p:par>
                          <p:cTn id="146" fill="hold">
                            <p:stCondLst>
                              <p:cond delay="4000"/>
                            </p:stCondLst>
                            <p:childTnLst>
                              <p:par>
                                <p:cTn id="147" presetID="10" presetClass="entr" presetSubtype="0" fill="hold" grpId="0" nodeType="afterEffect">
                                  <p:stCondLst>
                                    <p:cond delay="0"/>
                                  </p:stCondLst>
                                  <p:childTnLst>
                                    <p:set>
                                      <p:cBhvr>
                                        <p:cTn id="148" dur="1" fill="hold">
                                          <p:stCondLst>
                                            <p:cond delay="0"/>
                                          </p:stCondLst>
                                        </p:cTn>
                                        <p:tgtEl>
                                          <p:spTgt spid="54"/>
                                        </p:tgtEl>
                                        <p:attrNameLst>
                                          <p:attrName>style.visibility</p:attrName>
                                        </p:attrNameLst>
                                      </p:cBhvr>
                                      <p:to>
                                        <p:strVal val="visible"/>
                                      </p:to>
                                    </p:set>
                                    <p:animEffect transition="in" filter="fade">
                                      <p:cBhvr>
                                        <p:cTn id="149" dur="400"/>
                                        <p:tgtEl>
                                          <p:spTgt spid="5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5"/>
                                        </p:tgtEl>
                                        <p:attrNameLst>
                                          <p:attrName>style.visibility</p:attrName>
                                        </p:attrNameLst>
                                      </p:cBhvr>
                                      <p:to>
                                        <p:strVal val="visible"/>
                                      </p:to>
                                    </p:set>
                                    <p:animEffect transition="in" filter="fade">
                                      <p:cBhvr>
                                        <p:cTn id="152" dur="400"/>
                                        <p:tgtEl>
                                          <p:spTgt spid="5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fade">
                                      <p:cBhvr>
                                        <p:cTn id="155" dur="400"/>
                                        <p:tgtEl>
                                          <p:spTgt spid="5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Effect transition="in" filter="fade">
                                      <p:cBhvr>
                                        <p:cTn id="158" dur="400"/>
                                        <p:tgtEl>
                                          <p:spTgt spid="57"/>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8"/>
                                        </p:tgtEl>
                                        <p:attrNameLst>
                                          <p:attrName>style.visibility</p:attrName>
                                        </p:attrNameLst>
                                      </p:cBhvr>
                                      <p:to>
                                        <p:strVal val="visible"/>
                                      </p:to>
                                    </p:set>
                                    <p:animEffect transition="in" filter="fade">
                                      <p:cBhvr>
                                        <p:cTn id="161" dur="400"/>
                                        <p:tgtEl>
                                          <p:spTgt spid="58"/>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9"/>
                                        </p:tgtEl>
                                        <p:attrNameLst>
                                          <p:attrName>style.visibility</p:attrName>
                                        </p:attrNameLst>
                                      </p:cBhvr>
                                      <p:to>
                                        <p:strVal val="visible"/>
                                      </p:to>
                                    </p:set>
                                    <p:animEffect transition="in" filter="fade">
                                      <p:cBhvr>
                                        <p:cTn id="164" dur="400"/>
                                        <p:tgtEl>
                                          <p:spTgt spid="5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60"/>
                                        </p:tgtEl>
                                        <p:attrNameLst>
                                          <p:attrName>style.visibility</p:attrName>
                                        </p:attrNameLst>
                                      </p:cBhvr>
                                      <p:to>
                                        <p:strVal val="visible"/>
                                      </p:to>
                                    </p:set>
                                    <p:animEffect transition="in" filter="fade">
                                      <p:cBhvr>
                                        <p:cTn id="167" dur="400"/>
                                        <p:tgtEl>
                                          <p:spTgt spid="60"/>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1"/>
                                        </p:tgtEl>
                                        <p:attrNameLst>
                                          <p:attrName>style.visibility</p:attrName>
                                        </p:attrNameLst>
                                      </p:cBhvr>
                                      <p:to>
                                        <p:strVal val="visible"/>
                                      </p:to>
                                    </p:set>
                                    <p:animEffect transition="in" filter="fade">
                                      <p:cBhvr>
                                        <p:cTn id="170" dur="400"/>
                                        <p:tgtEl>
                                          <p:spTgt spid="61"/>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62"/>
                                        </p:tgtEl>
                                        <p:attrNameLst>
                                          <p:attrName>style.visibility</p:attrName>
                                        </p:attrNameLst>
                                      </p:cBhvr>
                                      <p:to>
                                        <p:strVal val="visible"/>
                                      </p:to>
                                    </p:set>
                                    <p:animEffect transition="in" filter="fade">
                                      <p:cBhvr>
                                        <p:cTn id="173" dur="400"/>
                                        <p:tgtEl>
                                          <p:spTgt spid="62"/>
                                        </p:tgtEl>
                                      </p:cBhvr>
                                    </p:animEffect>
                                  </p:childTnLst>
                                </p:cTn>
                              </p:par>
                              <p:par>
                                <p:cTn id="174" presetID="10" presetClass="entr" presetSubtype="0" fill="hold" grpId="0" nodeType="withEffect">
                                  <p:stCondLst>
                                    <p:cond delay="0"/>
                                  </p:stCondLst>
                                  <p:childTnLst>
                                    <p:set>
                                      <p:cBhvr>
                                        <p:cTn id="175" dur="1" fill="hold">
                                          <p:stCondLst>
                                            <p:cond delay="0"/>
                                          </p:stCondLst>
                                        </p:cTn>
                                        <p:tgtEl>
                                          <p:spTgt spid="63"/>
                                        </p:tgtEl>
                                        <p:attrNameLst>
                                          <p:attrName>style.visibility</p:attrName>
                                        </p:attrNameLst>
                                      </p:cBhvr>
                                      <p:to>
                                        <p:strVal val="visible"/>
                                      </p:to>
                                    </p:set>
                                    <p:animEffect transition="in" filter="fade">
                                      <p:cBhvr>
                                        <p:cTn id="17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7" grpId="0" animBg="1"/>
      <p:bldP spid="59" grpId="0" animBg="1"/>
      <p:bldP spid="61" grpId="0" animBg="1"/>
      <p:bldP spid="6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HOW IT WORKS</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Calculate constraints first. Generate prose second.</a:t>
            </a:r>
            <a:endParaRPr lang="en-US" sz="3000" dirty="0"/>
          </a:p>
        </p:txBody>
      </p:sp>
      <p:sp>
        <p:nvSpPr>
          <p:cNvPr id="8" name="subtitle"/>
          <p:cNvSpPr txBox="1"/>
          <p:nvPr/>
        </p:nvSpPr>
        <p:spPr>
          <a:xfrm>
            <a:off x="548640" y="1344168"/>
            <a:ext cx="11064240" cy="365760"/>
          </a:xfrm>
          <a:prstGeom prst="rect">
            <a:avLst/>
          </a:prstGeom>
          <a:noFill/>
        </p:spPr>
        <p:txBody>
          <a:bodyPr wrap="square" lIns="0" tIns="0" rIns="0" bIns="0" rtlCol="0" anchor="t"/>
          <a:lstStyle/>
          <a:p>
            <a:pPr marL="0" indent="0">
              <a:buNone/>
            </a:pPr>
            <a:r>
              <a:rPr lang="en-US" sz="1600" dirty="0">
                <a:solidFill>
                  <a:schemeClr val="accent5"/>
                </a:solidFill>
              </a:rPr>
              <a:t>The model receives scoped evidence and policy results; validation cannot prove every sentence true.</a:t>
            </a:r>
            <a:endParaRPr lang="en-US" sz="1600" dirty="0"/>
          </a:p>
        </p:txBody>
      </p:sp>
      <p:sp>
        <p:nvSpPr>
          <p:cNvPr id="9" name="b1 card"/>
          <p:cNvSpPr/>
          <p:nvPr/>
        </p:nvSpPr>
        <p:spPr>
          <a:xfrm>
            <a:off x="548640" y="1965960"/>
            <a:ext cx="5257800" cy="3977640"/>
          </a:xfrm>
          <a:prstGeom prst="roundRect">
            <a:avLst>
              <a:gd name="adj" fmla="val 1379"/>
            </a:avLst>
          </a:prstGeom>
          <a:solidFill>
            <a:srgbClr val="0D1117"/>
          </a:solidFill>
        </p:spPr>
      </p:sp>
      <p:sp>
        <p:nvSpPr>
          <p:cNvPr id="10" name="b1 step"/>
          <p:cNvSpPr txBox="1"/>
          <p:nvPr/>
        </p:nvSpPr>
        <p:spPr>
          <a:xfrm>
            <a:off x="868680" y="2212848"/>
            <a:ext cx="2743200" cy="228600"/>
          </a:xfrm>
          <a:prstGeom prst="rect">
            <a:avLst/>
          </a:prstGeom>
          <a:noFill/>
        </p:spPr>
        <p:txBody>
          <a:bodyPr wrap="square" lIns="0" tIns="0" rIns="0" bIns="0" rtlCol="0" anchor="t"/>
          <a:lstStyle/>
          <a:p>
            <a:pPr marL="0" indent="0">
              <a:buNone/>
            </a:pPr>
            <a:r>
              <a:rPr lang="en-US" sz="1000" b="1" kern="0" spc="150" dirty="0">
                <a:solidFill>
                  <a:srgbClr val="FF5FB5"/>
                </a:solidFill>
              </a:rPr>
              <a:t>1  ·  CALCULATE</a:t>
            </a:r>
            <a:endParaRPr lang="en-US" sz="1000" dirty="0"/>
          </a:p>
        </p:txBody>
      </p:sp>
      <p:sp>
        <p:nvSpPr>
          <p:cNvPr id="11" name="b1 head"/>
          <p:cNvSpPr txBox="1"/>
          <p:nvPr/>
        </p:nvSpPr>
        <p:spPr>
          <a:xfrm>
            <a:off x="868680" y="2487168"/>
            <a:ext cx="4572000" cy="411480"/>
          </a:xfrm>
          <a:prstGeom prst="rect">
            <a:avLst/>
          </a:prstGeom>
          <a:noFill/>
        </p:spPr>
        <p:txBody>
          <a:bodyPr wrap="square" lIns="0" tIns="0" rIns="0" bIns="0" rtlCol="0" anchor="t"/>
          <a:lstStyle/>
          <a:p>
            <a:pPr marL="0" indent="0">
              <a:buNone/>
            </a:pPr>
            <a:r>
              <a:rPr lang="en-US" sz="2100" b="1" dirty="0">
                <a:solidFill>
                  <a:schemeClr val="bg1"/>
                </a:solidFill>
              </a:rPr>
              <a:t>Deterministic context</a:t>
            </a:r>
            <a:endParaRPr lang="en-US" sz="2100" dirty="0"/>
          </a:p>
        </p:txBody>
      </p:sp>
      <p:pic>
        <p:nvPicPr>
          <p:cNvPr id="12" name="b1 ctx icon 0" descr="preencoded.png"/>
          <p:cNvPicPr>
            <a:picLocks noChangeAspect="1"/>
          </p:cNvPicPr>
          <p:nvPr/>
        </p:nvPicPr>
        <p:blipFill>
          <a:blip r:embed="rId1"/>
          <a:stretch>
            <a:fillRect/>
          </a:stretch>
        </p:blipFill>
        <p:spPr>
          <a:xfrm>
            <a:off x="868680" y="3218688"/>
            <a:ext cx="310896" cy="310896"/>
          </a:xfrm>
          <a:prstGeom prst="rect">
            <a:avLst/>
          </a:prstGeom>
        </p:spPr>
      </p:pic>
      <p:sp>
        <p:nvSpPr>
          <p:cNvPr id="13" name="b1 ctx 0"/>
          <p:cNvSpPr txBox="1"/>
          <p:nvPr/>
        </p:nvSpPr>
        <p:spPr>
          <a:xfrm>
            <a:off x="1371600" y="3182112"/>
            <a:ext cx="4206240" cy="384048"/>
          </a:xfrm>
          <a:prstGeom prst="rect">
            <a:avLst/>
          </a:prstGeom>
          <a:noFill/>
        </p:spPr>
        <p:txBody>
          <a:bodyPr wrap="square" lIns="0" tIns="0" rIns="0" bIns="0" rtlCol="0" anchor="ctr"/>
          <a:lstStyle/>
          <a:p>
            <a:pPr marL="0" indent="0">
              <a:buNone/>
            </a:pPr>
            <a:r>
              <a:rPr lang="en-US" sz="1500" dirty="0">
                <a:solidFill>
                  <a:schemeClr val="bg1"/>
                </a:solidFill>
              </a:rPr>
              <a:t>Current reports within ±30 minutes</a:t>
            </a:r>
            <a:endParaRPr lang="en-US" sz="1500" dirty="0"/>
          </a:p>
        </p:txBody>
      </p:sp>
      <p:pic>
        <p:nvPicPr>
          <p:cNvPr id="14" name="b1 ctx icon 1" descr="preencoded.png"/>
          <p:cNvPicPr>
            <a:picLocks noChangeAspect="1"/>
          </p:cNvPicPr>
          <p:nvPr/>
        </p:nvPicPr>
        <p:blipFill>
          <a:blip r:embed="rId2"/>
          <a:stretch>
            <a:fillRect/>
          </a:stretch>
        </p:blipFill>
        <p:spPr>
          <a:xfrm>
            <a:off x="868680" y="3858768"/>
            <a:ext cx="310896" cy="310896"/>
          </a:xfrm>
          <a:prstGeom prst="rect">
            <a:avLst/>
          </a:prstGeom>
        </p:spPr>
      </p:pic>
      <p:sp>
        <p:nvSpPr>
          <p:cNvPr id="15" name="b1 ctx 1"/>
          <p:cNvSpPr txBox="1"/>
          <p:nvPr/>
        </p:nvSpPr>
        <p:spPr>
          <a:xfrm>
            <a:off x="1371600" y="3822192"/>
            <a:ext cx="4206240" cy="384048"/>
          </a:xfrm>
          <a:prstGeom prst="rect">
            <a:avLst/>
          </a:prstGeom>
          <a:noFill/>
        </p:spPr>
        <p:txBody>
          <a:bodyPr wrap="square" lIns="0" tIns="0" rIns="0" bIns="0" rtlCol="0" anchor="ctr"/>
          <a:lstStyle/>
          <a:p>
            <a:pPr marL="0" indent="0">
              <a:buNone/>
            </a:pPr>
            <a:r>
              <a:rPr lang="en-US" sz="1500" dirty="0">
                <a:solidFill>
                  <a:schemeClr val="bg1"/>
                </a:solidFill>
              </a:rPr>
              <a:t>Historical mean: up to 12 prior months</a:t>
            </a:r>
            <a:endParaRPr lang="en-US" sz="1500" dirty="0"/>
          </a:p>
        </p:txBody>
      </p:sp>
      <p:pic>
        <p:nvPicPr>
          <p:cNvPr id="16" name="b1 ctx icon 2" descr="preencoded.png"/>
          <p:cNvPicPr>
            <a:picLocks noChangeAspect="1"/>
          </p:cNvPicPr>
          <p:nvPr/>
        </p:nvPicPr>
        <p:blipFill>
          <a:blip r:embed="rId3"/>
          <a:stretch>
            <a:fillRect/>
          </a:stretch>
        </p:blipFill>
        <p:spPr>
          <a:xfrm>
            <a:off x="868680" y="4498848"/>
            <a:ext cx="310896" cy="310896"/>
          </a:xfrm>
          <a:prstGeom prst="rect">
            <a:avLst/>
          </a:prstGeom>
        </p:spPr>
      </p:pic>
      <p:sp>
        <p:nvSpPr>
          <p:cNvPr id="17" name="b1 ctx 2"/>
          <p:cNvSpPr txBox="1"/>
          <p:nvPr/>
        </p:nvSpPr>
        <p:spPr>
          <a:xfrm>
            <a:off x="1371600" y="4462272"/>
            <a:ext cx="4206240" cy="384048"/>
          </a:xfrm>
          <a:prstGeom prst="rect">
            <a:avLst/>
          </a:prstGeom>
          <a:noFill/>
        </p:spPr>
        <p:txBody>
          <a:bodyPr wrap="square" lIns="0" tIns="0" rIns="0" bIns="0" rtlCol="0" anchor="ctr"/>
          <a:lstStyle/>
          <a:p>
            <a:pPr marL="0" indent="0">
              <a:buNone/>
            </a:pPr>
            <a:r>
              <a:rPr lang="en-US" sz="1500" dirty="0">
                <a:solidFill>
                  <a:schemeClr val="bg1"/>
                </a:solidFill>
              </a:rPr>
              <a:t>Source independence and stop conditions</a:t>
            </a:r>
            <a:endParaRPr lang="en-US" sz="1500" dirty="0"/>
          </a:p>
        </p:txBody>
      </p:sp>
      <p:pic>
        <p:nvPicPr>
          <p:cNvPr id="18" name="b1 ctx icon 3" descr="preencoded.png"/>
          <p:cNvPicPr>
            <a:picLocks noChangeAspect="1"/>
          </p:cNvPicPr>
          <p:nvPr/>
        </p:nvPicPr>
        <p:blipFill>
          <a:blip r:embed="rId4"/>
          <a:stretch>
            <a:fillRect/>
          </a:stretch>
        </p:blipFill>
        <p:spPr>
          <a:xfrm>
            <a:off x="868680" y="5138928"/>
            <a:ext cx="310896" cy="310896"/>
          </a:xfrm>
          <a:prstGeom prst="rect">
            <a:avLst/>
          </a:prstGeom>
        </p:spPr>
      </p:pic>
      <p:sp>
        <p:nvSpPr>
          <p:cNvPr id="19" name="b1 ctx 3"/>
          <p:cNvSpPr txBox="1"/>
          <p:nvPr/>
        </p:nvSpPr>
        <p:spPr>
          <a:xfrm>
            <a:off x="1371600" y="5102352"/>
            <a:ext cx="4206240" cy="384048"/>
          </a:xfrm>
          <a:prstGeom prst="rect">
            <a:avLst/>
          </a:prstGeom>
          <a:noFill/>
        </p:spPr>
        <p:txBody>
          <a:bodyPr wrap="square" lIns="0" tIns="0" rIns="0" bIns="0" rtlCol="0" anchor="ctr"/>
          <a:lstStyle/>
          <a:p>
            <a:pPr marL="0" indent="0">
              <a:buNone/>
            </a:pPr>
            <a:r>
              <a:rPr lang="en-US" sz="1500" dirty="0">
                <a:solidFill>
                  <a:schemeClr val="bg1"/>
                </a:solidFill>
              </a:rPr>
              <a:t>Known evidence / metric identifiers</a:t>
            </a:r>
            <a:endParaRPr lang="en-US" sz="1500" dirty="0"/>
          </a:p>
        </p:txBody>
      </p:sp>
      <p:sp>
        <p:nvSpPr>
          <p:cNvPr id="20" name="b2 arrow"/>
          <p:cNvSpPr/>
          <p:nvPr/>
        </p:nvSpPr>
        <p:spPr>
          <a:xfrm>
            <a:off x="5916168" y="3749040"/>
            <a:ext cx="438912" cy="384048"/>
          </a:xfrm>
          <a:prstGeom prst="rightArrow">
            <a:avLst/>
          </a:prstGeom>
          <a:solidFill>
            <a:srgbClr val="C2187A"/>
          </a:solidFill>
        </p:spPr>
      </p:sp>
      <p:sp>
        <p:nvSpPr>
          <p:cNvPr id="21" name="b2 card"/>
          <p:cNvSpPr/>
          <p:nvPr/>
        </p:nvSpPr>
        <p:spPr>
          <a:xfrm>
            <a:off x="6464808" y="1965960"/>
            <a:ext cx="5175504" cy="1828800"/>
          </a:xfrm>
          <a:prstGeom prst="roundRect">
            <a:avLst>
              <a:gd name="adj" fmla="val 3000"/>
            </a:avLst>
          </a:prstGeom>
          <a:solidFill>
            <a:srgbClr val="F1F3F5"/>
          </a:solidFill>
        </p:spPr>
      </p:sp>
      <p:sp>
        <p:nvSpPr>
          <p:cNvPr id="22" name="b2 step"/>
          <p:cNvSpPr txBox="1"/>
          <p:nvPr/>
        </p:nvSpPr>
        <p:spPr>
          <a:xfrm>
            <a:off x="6766560" y="2176272"/>
            <a:ext cx="2743200" cy="228600"/>
          </a:xfrm>
          <a:prstGeom prst="rect">
            <a:avLst/>
          </a:prstGeom>
          <a:noFill/>
        </p:spPr>
        <p:txBody>
          <a:bodyPr wrap="square" lIns="0" tIns="0" rIns="0" bIns="0" rtlCol="0" anchor="t"/>
          <a:lstStyle/>
          <a:p>
            <a:pPr marL="0" indent="0">
              <a:buNone/>
            </a:pPr>
            <a:r>
              <a:rPr lang="en-US" sz="1000" b="1" kern="0" spc="150" dirty="0">
                <a:solidFill>
                  <a:schemeClr val="accent1"/>
                </a:solidFill>
              </a:rPr>
              <a:t>2  ·  GENERATE</a:t>
            </a:r>
            <a:endParaRPr lang="en-US" sz="1000" dirty="0"/>
          </a:p>
        </p:txBody>
      </p:sp>
      <p:sp>
        <p:nvSpPr>
          <p:cNvPr id="23" name="b2 head"/>
          <p:cNvSpPr txBox="1"/>
          <p:nvPr/>
        </p:nvSpPr>
        <p:spPr>
          <a:xfrm>
            <a:off x="6766560" y="2432304"/>
            <a:ext cx="4114800" cy="384048"/>
          </a:xfrm>
          <a:prstGeom prst="rect">
            <a:avLst/>
          </a:prstGeom>
          <a:noFill/>
        </p:spPr>
        <p:txBody>
          <a:bodyPr wrap="square" lIns="0" tIns="0" rIns="0" bIns="0" rtlCol="0" anchor="t"/>
          <a:lstStyle/>
          <a:p>
            <a:pPr marL="0" indent="0">
              <a:buNone/>
            </a:pPr>
            <a:r>
              <a:rPr lang="en-US" sz="2100" b="1" dirty="0">
                <a:solidFill>
                  <a:schemeClr val="tx1"/>
                </a:solidFill>
              </a:rPr>
              <a:t>Model</a:t>
            </a:r>
            <a:endParaRPr lang="en-US" sz="2100" dirty="0"/>
          </a:p>
        </p:txBody>
      </p:sp>
      <p:pic>
        <p:nvPicPr>
          <p:cNvPr id="24" name="b2 model icon 0" descr="preencoded.png"/>
          <p:cNvPicPr>
            <a:picLocks noChangeAspect="1"/>
          </p:cNvPicPr>
          <p:nvPr/>
        </p:nvPicPr>
        <p:blipFill>
          <a:blip r:embed="rId5"/>
          <a:stretch>
            <a:fillRect/>
          </a:stretch>
        </p:blipFill>
        <p:spPr>
          <a:xfrm>
            <a:off x="6766560" y="2962656"/>
            <a:ext cx="256032" cy="256032"/>
          </a:xfrm>
          <a:prstGeom prst="rect">
            <a:avLst/>
          </a:prstGeom>
        </p:spPr>
      </p:pic>
      <p:sp>
        <p:nvSpPr>
          <p:cNvPr id="25" name="b2 model 0"/>
          <p:cNvSpPr txBox="1"/>
          <p:nvPr/>
        </p:nvSpPr>
        <p:spPr>
          <a:xfrm>
            <a:off x="7187184" y="2926080"/>
            <a:ext cx="4297680" cy="329184"/>
          </a:xfrm>
          <a:prstGeom prst="rect">
            <a:avLst/>
          </a:prstGeom>
          <a:noFill/>
        </p:spPr>
        <p:txBody>
          <a:bodyPr wrap="square" lIns="0" tIns="0" rIns="0" bIns="0" rtlCol="0" anchor="ctr"/>
          <a:lstStyle/>
          <a:p>
            <a:pPr marL="0" indent="0">
              <a:buNone/>
            </a:pPr>
            <a:r>
              <a:rPr lang="en-US" sz="1500" dirty="0">
                <a:solidFill>
                  <a:srgbClr val="262D36"/>
                </a:solidFill>
              </a:rPr>
              <a:t>DeepSeek Flash / high / Responses</a:t>
            </a:r>
            <a:endParaRPr lang="en-US" sz="1500" dirty="0"/>
          </a:p>
        </p:txBody>
      </p:sp>
      <p:pic>
        <p:nvPicPr>
          <p:cNvPr id="26" name="b2 model icon 1" descr="preencoded.png"/>
          <p:cNvPicPr>
            <a:picLocks noChangeAspect="1"/>
          </p:cNvPicPr>
          <p:nvPr/>
        </p:nvPicPr>
        <p:blipFill>
          <a:blip r:embed="rId6"/>
          <a:stretch>
            <a:fillRect/>
          </a:stretch>
        </p:blipFill>
        <p:spPr>
          <a:xfrm>
            <a:off x="6766560" y="3364992"/>
            <a:ext cx="256032" cy="256032"/>
          </a:xfrm>
          <a:prstGeom prst="rect">
            <a:avLst/>
          </a:prstGeom>
        </p:spPr>
      </p:pic>
      <p:sp>
        <p:nvSpPr>
          <p:cNvPr id="27" name="b2 model 1"/>
          <p:cNvSpPr txBox="1"/>
          <p:nvPr/>
        </p:nvSpPr>
        <p:spPr>
          <a:xfrm>
            <a:off x="7187184" y="3328416"/>
            <a:ext cx="4297680" cy="329184"/>
          </a:xfrm>
          <a:prstGeom prst="rect">
            <a:avLst/>
          </a:prstGeom>
          <a:noFill/>
        </p:spPr>
        <p:txBody>
          <a:bodyPr wrap="square" lIns="0" tIns="0" rIns="0" bIns="0" rtlCol="0" anchor="ctr"/>
          <a:lstStyle/>
          <a:p>
            <a:pPr marL="0" indent="0">
              <a:buNone/>
            </a:pPr>
            <a:r>
              <a:rPr lang="en-US" sz="1500" dirty="0">
                <a:solidFill>
                  <a:srgbClr val="262D36"/>
                </a:solidFill>
              </a:rPr>
              <a:t>Bilingual explanations and three drafts</a:t>
            </a:r>
            <a:endParaRPr lang="en-US" sz="1500" dirty="0"/>
          </a:p>
        </p:txBody>
      </p:sp>
      <p:sp>
        <p:nvSpPr>
          <p:cNvPr id="28" name="b3 arrow"/>
          <p:cNvSpPr/>
          <p:nvPr/>
        </p:nvSpPr>
        <p:spPr>
          <a:xfrm>
            <a:off x="8860536" y="3831336"/>
            <a:ext cx="384048" cy="246888"/>
          </a:xfrm>
          <a:prstGeom prst="downArrow">
            <a:avLst/>
          </a:prstGeom>
          <a:solidFill>
            <a:srgbClr val="C2187A"/>
          </a:solidFill>
        </p:spPr>
      </p:sp>
      <p:sp>
        <p:nvSpPr>
          <p:cNvPr id="29" name="b3 card"/>
          <p:cNvSpPr/>
          <p:nvPr/>
        </p:nvSpPr>
        <p:spPr>
          <a:xfrm>
            <a:off x="6464808" y="4114800"/>
            <a:ext cx="5175504" cy="1828800"/>
          </a:xfrm>
          <a:prstGeom prst="roundRect">
            <a:avLst>
              <a:gd name="adj" fmla="val 3000"/>
            </a:avLst>
          </a:prstGeom>
          <a:solidFill>
            <a:srgbClr val="FFFFFF"/>
          </a:solidFill>
          <a:ln w="15875">
            <a:solidFill>
              <a:srgbClr val="0D1117"/>
            </a:solidFill>
            <a:prstDash val="solid"/>
          </a:ln>
        </p:spPr>
      </p:sp>
      <p:sp>
        <p:nvSpPr>
          <p:cNvPr id="30" name="b3 step"/>
          <p:cNvSpPr txBox="1"/>
          <p:nvPr/>
        </p:nvSpPr>
        <p:spPr>
          <a:xfrm>
            <a:off x="6766560" y="4325112"/>
            <a:ext cx="2743200" cy="228600"/>
          </a:xfrm>
          <a:prstGeom prst="rect">
            <a:avLst/>
          </a:prstGeom>
          <a:noFill/>
        </p:spPr>
        <p:txBody>
          <a:bodyPr wrap="square" lIns="0" tIns="0" rIns="0" bIns="0" rtlCol="0" anchor="t"/>
          <a:lstStyle/>
          <a:p>
            <a:pPr marL="0" indent="0">
              <a:buNone/>
            </a:pPr>
            <a:r>
              <a:rPr lang="en-US" sz="1000" b="1" kern="0" spc="150" dirty="0">
                <a:solidFill>
                  <a:schemeClr val="accent1"/>
                </a:solidFill>
              </a:rPr>
              <a:t>3  ·  CHECK</a:t>
            </a:r>
            <a:endParaRPr lang="en-US" sz="1000" dirty="0"/>
          </a:p>
        </p:txBody>
      </p:sp>
      <p:sp>
        <p:nvSpPr>
          <p:cNvPr id="31" name="b3 head"/>
          <p:cNvSpPr txBox="1"/>
          <p:nvPr/>
        </p:nvSpPr>
        <p:spPr>
          <a:xfrm>
            <a:off x="6766560" y="4581144"/>
            <a:ext cx="3657600" cy="384048"/>
          </a:xfrm>
          <a:prstGeom prst="rect">
            <a:avLst/>
          </a:prstGeom>
          <a:noFill/>
        </p:spPr>
        <p:txBody>
          <a:bodyPr wrap="square" lIns="0" tIns="0" rIns="0" bIns="0" rtlCol="0" anchor="t"/>
          <a:lstStyle/>
          <a:p>
            <a:pPr marL="0" indent="0">
              <a:buNone/>
            </a:pPr>
            <a:r>
              <a:rPr lang="en-US" sz="2100" b="1" dirty="0">
                <a:solidFill>
                  <a:schemeClr val="tx1"/>
                </a:solidFill>
              </a:rPr>
              <a:t>Bounded validation</a:t>
            </a:r>
            <a:endParaRPr lang="en-US" sz="2100" dirty="0"/>
          </a:p>
        </p:txBody>
      </p:sp>
      <p:pic>
        <p:nvPicPr>
          <p:cNvPr id="32" name="b3 val icon 0" descr="preencoded.png"/>
          <p:cNvPicPr>
            <a:picLocks noChangeAspect="1"/>
          </p:cNvPicPr>
          <p:nvPr/>
        </p:nvPicPr>
        <p:blipFill>
          <a:blip r:embed="rId7"/>
          <a:stretch>
            <a:fillRect/>
          </a:stretch>
        </p:blipFill>
        <p:spPr>
          <a:xfrm>
            <a:off x="6766560" y="5111496"/>
            <a:ext cx="256032" cy="256032"/>
          </a:xfrm>
          <a:prstGeom prst="rect">
            <a:avLst/>
          </a:prstGeom>
        </p:spPr>
      </p:pic>
      <p:sp>
        <p:nvSpPr>
          <p:cNvPr id="33" name="b3 val 0"/>
          <p:cNvSpPr txBox="1"/>
          <p:nvPr/>
        </p:nvSpPr>
        <p:spPr>
          <a:xfrm>
            <a:off x="7187184" y="5074920"/>
            <a:ext cx="4297680" cy="329184"/>
          </a:xfrm>
          <a:prstGeom prst="rect">
            <a:avLst/>
          </a:prstGeom>
          <a:noFill/>
        </p:spPr>
        <p:txBody>
          <a:bodyPr wrap="square" lIns="0" tIns="0" rIns="0" bIns="0" rtlCol="0" anchor="ctr"/>
          <a:lstStyle/>
          <a:p>
            <a:pPr marL="0" indent="0">
              <a:buNone/>
            </a:pPr>
            <a:r>
              <a:rPr lang="en-US" sz="1500" dirty="0">
                <a:solidFill>
                  <a:srgbClr val="262D36"/>
                </a:solidFill>
              </a:rPr>
              <a:t>JSON, evidence and constraint checks</a:t>
            </a:r>
            <a:endParaRPr lang="en-US" sz="1500" dirty="0"/>
          </a:p>
        </p:txBody>
      </p:sp>
      <p:pic>
        <p:nvPicPr>
          <p:cNvPr id="34" name="b3 val icon 1" descr="preencoded.png"/>
          <p:cNvPicPr>
            <a:picLocks noChangeAspect="1"/>
          </p:cNvPicPr>
          <p:nvPr/>
        </p:nvPicPr>
        <p:blipFill>
          <a:blip r:embed="rId8"/>
          <a:stretch>
            <a:fillRect/>
          </a:stretch>
        </p:blipFill>
        <p:spPr>
          <a:xfrm>
            <a:off x="6766560" y="5513832"/>
            <a:ext cx="256032" cy="256032"/>
          </a:xfrm>
          <a:prstGeom prst="rect">
            <a:avLst/>
          </a:prstGeom>
        </p:spPr>
      </p:pic>
      <p:sp>
        <p:nvSpPr>
          <p:cNvPr id="35" name="b3 val 1"/>
          <p:cNvSpPr txBox="1"/>
          <p:nvPr/>
        </p:nvSpPr>
        <p:spPr>
          <a:xfrm>
            <a:off x="7187184" y="5477256"/>
            <a:ext cx="4297680" cy="329184"/>
          </a:xfrm>
          <a:prstGeom prst="rect">
            <a:avLst/>
          </a:prstGeom>
          <a:noFill/>
        </p:spPr>
        <p:txBody>
          <a:bodyPr wrap="square" lIns="0" tIns="0" rIns="0" bIns="0" rtlCol="0" anchor="ctr"/>
          <a:lstStyle/>
          <a:p>
            <a:pPr marL="0" indent="0">
              <a:buNone/>
            </a:pPr>
            <a:r>
              <a:rPr lang="en-US" sz="1500" dirty="0">
                <a:solidFill>
                  <a:srgbClr val="262D36"/>
                </a:solidFill>
              </a:rPr>
              <a:t>One repair; visible failure or advisories</a:t>
            </a:r>
            <a:endParaRPr lang="en-US" sz="1500" dirty="0"/>
          </a:p>
        </p:txBody>
      </p:sp>
      <p:sp>
        <p:nvSpPr>
          <p:cNvPr id="36" name="b3 badge"/>
          <p:cNvSpPr/>
          <p:nvPr/>
        </p:nvSpPr>
        <p:spPr>
          <a:xfrm>
            <a:off x="10570464" y="4288536"/>
            <a:ext cx="713232" cy="713232"/>
          </a:xfrm>
          <a:prstGeom prst="ellipse">
            <a:avLst/>
          </a:prstGeom>
          <a:solidFill>
            <a:srgbClr val="C2187A"/>
          </a:solidFill>
        </p:spPr>
      </p:sp>
      <p:sp>
        <p:nvSpPr>
          <p:cNvPr id="37" name="b3 badge text"/>
          <p:cNvSpPr txBox="1"/>
          <p:nvPr/>
        </p:nvSpPr>
        <p:spPr>
          <a:xfrm>
            <a:off x="10570464" y="4288536"/>
            <a:ext cx="713232" cy="713232"/>
          </a:xfrm>
          <a:prstGeom prst="rect">
            <a:avLst/>
          </a:prstGeom>
          <a:noFill/>
        </p:spPr>
        <p:txBody>
          <a:bodyPr wrap="square" lIns="0" tIns="0" rIns="0" bIns="0" rtlCol="0" anchor="ctr"/>
          <a:lstStyle/>
          <a:p>
            <a:pPr marL="0" indent="0" algn="ctr">
              <a:lnSpc>
                <a:spcPct val="85000"/>
              </a:lnSpc>
              <a:buNone/>
            </a:pPr>
            <a:r>
              <a:rPr lang="en-US" sz="2000" b="1" dirty="0">
                <a:solidFill>
                  <a:schemeClr val="bg1"/>
                </a:solidFill>
              </a:rPr>
              <a:t>1×</a:t>
            </a:r>
            <a:endParaRPr lang="en-US" sz="2000" dirty="0"/>
          </a:p>
          <a:p>
            <a:pPr marL="0" indent="0" algn="ctr">
              <a:lnSpc>
                <a:spcPct val="85000"/>
              </a:lnSpc>
              <a:buNone/>
            </a:pPr>
            <a:r>
              <a:rPr lang="en-US" sz="900" dirty="0">
                <a:solidFill>
                  <a:schemeClr val="bg1"/>
                </a:solidFill>
              </a:rPr>
              <a:t>repair</a:t>
            </a:r>
            <a:endParaRPr lang="en-US" sz="200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childTnLst>
                          </p:cTn>
                        </p:par>
                        <p:par>
                          <p:cTn id="63" fill="hold">
                            <p:stCondLst>
                              <p:cond delay="1000"/>
                            </p:stCondLst>
                            <p:childTnLst>
                              <p:par>
                                <p:cTn id="64" presetID="10" presetClass="entr" presetSubtype="0" fill="hold" grpId="0" nodeType="after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400"/>
                                        <p:tgtEl>
                                          <p:spTgt spid="2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00"/>
                                        <p:tgtEl>
                                          <p:spTgt spid="3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5" grpId="0" animBg="1"/>
      <p:bldP spid="17" grpId="0" animBg="1"/>
      <p:bldP spid="19" grpId="0" animBg="1"/>
      <p:bldP spid="20" grpId="0" animBg="1"/>
      <p:bldP spid="21" grpId="0" animBg="1"/>
      <p:bldP spid="22" grpId="0" animBg="1"/>
      <p:bldP spid="23" grpId="0" animBg="1"/>
      <p:bldP spid="25" grpId="0" animBg="1"/>
      <p:bldP spid="27" grpId="0" animBg="1"/>
      <p:bldP spid="28" grpId="0" animBg="1"/>
      <p:bldP spid="29" grpId="0" animBg="1"/>
      <p:bldP spid="30" grpId="0" animBg="1"/>
      <p:bldP spid="31" grpId="0" animBg="1"/>
      <p:bldP spid="33" grpId="0" animBg="1"/>
      <p:bldP spid="35" grpId="0" animBg="1"/>
      <p:bldP spid="36" grpId="0" animBg="1"/>
      <p:bldP spid="3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RECORDED REAL-MODEL EXAMPLE</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Gusts + an expanding support shortage</a:t>
            </a:r>
            <a:endParaRPr lang="en-US" sz="3000" dirty="0"/>
          </a:p>
        </p:txBody>
      </p:sp>
      <p:sp>
        <p:nvSpPr>
          <p:cNvPr id="8" name="subtitle"/>
          <p:cNvSpPr txBox="1"/>
          <p:nvPr/>
        </p:nvSpPr>
        <p:spPr>
          <a:xfrm>
            <a:off x="548640" y="1344168"/>
            <a:ext cx="11064240" cy="365760"/>
          </a:xfrm>
          <a:prstGeom prst="rect">
            <a:avLst/>
          </a:prstGeom>
          <a:noFill/>
        </p:spPr>
        <p:txBody>
          <a:bodyPr wrap="square" lIns="0" tIns="0" rIns="0" bIns="0" rtlCol="0" anchor="t"/>
          <a:lstStyle/>
          <a:p>
            <a:pPr marL="0" indent="0">
              <a:buNone/>
            </a:pPr>
            <a:r>
              <a:rPr lang="en-US" sz="1600" b="1" dirty="0">
                <a:solidFill>
                  <a:schemeClr val="tx1"/>
                </a:solidFill>
                <a:latin typeface="Arial" panose="020B0604020202090204" pitchFamily="34" charset="0"/>
                <a:ea typeface="Arial" panose="020B0604020202090204" pitchFamily="34" charset="-122"/>
                <a:cs typeface="Arial" panose="020B0604020202090204" pitchFamily="34" charset="-120"/>
              </a:rPr>
              <a:t>UNSEEN02-en</a:t>
            </a:r>
            <a:r>
              <a:rPr lang="en-US" sz="1600" dirty="0">
                <a:solidFill>
                  <a:schemeClr val="accent5"/>
                </a:solidFill>
              </a:rPr>
              <a:t>  •  fictional QING  •  scenario Day 42, 18:00  •  unseen when tested, now disclosed</a:t>
            </a:r>
            <a:endParaRPr lang="en-US" sz="1600" dirty="0"/>
          </a:p>
        </p:txBody>
      </p:sp>
      <p:sp>
        <p:nvSpPr>
          <p:cNvPr id="9" name="b1 window"/>
          <p:cNvSpPr/>
          <p:nvPr/>
        </p:nvSpPr>
        <p:spPr>
          <a:xfrm>
            <a:off x="868680" y="3730752"/>
            <a:ext cx="6858000" cy="548640"/>
          </a:xfrm>
          <a:prstGeom prst="rect">
            <a:avLst/>
          </a:prstGeom>
          <a:solidFill>
            <a:srgbClr val="FBE8F2"/>
          </a:solidFill>
        </p:spPr>
      </p:sp>
      <p:sp>
        <p:nvSpPr>
          <p:cNvPr id="10" name="b1 axis"/>
          <p:cNvSpPr/>
          <p:nvPr/>
        </p:nvSpPr>
        <p:spPr>
          <a:xfrm>
            <a:off x="868680" y="4005072"/>
            <a:ext cx="6858000" cy="0"/>
          </a:xfrm>
          <a:prstGeom prst="line">
            <a:avLst/>
          </a:prstGeom>
          <a:noFill/>
          <a:ln w="19050">
            <a:solidFill>
              <a:srgbClr val="0D1117"/>
            </a:solidFill>
            <a:prstDash val="solid"/>
          </a:ln>
        </p:spPr>
      </p:sp>
      <p:sp>
        <p:nvSpPr>
          <p:cNvPr id="11" name="b1 edge l"/>
          <p:cNvSpPr/>
          <p:nvPr/>
        </p:nvSpPr>
        <p:spPr>
          <a:xfrm>
            <a:off x="868680" y="3730752"/>
            <a:ext cx="0" cy="548640"/>
          </a:xfrm>
          <a:prstGeom prst="line">
            <a:avLst/>
          </a:prstGeom>
          <a:noFill/>
          <a:ln w="19050">
            <a:solidFill>
              <a:srgbClr val="C2187A"/>
            </a:solidFill>
            <a:prstDash val="solid"/>
          </a:ln>
        </p:spPr>
      </p:sp>
      <p:sp>
        <p:nvSpPr>
          <p:cNvPr id="12" name="b1 edge r"/>
          <p:cNvSpPr/>
          <p:nvPr/>
        </p:nvSpPr>
        <p:spPr>
          <a:xfrm>
            <a:off x="7726680" y="3730752"/>
            <a:ext cx="0" cy="548640"/>
          </a:xfrm>
          <a:prstGeom prst="line">
            <a:avLst/>
          </a:prstGeom>
          <a:noFill/>
          <a:ln w="19050">
            <a:solidFill>
              <a:srgbClr val="C2187A"/>
            </a:solidFill>
            <a:prstDash val="solid"/>
          </a:ln>
        </p:spPr>
      </p:sp>
      <p:sp>
        <p:nvSpPr>
          <p:cNvPr id="13" name="b1 scenario line"/>
          <p:cNvSpPr/>
          <p:nvPr/>
        </p:nvSpPr>
        <p:spPr>
          <a:xfrm>
            <a:off x="4297680" y="3621024"/>
            <a:ext cx="0" cy="658368"/>
          </a:xfrm>
          <a:prstGeom prst="line">
            <a:avLst/>
          </a:prstGeom>
          <a:noFill/>
          <a:ln w="28575">
            <a:solidFill>
              <a:srgbClr val="0D1117"/>
            </a:solidFill>
            <a:prstDash val="solid"/>
          </a:ln>
        </p:spPr>
      </p:sp>
      <p:sp>
        <p:nvSpPr>
          <p:cNvPr id="14" name="b1 scenario label"/>
          <p:cNvSpPr txBox="1"/>
          <p:nvPr/>
        </p:nvSpPr>
        <p:spPr>
          <a:xfrm>
            <a:off x="3749040" y="3383280"/>
            <a:ext cx="1097280" cy="219456"/>
          </a:xfrm>
          <a:prstGeom prst="rect">
            <a:avLst/>
          </a:prstGeom>
          <a:noFill/>
        </p:spPr>
        <p:txBody>
          <a:bodyPr wrap="square" lIns="0" tIns="0" rIns="0" bIns="0" rtlCol="0" anchor="t"/>
          <a:lstStyle/>
          <a:p>
            <a:pPr marL="0" indent="0" algn="ctr">
              <a:buNone/>
            </a:pPr>
            <a:r>
              <a:rPr lang="en-US" sz="1000" b="1" dirty="0">
                <a:solidFill>
                  <a:schemeClr val="tx1"/>
                </a:solidFill>
              </a:rPr>
              <a:t>scenario</a:t>
            </a:r>
            <a:endParaRPr lang="en-US" sz="1000" dirty="0"/>
          </a:p>
        </p:txBody>
      </p:sp>
      <p:sp>
        <p:nvSpPr>
          <p:cNvPr id="15" name="b1 tick 17:30"/>
          <p:cNvSpPr txBox="1"/>
          <p:nvPr/>
        </p:nvSpPr>
        <p:spPr>
          <a:xfrm>
            <a:off x="868680" y="4352544"/>
            <a:ext cx="914400" cy="228600"/>
          </a:xfrm>
          <a:prstGeom prst="rect">
            <a:avLst/>
          </a:prstGeom>
          <a:noFill/>
        </p:spPr>
        <p:txBody>
          <a:bodyPr wrap="square" lIns="0" tIns="0" rIns="0" bIns="0" rtlCol="0" anchor="t"/>
          <a:lstStyle/>
          <a:p>
            <a:pPr marL="0" indent="0" algn="l">
              <a:buNone/>
            </a:pPr>
            <a:r>
              <a:rPr lang="en-US" sz="1100" dirty="0">
                <a:solidFill>
                  <a:schemeClr val="tx1"/>
                </a:solidFill>
                <a:latin typeface="Arial" panose="020B0604020202090204" pitchFamily="34" charset="0"/>
                <a:ea typeface="Arial" panose="020B0604020202090204" pitchFamily="34" charset="-122"/>
                <a:cs typeface="Arial" panose="020B0604020202090204" pitchFamily="34" charset="-120"/>
              </a:rPr>
              <a:t>17:30</a:t>
            </a:r>
            <a:endParaRPr lang="en-US" sz="1100" dirty="0"/>
          </a:p>
        </p:txBody>
      </p:sp>
      <p:sp>
        <p:nvSpPr>
          <p:cNvPr id="16" name="b1 tick 18:00"/>
          <p:cNvSpPr txBox="1"/>
          <p:nvPr/>
        </p:nvSpPr>
        <p:spPr>
          <a:xfrm>
            <a:off x="3840480" y="4352544"/>
            <a:ext cx="914400" cy="228600"/>
          </a:xfrm>
          <a:prstGeom prst="rect">
            <a:avLst/>
          </a:prstGeom>
          <a:noFill/>
        </p:spPr>
        <p:txBody>
          <a:bodyPr wrap="square" lIns="0" tIns="0" rIns="0" bIns="0" rtlCol="0" anchor="t"/>
          <a:lstStyle/>
          <a:p>
            <a:pPr marL="0" indent="0" algn="ctr">
              <a:buNone/>
            </a:pPr>
            <a:r>
              <a:rPr lang="en-US" sz="1100" b="1" dirty="0">
                <a:solidFill>
                  <a:schemeClr val="tx1"/>
                </a:solidFill>
                <a:latin typeface="Arial" panose="020B0604020202090204" pitchFamily="34" charset="0"/>
                <a:ea typeface="Arial" panose="020B0604020202090204" pitchFamily="34" charset="-122"/>
                <a:cs typeface="Arial" panose="020B0604020202090204" pitchFamily="34" charset="-120"/>
              </a:rPr>
              <a:t>18:00</a:t>
            </a:r>
            <a:endParaRPr lang="en-US" sz="1100" dirty="0"/>
          </a:p>
        </p:txBody>
      </p:sp>
      <p:sp>
        <p:nvSpPr>
          <p:cNvPr id="17" name="b1 tick 18:30"/>
          <p:cNvSpPr txBox="1"/>
          <p:nvPr/>
        </p:nvSpPr>
        <p:spPr>
          <a:xfrm>
            <a:off x="6812280" y="4352544"/>
            <a:ext cx="914400" cy="228600"/>
          </a:xfrm>
          <a:prstGeom prst="rect">
            <a:avLst/>
          </a:prstGeom>
          <a:noFill/>
        </p:spPr>
        <p:txBody>
          <a:bodyPr wrap="square" lIns="0" tIns="0" rIns="0" bIns="0" rtlCol="0" anchor="t"/>
          <a:lstStyle/>
          <a:p>
            <a:pPr marL="0" indent="0" algn="r">
              <a:buNone/>
            </a:pPr>
            <a:r>
              <a:rPr lang="en-US" sz="1100" dirty="0">
                <a:solidFill>
                  <a:schemeClr val="tx1"/>
                </a:solidFill>
                <a:latin typeface="Arial" panose="020B0604020202090204" pitchFamily="34" charset="0"/>
                <a:ea typeface="Arial" panose="020B0604020202090204" pitchFamily="34" charset="-122"/>
                <a:cs typeface="Arial" panose="020B0604020202090204" pitchFamily="34" charset="-120"/>
              </a:rPr>
              <a:t>18:30</a:t>
            </a:r>
            <a:endParaRPr lang="en-US" sz="1100" dirty="0"/>
          </a:p>
        </p:txBody>
      </p:sp>
      <p:sp>
        <p:nvSpPr>
          <p:cNvPr id="18" name="b1 window label"/>
          <p:cNvSpPr txBox="1"/>
          <p:nvPr/>
        </p:nvSpPr>
        <p:spPr>
          <a:xfrm>
            <a:off x="2468880" y="4626864"/>
            <a:ext cx="3657600" cy="237744"/>
          </a:xfrm>
          <a:prstGeom prst="rect">
            <a:avLst/>
          </a:prstGeom>
          <a:noFill/>
        </p:spPr>
        <p:txBody>
          <a:bodyPr wrap="square" lIns="0" tIns="0" rIns="0" bIns="0" rtlCol="0" anchor="t"/>
          <a:lstStyle/>
          <a:p>
            <a:pPr marL="0" indent="0" algn="ctr">
              <a:buNone/>
            </a:pPr>
            <a:r>
              <a:rPr lang="en-US" sz="1100" b="1" dirty="0">
                <a:solidFill>
                  <a:schemeClr val="accent1"/>
                </a:solidFill>
              </a:rPr>
              <a:t>±30-minute current-report window</a:t>
            </a:r>
            <a:endParaRPr lang="en-US" sz="1100" dirty="0"/>
          </a:p>
        </p:txBody>
      </p:sp>
      <p:sp>
        <p:nvSpPr>
          <p:cNvPr id="19" name="b2 report 1 card"/>
          <p:cNvSpPr/>
          <p:nvPr/>
        </p:nvSpPr>
        <p:spPr>
          <a:xfrm>
            <a:off x="548640" y="1874520"/>
            <a:ext cx="3566160" cy="1371600"/>
          </a:xfrm>
          <a:prstGeom prst="roundRect">
            <a:avLst>
              <a:gd name="adj" fmla="val 4000"/>
            </a:avLst>
          </a:prstGeom>
          <a:solidFill>
            <a:srgbClr val="F1F3F5"/>
          </a:solidFill>
        </p:spPr>
      </p:sp>
      <p:pic>
        <p:nvPicPr>
          <p:cNvPr id="20" name="b2 report 1 icon" descr="preencoded.png"/>
          <p:cNvPicPr>
            <a:picLocks noChangeAspect="1"/>
          </p:cNvPicPr>
          <p:nvPr/>
        </p:nvPicPr>
        <p:blipFill>
          <a:blip r:embed="rId1"/>
          <a:stretch>
            <a:fillRect/>
          </a:stretch>
        </p:blipFill>
        <p:spPr>
          <a:xfrm>
            <a:off x="3611880" y="2093976"/>
            <a:ext cx="292608" cy="292608"/>
          </a:xfrm>
          <a:prstGeom prst="rect">
            <a:avLst/>
          </a:prstGeom>
        </p:spPr>
      </p:pic>
      <p:sp>
        <p:nvSpPr>
          <p:cNvPr id="21" name="b2 report 1 head"/>
          <p:cNvSpPr txBox="1"/>
          <p:nvPr/>
        </p:nvSpPr>
        <p:spPr>
          <a:xfrm>
            <a:off x="777240" y="2057400"/>
            <a:ext cx="2834640" cy="365760"/>
          </a:xfrm>
          <a:prstGeom prst="rect">
            <a:avLst/>
          </a:prstGeom>
          <a:noFill/>
        </p:spPr>
        <p:txBody>
          <a:bodyPr wrap="square" lIns="0" tIns="0" rIns="0" bIns="0" rtlCol="0" anchor="ctr"/>
          <a:lstStyle/>
          <a:p>
            <a:pPr marL="0" indent="0">
              <a:buNone/>
            </a:pPr>
            <a:r>
              <a:rPr lang="en-US" sz="1800" b="1" dirty="0">
                <a:solidFill>
                  <a:schemeClr val="accent1"/>
                </a:solidFill>
                <a:latin typeface="Arial" panose="020B0604020202090204" pitchFamily="34" charset="0"/>
                <a:ea typeface="Arial" panose="020B0604020202090204" pitchFamily="34" charset="-122"/>
                <a:cs typeface="Arial" panose="020B0604020202090204" pitchFamily="34" charset="-120"/>
              </a:rPr>
              <a:t>17:45</a:t>
            </a:r>
            <a:r>
              <a:rPr lang="en-US" sz="1800" b="1" dirty="0">
                <a:solidFill>
                  <a:schemeClr val="tx1"/>
                </a:solidFill>
              </a:rPr>
              <a:t>  Gust report</a:t>
            </a:r>
            <a:endParaRPr lang="en-US" sz="1800" dirty="0"/>
          </a:p>
        </p:txBody>
      </p:sp>
      <p:sp>
        <p:nvSpPr>
          <p:cNvPr id="22" name="b2 report 1 body"/>
          <p:cNvSpPr txBox="1"/>
          <p:nvPr/>
        </p:nvSpPr>
        <p:spPr>
          <a:xfrm>
            <a:off x="777240" y="2514600"/>
            <a:ext cx="3154680" cy="914400"/>
          </a:xfrm>
          <a:prstGeom prst="rect">
            <a:avLst/>
          </a:prstGeom>
          <a:noFill/>
        </p:spPr>
        <p:txBody>
          <a:bodyPr wrap="square" lIns="0" tIns="0" rIns="0" bIns="0" rtlCol="0" anchor="t"/>
          <a:lstStyle/>
          <a:p>
            <a:pPr marL="0" indent="0">
              <a:lnSpc>
                <a:spcPct val="112000"/>
              </a:lnSpc>
              <a:buNone/>
            </a:pPr>
            <a:r>
              <a:rPr lang="en-US" sz="1350" dirty="0">
                <a:solidFill>
                  <a:srgbClr val="262D36"/>
                </a:solidFill>
              </a:rPr>
              <a:t>Verified in the fictional log.</a:t>
            </a:r>
            <a:endParaRPr lang="en-US" sz="1350" dirty="0"/>
          </a:p>
          <a:p>
            <a:pPr marL="0" indent="0">
              <a:lnSpc>
                <a:spcPct val="112000"/>
              </a:lnSpc>
              <a:buNone/>
            </a:pPr>
            <a:r>
              <a:rPr lang="en-US" sz="1350" dirty="0">
                <a:solidFill>
                  <a:srgbClr val="262D36"/>
                </a:solidFill>
              </a:rPr>
              <a:t>Separate weather origin.</a:t>
            </a:r>
            <a:endParaRPr lang="en-US" sz="1350" dirty="0"/>
          </a:p>
          <a:p>
            <a:pPr marL="0" indent="0">
              <a:lnSpc>
                <a:spcPct val="112000"/>
              </a:lnSpc>
              <a:buNone/>
            </a:pPr>
            <a:r>
              <a:rPr lang="en-US" sz="1350" dirty="0">
                <a:solidFill>
                  <a:srgbClr val="262D36"/>
                </a:solidFill>
              </a:rPr>
              <a:t>15 minutes before scenario.</a:t>
            </a:r>
            <a:endParaRPr lang="en-US" sz="1350" dirty="0"/>
          </a:p>
        </p:txBody>
      </p:sp>
      <p:sp>
        <p:nvSpPr>
          <p:cNvPr id="23" name="b2 report 1 stem"/>
          <p:cNvSpPr/>
          <p:nvPr/>
        </p:nvSpPr>
        <p:spPr>
          <a:xfrm>
            <a:off x="2583180" y="3246120"/>
            <a:ext cx="0" cy="640080"/>
          </a:xfrm>
          <a:prstGeom prst="line">
            <a:avLst/>
          </a:prstGeom>
          <a:noFill/>
          <a:ln w="12700">
            <a:solidFill>
              <a:srgbClr val="0D1117"/>
            </a:solidFill>
            <a:prstDash val="solid"/>
          </a:ln>
        </p:spPr>
      </p:sp>
      <p:sp>
        <p:nvSpPr>
          <p:cNvPr id="24" name="b2 report 1 marker"/>
          <p:cNvSpPr/>
          <p:nvPr/>
        </p:nvSpPr>
        <p:spPr>
          <a:xfrm>
            <a:off x="2464308" y="3886200"/>
            <a:ext cx="237744" cy="237744"/>
          </a:xfrm>
          <a:prstGeom prst="ellipse">
            <a:avLst/>
          </a:prstGeom>
          <a:solidFill>
            <a:srgbClr val="C2187A"/>
          </a:solidFill>
          <a:ln w="25400">
            <a:solidFill>
              <a:srgbClr val="FFFFFF"/>
            </a:solidFill>
            <a:prstDash val="solid"/>
          </a:ln>
        </p:spPr>
      </p:sp>
      <p:sp>
        <p:nvSpPr>
          <p:cNvPr id="25" name="b3 report 2 card"/>
          <p:cNvSpPr/>
          <p:nvPr/>
        </p:nvSpPr>
        <p:spPr>
          <a:xfrm>
            <a:off x="4407408" y="1874520"/>
            <a:ext cx="3639312" cy="1371600"/>
          </a:xfrm>
          <a:prstGeom prst="roundRect">
            <a:avLst>
              <a:gd name="adj" fmla="val 4000"/>
            </a:avLst>
          </a:prstGeom>
          <a:solidFill>
            <a:srgbClr val="F1F3F5"/>
          </a:solidFill>
        </p:spPr>
      </p:sp>
      <p:pic>
        <p:nvPicPr>
          <p:cNvPr id="26" name="b3 report 2 icon" descr="preencoded.png"/>
          <p:cNvPicPr>
            <a:picLocks noChangeAspect="1"/>
          </p:cNvPicPr>
          <p:nvPr/>
        </p:nvPicPr>
        <p:blipFill>
          <a:blip r:embed="rId2"/>
          <a:stretch>
            <a:fillRect/>
          </a:stretch>
        </p:blipFill>
        <p:spPr>
          <a:xfrm>
            <a:off x="7543800" y="2093976"/>
            <a:ext cx="292608" cy="292608"/>
          </a:xfrm>
          <a:prstGeom prst="rect">
            <a:avLst/>
          </a:prstGeom>
        </p:spPr>
      </p:pic>
      <p:sp>
        <p:nvSpPr>
          <p:cNvPr id="27" name="b3 report 2 head"/>
          <p:cNvSpPr txBox="1"/>
          <p:nvPr/>
        </p:nvSpPr>
        <p:spPr>
          <a:xfrm>
            <a:off x="4636008" y="2057400"/>
            <a:ext cx="2907792" cy="365760"/>
          </a:xfrm>
          <a:prstGeom prst="rect">
            <a:avLst/>
          </a:prstGeom>
          <a:noFill/>
        </p:spPr>
        <p:txBody>
          <a:bodyPr wrap="square" lIns="0" tIns="0" rIns="0" bIns="0" rtlCol="0" anchor="ctr"/>
          <a:lstStyle/>
          <a:p>
            <a:pPr marL="0" indent="0">
              <a:buNone/>
            </a:pPr>
            <a:r>
              <a:rPr lang="en-US" sz="1800" b="1" dirty="0">
                <a:solidFill>
                  <a:schemeClr val="accent1"/>
                </a:solidFill>
                <a:latin typeface="Arial" panose="020B0604020202090204" pitchFamily="34" charset="0"/>
                <a:ea typeface="Arial" panose="020B0604020202090204" pitchFamily="34" charset="-122"/>
                <a:cs typeface="Arial" panose="020B0604020202090204" pitchFamily="34" charset="-120"/>
              </a:rPr>
              <a:t>18:20</a:t>
            </a:r>
            <a:r>
              <a:rPr lang="en-US" sz="1800" b="1" dirty="0">
                <a:solidFill>
                  <a:schemeClr val="tx1"/>
                </a:solidFill>
              </a:rPr>
              <a:t>  Support report</a:t>
            </a:r>
            <a:endParaRPr lang="en-US" sz="1800" dirty="0"/>
          </a:p>
        </p:txBody>
      </p:sp>
      <p:sp>
        <p:nvSpPr>
          <p:cNvPr id="28" name="b3 report 2 body"/>
          <p:cNvSpPr txBox="1"/>
          <p:nvPr/>
        </p:nvSpPr>
        <p:spPr>
          <a:xfrm>
            <a:off x="4636008" y="2514600"/>
            <a:ext cx="3227832" cy="914400"/>
          </a:xfrm>
          <a:prstGeom prst="rect">
            <a:avLst/>
          </a:prstGeom>
          <a:noFill/>
        </p:spPr>
        <p:txBody>
          <a:bodyPr wrap="square" lIns="0" tIns="0" rIns="0" bIns="0" rtlCol="0" anchor="t"/>
          <a:lstStyle/>
          <a:p>
            <a:pPr marL="0" indent="0">
              <a:lnSpc>
                <a:spcPct val="112000"/>
              </a:lnSpc>
              <a:buNone/>
            </a:pPr>
            <a:r>
              <a:rPr lang="en-US" sz="1350" dirty="0">
                <a:solidFill>
                  <a:srgbClr val="262D36"/>
                </a:solidFill>
              </a:rPr>
              <a:t>Shortage spreads to a second stand cluster.</a:t>
            </a:r>
            <a:endParaRPr lang="en-US" sz="1350" dirty="0"/>
          </a:p>
          <a:p>
            <a:pPr marL="0" indent="0">
              <a:lnSpc>
                <a:spcPct val="112000"/>
              </a:lnSpc>
              <a:buNone/>
            </a:pPr>
            <a:r>
              <a:rPr lang="en-US" sz="1350" dirty="0">
                <a:solidFill>
                  <a:srgbClr val="262D36"/>
                </a:solidFill>
              </a:rPr>
              <a:t>20 minutes after scenario.</a:t>
            </a:r>
            <a:endParaRPr lang="en-US" sz="1350" dirty="0"/>
          </a:p>
        </p:txBody>
      </p:sp>
      <p:sp>
        <p:nvSpPr>
          <p:cNvPr id="29" name="b3 report 2 stem"/>
          <p:cNvSpPr/>
          <p:nvPr/>
        </p:nvSpPr>
        <p:spPr>
          <a:xfrm>
            <a:off x="6583680" y="3246120"/>
            <a:ext cx="0" cy="640080"/>
          </a:xfrm>
          <a:prstGeom prst="line">
            <a:avLst/>
          </a:prstGeom>
          <a:noFill/>
          <a:ln w="12700">
            <a:solidFill>
              <a:srgbClr val="0D1117"/>
            </a:solidFill>
            <a:prstDash val="solid"/>
          </a:ln>
        </p:spPr>
      </p:sp>
      <p:sp>
        <p:nvSpPr>
          <p:cNvPr id="30" name="b3 report 2 marker"/>
          <p:cNvSpPr/>
          <p:nvPr/>
        </p:nvSpPr>
        <p:spPr>
          <a:xfrm>
            <a:off x="6464808" y="3886200"/>
            <a:ext cx="237744" cy="237744"/>
          </a:xfrm>
          <a:prstGeom prst="ellipse">
            <a:avLst/>
          </a:prstGeom>
          <a:solidFill>
            <a:srgbClr val="C2187A"/>
          </a:solidFill>
          <a:ln w="25400">
            <a:solidFill>
              <a:srgbClr val="FFFFFF"/>
            </a:solidFill>
            <a:prstDash val="solid"/>
          </a:ln>
        </p:spPr>
      </p:sp>
      <p:sp>
        <p:nvSpPr>
          <p:cNvPr id="31" name="b4 result card"/>
          <p:cNvSpPr/>
          <p:nvPr/>
        </p:nvSpPr>
        <p:spPr>
          <a:xfrm>
            <a:off x="8366760" y="1874520"/>
            <a:ext cx="3276295" cy="2971800"/>
          </a:xfrm>
          <a:prstGeom prst="roundRect">
            <a:avLst>
              <a:gd name="adj" fmla="val 1846"/>
            </a:avLst>
          </a:prstGeom>
          <a:solidFill>
            <a:srgbClr val="0D1117"/>
          </a:solidFill>
        </p:spPr>
      </p:sp>
      <p:sp>
        <p:nvSpPr>
          <p:cNvPr id="32" name="b4 risk icon"/>
          <p:cNvSpPr/>
          <p:nvPr/>
        </p:nvSpPr>
        <p:spPr>
          <a:xfrm>
            <a:off x="8641080" y="2157984"/>
            <a:ext cx="512064" cy="512064"/>
          </a:xfrm>
          <a:prstGeom prst="roundRect">
            <a:avLst>
              <a:gd name="adj" fmla="val 10714"/>
            </a:avLst>
          </a:prstGeom>
          <a:solidFill>
            <a:srgbClr val="B42318"/>
          </a:solidFill>
        </p:spPr>
      </p:sp>
      <p:sp>
        <p:nvSpPr>
          <p:cNvPr id="33" name="b4 risk mark"/>
          <p:cNvSpPr txBox="1"/>
          <p:nvPr/>
        </p:nvSpPr>
        <p:spPr>
          <a:xfrm>
            <a:off x="8641080" y="2157984"/>
            <a:ext cx="512064" cy="512064"/>
          </a:xfrm>
          <a:prstGeom prst="rect">
            <a:avLst/>
          </a:prstGeom>
          <a:noFill/>
        </p:spPr>
        <p:txBody>
          <a:bodyPr wrap="square" lIns="0" tIns="0" rIns="0" bIns="0" rtlCol="0" anchor="ctr"/>
          <a:lstStyle/>
          <a:p>
            <a:pPr marL="0" indent="0" algn="ctr">
              <a:buNone/>
            </a:pPr>
            <a:r>
              <a:rPr lang="en-US" sz="2400" b="1" dirty="0">
                <a:solidFill>
                  <a:schemeClr val="bg1"/>
                </a:solidFill>
              </a:rPr>
              <a:t>!</a:t>
            </a:r>
            <a:endParaRPr lang="en-US" sz="2400" dirty="0"/>
          </a:p>
        </p:txBody>
      </p:sp>
      <p:sp>
        <p:nvSpPr>
          <p:cNvPr id="34" name="b4 result label"/>
          <p:cNvSpPr txBox="1"/>
          <p:nvPr/>
        </p:nvSpPr>
        <p:spPr>
          <a:xfrm>
            <a:off x="9299448" y="2286000"/>
            <a:ext cx="1828800" cy="256032"/>
          </a:xfrm>
          <a:prstGeom prst="rect">
            <a:avLst/>
          </a:prstGeom>
          <a:noFill/>
        </p:spPr>
        <p:txBody>
          <a:bodyPr wrap="square" lIns="0" tIns="0" rIns="0" bIns="0" rtlCol="0" anchor="ctr"/>
          <a:lstStyle/>
          <a:p>
            <a:pPr marL="0" indent="0">
              <a:buNone/>
            </a:pPr>
            <a:r>
              <a:rPr lang="en-US" sz="1000" b="1" kern="0" spc="150" dirty="0">
                <a:solidFill>
                  <a:srgbClr val="A3ADBA"/>
                </a:solidFill>
              </a:rPr>
              <a:t>RESULT</a:t>
            </a:r>
            <a:endParaRPr lang="en-US" sz="1000" dirty="0"/>
          </a:p>
        </p:txBody>
      </p:sp>
      <p:sp>
        <p:nvSpPr>
          <p:cNvPr id="35" name="b4 result head"/>
          <p:cNvSpPr txBox="1"/>
          <p:nvPr/>
        </p:nvSpPr>
        <p:spPr>
          <a:xfrm>
            <a:off x="8641080" y="2834640"/>
            <a:ext cx="2819095" cy="384048"/>
          </a:xfrm>
          <a:prstGeom prst="rect">
            <a:avLst/>
          </a:prstGeom>
          <a:noFill/>
        </p:spPr>
        <p:txBody>
          <a:bodyPr wrap="square" lIns="0" tIns="0" rIns="0" bIns="0" rtlCol="0" anchor="t"/>
          <a:lstStyle/>
          <a:p>
            <a:pPr marL="0" indent="0">
              <a:buNone/>
            </a:pPr>
            <a:r>
              <a:rPr lang="en-US" sz="2000" b="1" dirty="0">
                <a:solidFill>
                  <a:schemeClr val="bg1"/>
                </a:solidFill>
              </a:rPr>
              <a:t>High + human review</a:t>
            </a:r>
            <a:endParaRPr lang="en-US" sz="2000" dirty="0"/>
          </a:p>
        </p:txBody>
      </p:sp>
      <p:sp>
        <p:nvSpPr>
          <p:cNvPr id="36" name="b4 result body"/>
          <p:cNvSpPr txBox="1"/>
          <p:nvPr/>
        </p:nvSpPr>
        <p:spPr>
          <a:xfrm>
            <a:off x="8641080" y="3310128"/>
            <a:ext cx="2773375" cy="868680"/>
          </a:xfrm>
          <a:prstGeom prst="rect">
            <a:avLst/>
          </a:prstGeom>
          <a:noFill/>
        </p:spPr>
        <p:txBody>
          <a:bodyPr wrap="square" lIns="0" tIns="0" rIns="0" bIns="0" rtlCol="0" anchor="t"/>
          <a:lstStyle/>
          <a:p>
            <a:pPr marL="0" indent="0">
              <a:lnSpc>
                <a:spcPct val="112000"/>
              </a:lnSpc>
              <a:buNone/>
            </a:pPr>
            <a:r>
              <a:rPr lang="en-US" sz="1400" dirty="0">
                <a:solidFill>
                  <a:srgbClr val="D5DBE3"/>
                </a:solidFill>
              </a:rPr>
              <a:t>Two independent signal types plus expanding impact.</a:t>
            </a:r>
            <a:endParaRPr lang="en-US" sz="1400" dirty="0"/>
          </a:p>
          <a:p>
            <a:pPr marL="0" indent="0">
              <a:lnSpc>
                <a:spcPct val="112000"/>
              </a:lnSpc>
              <a:spcBef>
                <a:spcPts val="600"/>
              </a:spcBef>
              <a:buNone/>
            </a:pPr>
            <a:r>
              <a:rPr lang="en-US" sz="1400" b="1" dirty="0">
                <a:solidFill>
                  <a:schemeClr val="bg1"/>
                </a:solidFill>
              </a:rPr>
              <a:t>No official flight delay.</a:t>
            </a:r>
            <a:endParaRPr lang="en-US" sz="1400" dirty="0"/>
          </a:p>
        </p:txBody>
      </p:sp>
      <p:sp>
        <p:nvSpPr>
          <p:cNvPr id="37" name="b4 result rule"/>
          <p:cNvSpPr/>
          <p:nvPr/>
        </p:nvSpPr>
        <p:spPr>
          <a:xfrm>
            <a:off x="8641080" y="4224528"/>
            <a:ext cx="2727655" cy="0"/>
          </a:xfrm>
          <a:prstGeom prst="line">
            <a:avLst/>
          </a:prstGeom>
          <a:noFill/>
          <a:ln w="9525">
            <a:solidFill>
              <a:srgbClr val="2A3442"/>
            </a:solidFill>
            <a:prstDash val="solid"/>
          </a:ln>
        </p:spPr>
      </p:sp>
      <p:sp>
        <p:nvSpPr>
          <p:cNvPr id="38" name="b4 proposes label"/>
          <p:cNvSpPr txBox="1"/>
          <p:nvPr/>
        </p:nvSpPr>
        <p:spPr>
          <a:xfrm>
            <a:off x="8641080" y="4315968"/>
            <a:ext cx="2819095" cy="201168"/>
          </a:xfrm>
          <a:prstGeom prst="rect">
            <a:avLst/>
          </a:prstGeom>
          <a:noFill/>
        </p:spPr>
        <p:txBody>
          <a:bodyPr wrap="square" lIns="0" tIns="0" rIns="0" bIns="0" rtlCol="0" anchor="t"/>
          <a:lstStyle/>
          <a:p>
            <a:pPr marL="0" indent="0">
              <a:buNone/>
            </a:pPr>
            <a:r>
              <a:rPr lang="en-US" sz="900" b="1" kern="0" spc="150" dirty="0">
                <a:solidFill>
                  <a:srgbClr val="A3ADBA"/>
                </a:solidFill>
              </a:rPr>
              <a:t>THE REPLY PROPOSES</a:t>
            </a:r>
            <a:endParaRPr lang="en-US" sz="900" dirty="0"/>
          </a:p>
        </p:txBody>
      </p:sp>
      <p:sp>
        <p:nvSpPr>
          <p:cNvPr id="39" name="b4 proposes"/>
          <p:cNvSpPr txBox="1"/>
          <p:nvPr/>
        </p:nvSpPr>
        <p:spPr>
          <a:xfrm>
            <a:off x="8641080" y="4526280"/>
            <a:ext cx="2928823" cy="256032"/>
          </a:xfrm>
          <a:prstGeom prst="rect">
            <a:avLst/>
          </a:prstGeom>
          <a:noFill/>
        </p:spPr>
        <p:txBody>
          <a:bodyPr wrap="square" lIns="0" tIns="0" rIns="0" bIns="0" rtlCol="0" anchor="t"/>
          <a:lstStyle/>
          <a:p>
            <a:pPr marL="0" indent="0">
              <a:buNone/>
            </a:pPr>
            <a:r>
              <a:rPr lang="en-US" sz="1200" dirty="0">
                <a:solidFill>
                  <a:schemeClr val="bg1"/>
                </a:solidFill>
              </a:rPr>
              <a:t>referral · verification · monitoring · drafts</a:t>
            </a:r>
            <a:endParaRPr lang="en-US" sz="1200" dirty="0"/>
          </a:p>
        </p:txBody>
      </p:sp>
      <p:sp>
        <p:nvSpPr>
          <p:cNvPr id="40" name="b5 tiles label"/>
          <p:cNvSpPr txBox="1"/>
          <p:nvPr/>
        </p:nvSpPr>
        <p:spPr>
          <a:xfrm>
            <a:off x="548640" y="5056632"/>
            <a:ext cx="2743200" cy="219456"/>
          </a:xfrm>
          <a:prstGeom prst="rect">
            <a:avLst/>
          </a:prstGeom>
          <a:noFill/>
        </p:spPr>
        <p:txBody>
          <a:bodyPr wrap="square" lIns="0" tIns="0" rIns="0" bIns="0" rtlCol="0" anchor="t"/>
          <a:lstStyle/>
          <a:p>
            <a:pPr marL="0" indent="0">
              <a:buNone/>
            </a:pPr>
            <a:r>
              <a:rPr lang="en-US" sz="950" b="1" kern="0" spc="150" dirty="0">
                <a:solidFill>
                  <a:schemeClr val="accent5"/>
                </a:solidFill>
              </a:rPr>
              <a:t>RECORDED RESULT</a:t>
            </a:r>
            <a:endParaRPr lang="en-US" sz="950" dirty="0"/>
          </a:p>
        </p:txBody>
      </p:sp>
      <p:sp>
        <p:nvSpPr>
          <p:cNvPr id="41" name="b5 tile 0"/>
          <p:cNvSpPr/>
          <p:nvPr/>
        </p:nvSpPr>
        <p:spPr>
          <a:xfrm>
            <a:off x="548640" y="5321808"/>
            <a:ext cx="2057400" cy="566928"/>
          </a:xfrm>
          <a:prstGeom prst="roundRect">
            <a:avLst>
              <a:gd name="adj" fmla="val 9677"/>
            </a:avLst>
          </a:prstGeom>
          <a:solidFill>
            <a:srgbClr val="FFFFFF"/>
          </a:solidFill>
          <a:ln w="12700">
            <a:solidFill>
              <a:srgbClr val="D5DBE2"/>
            </a:solidFill>
            <a:prstDash val="solid"/>
          </a:ln>
        </p:spPr>
      </p:sp>
      <p:pic>
        <p:nvPicPr>
          <p:cNvPr id="42" name="b5 tile 0 icon" descr="preencoded.png"/>
          <p:cNvPicPr>
            <a:picLocks noChangeAspect="1"/>
          </p:cNvPicPr>
          <p:nvPr/>
        </p:nvPicPr>
        <p:blipFill>
          <a:blip r:embed="rId3"/>
          <a:stretch>
            <a:fillRect/>
          </a:stretch>
        </p:blipFill>
        <p:spPr>
          <a:xfrm>
            <a:off x="731520" y="5468112"/>
            <a:ext cx="274320" cy="274320"/>
          </a:xfrm>
          <a:prstGeom prst="rect">
            <a:avLst/>
          </a:prstGeom>
        </p:spPr>
      </p:pic>
      <p:sp>
        <p:nvSpPr>
          <p:cNvPr id="43" name="b5 tile 0 text"/>
          <p:cNvSpPr txBox="1"/>
          <p:nvPr/>
        </p:nvSpPr>
        <p:spPr>
          <a:xfrm>
            <a:off x="1115568" y="5321808"/>
            <a:ext cx="1399032" cy="566928"/>
          </a:xfrm>
          <a:prstGeom prst="rect">
            <a:avLst/>
          </a:prstGeom>
          <a:noFill/>
        </p:spPr>
        <p:txBody>
          <a:bodyPr wrap="square" lIns="0" tIns="0" rIns="0" bIns="0" rtlCol="0" anchor="ctr"/>
          <a:lstStyle/>
          <a:p>
            <a:pPr marL="0" indent="0">
              <a:buNone/>
            </a:pPr>
            <a:r>
              <a:rPr lang="en-US" sz="1400" b="1" dirty="0">
                <a:solidFill>
                  <a:schemeClr val="tx1"/>
                </a:solidFill>
              </a:rPr>
              <a:t>one call</a:t>
            </a:r>
            <a:endParaRPr lang="en-US" sz="1400" dirty="0"/>
          </a:p>
        </p:txBody>
      </p:sp>
      <p:sp>
        <p:nvSpPr>
          <p:cNvPr id="44" name="b5 tile 1"/>
          <p:cNvSpPr/>
          <p:nvPr/>
        </p:nvSpPr>
        <p:spPr>
          <a:xfrm>
            <a:off x="2752344" y="5321808"/>
            <a:ext cx="2148840" cy="566928"/>
          </a:xfrm>
          <a:prstGeom prst="roundRect">
            <a:avLst>
              <a:gd name="adj" fmla="val 9677"/>
            </a:avLst>
          </a:prstGeom>
          <a:solidFill>
            <a:srgbClr val="FFFFFF"/>
          </a:solidFill>
          <a:ln w="12700">
            <a:solidFill>
              <a:srgbClr val="D5DBE2"/>
            </a:solidFill>
            <a:prstDash val="solid"/>
          </a:ln>
        </p:spPr>
      </p:sp>
      <p:pic>
        <p:nvPicPr>
          <p:cNvPr id="45" name="b5 tile 1 icon" descr="preencoded.png"/>
          <p:cNvPicPr>
            <a:picLocks noChangeAspect="1"/>
          </p:cNvPicPr>
          <p:nvPr/>
        </p:nvPicPr>
        <p:blipFill>
          <a:blip r:embed="rId4"/>
          <a:stretch>
            <a:fillRect/>
          </a:stretch>
        </p:blipFill>
        <p:spPr>
          <a:xfrm>
            <a:off x="2935224" y="5468112"/>
            <a:ext cx="274320" cy="274320"/>
          </a:xfrm>
          <a:prstGeom prst="rect">
            <a:avLst/>
          </a:prstGeom>
        </p:spPr>
      </p:pic>
      <p:sp>
        <p:nvSpPr>
          <p:cNvPr id="46" name="b5 tile 1 text"/>
          <p:cNvSpPr txBox="1"/>
          <p:nvPr/>
        </p:nvSpPr>
        <p:spPr>
          <a:xfrm>
            <a:off x="3319272" y="5321808"/>
            <a:ext cx="1490472" cy="566928"/>
          </a:xfrm>
          <a:prstGeom prst="rect">
            <a:avLst/>
          </a:prstGeom>
          <a:noFill/>
        </p:spPr>
        <p:txBody>
          <a:bodyPr wrap="square" lIns="0" tIns="0" rIns="0" bIns="0" rtlCol="0" anchor="ctr"/>
          <a:lstStyle/>
          <a:p>
            <a:pPr marL="0" indent="0">
              <a:buNone/>
            </a:pPr>
            <a:r>
              <a:rPr lang="en-US" sz="1400" b="1" dirty="0">
                <a:solidFill>
                  <a:schemeClr val="tx1"/>
                </a:solidFill>
              </a:rPr>
              <a:t>100.62 s</a:t>
            </a:r>
            <a:endParaRPr lang="en-US" sz="1400" dirty="0"/>
          </a:p>
        </p:txBody>
      </p:sp>
      <p:sp>
        <p:nvSpPr>
          <p:cNvPr id="47" name="b5 tile 2"/>
          <p:cNvSpPr/>
          <p:nvPr/>
        </p:nvSpPr>
        <p:spPr>
          <a:xfrm>
            <a:off x="5047488" y="5321808"/>
            <a:ext cx="3154680" cy="566928"/>
          </a:xfrm>
          <a:prstGeom prst="roundRect">
            <a:avLst>
              <a:gd name="adj" fmla="val 9677"/>
            </a:avLst>
          </a:prstGeom>
          <a:solidFill>
            <a:srgbClr val="FFFFFF"/>
          </a:solidFill>
          <a:ln w="12700">
            <a:solidFill>
              <a:srgbClr val="D5DBE2"/>
            </a:solidFill>
            <a:prstDash val="solid"/>
          </a:ln>
        </p:spPr>
      </p:sp>
      <p:pic>
        <p:nvPicPr>
          <p:cNvPr id="48" name="b5 tile 2 icon" descr="preencoded.png"/>
          <p:cNvPicPr>
            <a:picLocks noChangeAspect="1"/>
          </p:cNvPicPr>
          <p:nvPr/>
        </p:nvPicPr>
        <p:blipFill>
          <a:blip r:embed="rId5"/>
          <a:stretch>
            <a:fillRect/>
          </a:stretch>
        </p:blipFill>
        <p:spPr>
          <a:xfrm>
            <a:off x="5230368" y="5468112"/>
            <a:ext cx="274320" cy="274320"/>
          </a:xfrm>
          <a:prstGeom prst="rect">
            <a:avLst/>
          </a:prstGeom>
        </p:spPr>
      </p:pic>
      <p:sp>
        <p:nvSpPr>
          <p:cNvPr id="49" name="b5 tile 2 text"/>
          <p:cNvSpPr txBox="1"/>
          <p:nvPr/>
        </p:nvSpPr>
        <p:spPr>
          <a:xfrm>
            <a:off x="5614416" y="5321808"/>
            <a:ext cx="2496312" cy="566928"/>
          </a:xfrm>
          <a:prstGeom prst="rect">
            <a:avLst/>
          </a:prstGeom>
          <a:noFill/>
        </p:spPr>
        <p:txBody>
          <a:bodyPr wrap="square" lIns="0" tIns="0" rIns="0" bIns="0" rtlCol="0" anchor="ctr"/>
          <a:lstStyle/>
          <a:p>
            <a:pPr marL="0" indent="0">
              <a:buNone/>
            </a:pPr>
            <a:r>
              <a:rPr lang="en-US" sz="1400" b="1" dirty="0">
                <a:solidFill>
                  <a:schemeClr val="tx1"/>
                </a:solidFill>
              </a:rPr>
              <a:t>CNY 0.176188</a:t>
            </a:r>
            <a:r>
              <a:rPr lang="en-US" sz="1400" dirty="0">
                <a:solidFill>
                  <a:schemeClr val="accent5"/>
                </a:solidFill>
              </a:rPr>
              <a:t> estimated</a:t>
            </a:r>
            <a:endParaRPr lang="en-US" sz="1400" dirty="0"/>
          </a:p>
        </p:txBody>
      </p:sp>
      <p:sp>
        <p:nvSpPr>
          <p:cNvPr id="50" name="b5 tile 3"/>
          <p:cNvSpPr/>
          <p:nvPr/>
        </p:nvSpPr>
        <p:spPr>
          <a:xfrm>
            <a:off x="8348472" y="5321808"/>
            <a:ext cx="3291840" cy="566928"/>
          </a:xfrm>
          <a:prstGeom prst="roundRect">
            <a:avLst>
              <a:gd name="adj" fmla="val 9677"/>
            </a:avLst>
          </a:prstGeom>
          <a:solidFill>
            <a:srgbClr val="FFFFFF"/>
          </a:solidFill>
          <a:ln w="12700">
            <a:solidFill>
              <a:srgbClr val="D5DBE2"/>
            </a:solidFill>
            <a:prstDash val="solid"/>
          </a:ln>
        </p:spPr>
      </p:sp>
      <p:pic>
        <p:nvPicPr>
          <p:cNvPr id="51" name="b5 tile 3 icon" descr="preencoded.png"/>
          <p:cNvPicPr>
            <a:picLocks noChangeAspect="1"/>
          </p:cNvPicPr>
          <p:nvPr/>
        </p:nvPicPr>
        <p:blipFill>
          <a:blip r:embed="rId6"/>
          <a:stretch>
            <a:fillRect/>
          </a:stretch>
        </p:blipFill>
        <p:spPr>
          <a:xfrm>
            <a:off x="8531352" y="5468112"/>
            <a:ext cx="274320" cy="274320"/>
          </a:xfrm>
          <a:prstGeom prst="rect">
            <a:avLst/>
          </a:prstGeom>
        </p:spPr>
      </p:pic>
      <p:sp>
        <p:nvSpPr>
          <p:cNvPr id="52" name="b5 tile 3 text"/>
          <p:cNvSpPr txBox="1"/>
          <p:nvPr/>
        </p:nvSpPr>
        <p:spPr>
          <a:xfrm>
            <a:off x="8915400" y="5321808"/>
            <a:ext cx="2633472" cy="566928"/>
          </a:xfrm>
          <a:prstGeom prst="rect">
            <a:avLst/>
          </a:prstGeom>
          <a:noFill/>
        </p:spPr>
        <p:txBody>
          <a:bodyPr wrap="square" lIns="0" tIns="0" rIns="0" bIns="0" rtlCol="0" anchor="ctr"/>
          <a:lstStyle/>
          <a:p>
            <a:pPr marL="0" indent="0">
              <a:buNone/>
            </a:pPr>
            <a:r>
              <a:rPr lang="en-US" sz="1400" b="1" dirty="0">
                <a:solidFill>
                  <a:schemeClr val="tx1"/>
                </a:solidFill>
              </a:rPr>
              <a:t>qualitative notes retained</a:t>
            </a:r>
            <a:endParaRPr lang="en-US" sz="1400" dirty="0"/>
          </a:p>
        </p:txBody>
      </p:sp>
      <p:sp>
        <p:nvSpPr>
          <p:cNvPr id="53" name="source"/>
          <p:cNvSpPr txBox="1"/>
          <p:nvPr/>
        </p:nvSpPr>
        <p:spPr>
          <a:xfrm>
            <a:off x="548640" y="6053328"/>
            <a:ext cx="11064240" cy="219456"/>
          </a:xfrm>
          <a:prstGeom prst="rect">
            <a:avLst/>
          </a:prstGeom>
          <a:noFill/>
        </p:spPr>
        <p:txBody>
          <a:bodyPr wrap="square" lIns="0" tIns="0" rIns="0" bIns="0" rtlCol="0" anchor="t"/>
          <a:lstStyle/>
          <a:p>
            <a:pPr marL="0" indent="0">
              <a:buNone/>
            </a:pPr>
            <a:r>
              <a:rPr lang="en-US" sz="1000" dirty="0">
                <a:solidFill>
                  <a:schemeClr val="accent5"/>
                </a:solidFill>
              </a:rPr>
              <a:t>Source: evidence/unseen/cases/UNSEEN02-en — definition.json, outputs.md and evaluation.json</a:t>
            </a:r>
            <a:endParaRPr lang="en-US" sz="100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0" dur="6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4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childTnLst>
                          </p:cTn>
                        </p:par>
                        <p:par>
                          <p:cTn id="54" fill="hold">
                            <p:stCondLst>
                              <p:cond delay="1000"/>
                            </p:stCondLst>
                            <p:childTnLst>
                              <p:par>
                                <p:cTn id="55" presetID="10" presetClass="entr" presetSubtype="0" fill="hold" grpId="0" nodeType="after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00"/>
                                        <p:tgtEl>
                                          <p:spTgt spid="2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00"/>
                                        <p:tgtEl>
                                          <p:spTgt spid="2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400"/>
                                        <p:tgtEl>
                                          <p:spTgt spid="2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childTnLst>
                          </p:cTn>
                        </p:par>
                        <p:par>
                          <p:cTn id="73" fill="hold">
                            <p:stCondLst>
                              <p:cond delay="1500"/>
                            </p:stCondLst>
                            <p:childTnLst>
                              <p:par>
                                <p:cTn id="74" presetID="10" presetClass="entr" presetSubtype="0" fill="hold" grpId="0" nodeType="after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00"/>
                                        <p:tgtEl>
                                          <p:spTgt spid="3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00"/>
                                        <p:tgtEl>
                                          <p:spTgt spid="32"/>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00"/>
                                        <p:tgtEl>
                                          <p:spTgt spid="33"/>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400"/>
                                        <p:tgtEl>
                                          <p:spTgt spid="34"/>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400"/>
                                        <p:tgtEl>
                                          <p:spTgt spid="35"/>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400"/>
                                        <p:tgtEl>
                                          <p:spTgt spid="36"/>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7"/>
                                        </p:tgtEl>
                                        <p:attrNameLst>
                                          <p:attrName>style.visibility</p:attrName>
                                        </p:attrNameLst>
                                      </p:cBhvr>
                                      <p:to>
                                        <p:strVal val="visible"/>
                                      </p:to>
                                    </p:set>
                                    <p:animEffect transition="in" filter="fade">
                                      <p:cBhvr>
                                        <p:cTn id="94" dur="400"/>
                                        <p:tgtEl>
                                          <p:spTgt spid="37"/>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8"/>
                                        </p:tgtEl>
                                        <p:attrNameLst>
                                          <p:attrName>style.visibility</p:attrName>
                                        </p:attrNameLst>
                                      </p:cBhvr>
                                      <p:to>
                                        <p:strVal val="visible"/>
                                      </p:to>
                                    </p:set>
                                    <p:animEffect transition="in" filter="fade">
                                      <p:cBhvr>
                                        <p:cTn id="97" dur="400"/>
                                        <p:tgtEl>
                                          <p:spTgt spid="38"/>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9"/>
                                        </p:tgtEl>
                                        <p:attrNameLst>
                                          <p:attrName>style.visibility</p:attrName>
                                        </p:attrNameLst>
                                      </p:cBhvr>
                                      <p:to>
                                        <p:strVal val="visible"/>
                                      </p:to>
                                    </p:set>
                                    <p:animEffect transition="in" filter="fade">
                                      <p:cBhvr>
                                        <p:cTn id="100" dur="400"/>
                                        <p:tgtEl>
                                          <p:spTgt spid="39"/>
                                        </p:tgtEl>
                                      </p:cBhvr>
                                    </p:animEffect>
                                  </p:childTnLst>
                                </p:cTn>
                              </p:par>
                            </p:childTnLst>
                          </p:cTn>
                        </p:par>
                        <p:par>
                          <p:cTn id="101" fill="hold">
                            <p:stCondLst>
                              <p:cond delay="2000"/>
                            </p:stCondLst>
                            <p:childTnLst>
                              <p:par>
                                <p:cTn id="102" presetID="10" presetClass="entr" presetSubtype="0" fill="hold" grpId="0" nodeType="afterEffect">
                                  <p:stCondLst>
                                    <p:cond delay="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400"/>
                                        <p:tgtEl>
                                          <p:spTgt spid="4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0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0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00"/>
                                        <p:tgtEl>
                                          <p:spTgt spid="4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400"/>
                                        <p:tgtEl>
                                          <p:spTgt spid="4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400"/>
                                        <p:tgtEl>
                                          <p:spTgt spid="45"/>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400"/>
                                        <p:tgtEl>
                                          <p:spTgt spid="46"/>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7"/>
                                        </p:tgtEl>
                                        <p:attrNameLst>
                                          <p:attrName>style.visibility</p:attrName>
                                        </p:attrNameLst>
                                      </p:cBhvr>
                                      <p:to>
                                        <p:strVal val="visible"/>
                                      </p:to>
                                    </p:set>
                                    <p:animEffect transition="in" filter="fade">
                                      <p:cBhvr>
                                        <p:cTn id="125" dur="400"/>
                                        <p:tgtEl>
                                          <p:spTgt spid="47"/>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8"/>
                                        </p:tgtEl>
                                        <p:attrNameLst>
                                          <p:attrName>style.visibility</p:attrName>
                                        </p:attrNameLst>
                                      </p:cBhvr>
                                      <p:to>
                                        <p:strVal val="visible"/>
                                      </p:to>
                                    </p:set>
                                    <p:animEffect transition="in" filter="fade">
                                      <p:cBhvr>
                                        <p:cTn id="128" dur="400"/>
                                        <p:tgtEl>
                                          <p:spTgt spid="48"/>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9"/>
                                        </p:tgtEl>
                                        <p:attrNameLst>
                                          <p:attrName>style.visibility</p:attrName>
                                        </p:attrNameLst>
                                      </p:cBhvr>
                                      <p:to>
                                        <p:strVal val="visible"/>
                                      </p:to>
                                    </p:set>
                                    <p:animEffect transition="in" filter="fade">
                                      <p:cBhvr>
                                        <p:cTn id="131" dur="400"/>
                                        <p:tgtEl>
                                          <p:spTgt spid="49"/>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0"/>
                                        </p:tgtEl>
                                        <p:attrNameLst>
                                          <p:attrName>style.visibility</p:attrName>
                                        </p:attrNameLst>
                                      </p:cBhvr>
                                      <p:to>
                                        <p:strVal val="visible"/>
                                      </p:to>
                                    </p:set>
                                    <p:animEffect transition="in" filter="fade">
                                      <p:cBhvr>
                                        <p:cTn id="134" dur="400"/>
                                        <p:tgtEl>
                                          <p:spTgt spid="50"/>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1"/>
                                        </p:tgtEl>
                                        <p:attrNameLst>
                                          <p:attrName>style.visibility</p:attrName>
                                        </p:attrNameLst>
                                      </p:cBhvr>
                                      <p:to>
                                        <p:strVal val="visible"/>
                                      </p:to>
                                    </p:set>
                                    <p:animEffect transition="in" filter="fade">
                                      <p:cBhvr>
                                        <p:cTn id="137" dur="400"/>
                                        <p:tgtEl>
                                          <p:spTgt spid="51"/>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2"/>
                                        </p:tgtEl>
                                        <p:attrNameLst>
                                          <p:attrName>style.visibility</p:attrName>
                                        </p:attrNameLst>
                                      </p:cBhvr>
                                      <p:to>
                                        <p:strVal val="visible"/>
                                      </p:to>
                                    </p:set>
                                    <p:animEffect transition="in" filter="fade">
                                      <p:cBhvr>
                                        <p:cTn id="140"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6" grpId="0" animBg="1"/>
      <p:bldP spid="47" grpId="0" animBg="1"/>
      <p:bldP spid="49" grpId="0" animBg="1"/>
      <p:bldP spid="50" grpId="0" animBg="1"/>
      <p:bldP spid="5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RESULTS WITH SEPARATE MEASURES</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Usable output and good reasoning are different</a:t>
            </a:r>
            <a:endParaRPr lang="en-US" sz="3000" dirty="0"/>
          </a:p>
        </p:txBody>
      </p:sp>
      <p:sp>
        <p:nvSpPr>
          <p:cNvPr id="8" name="subtitle"/>
          <p:cNvSpPr txBox="1"/>
          <p:nvPr/>
        </p:nvSpPr>
        <p:spPr>
          <a:xfrm>
            <a:off x="548640" y="1344168"/>
            <a:ext cx="11064240" cy="365760"/>
          </a:xfrm>
          <a:prstGeom prst="rect">
            <a:avLst/>
          </a:prstGeom>
          <a:noFill/>
        </p:spPr>
        <p:txBody>
          <a:bodyPr wrap="square" lIns="0" tIns="0" rIns="0" bIns="0" rtlCol="0" anchor="t"/>
          <a:lstStyle/>
          <a:p>
            <a:pPr marL="0" indent="0">
              <a:buNone/>
            </a:pPr>
            <a:r>
              <a:rPr lang="en-US" sz="1600" dirty="0">
                <a:solidFill>
                  <a:schemeClr val="accent5"/>
                </a:solidFill>
              </a:rPr>
              <a:t>One bounded run per set; no claim of statistical superiority or hallucination-free behavior.</a:t>
            </a:r>
            <a:endParaRPr lang="en-US" sz="1600" dirty="0"/>
          </a:p>
        </p:txBody>
      </p:sp>
      <p:graphicFrame>
        <p:nvGraphicFramePr>
          <p:cNvPr id="7" name="b1 results table"/>
          <p:cNvGraphicFramePr>
            <a:graphicFrameLocks noGrp="1"/>
          </p:cNvGraphicFramePr>
          <p:nvPr/>
        </p:nvGraphicFramePr>
        <p:xfrm>
          <a:off x="548640" y="1938528"/>
          <a:ext cx="7818120" cy="3008376"/>
        </p:xfrm>
        <a:graphic>
          <a:graphicData uri="http://schemas.openxmlformats.org/drawingml/2006/table">
            <a:tbl>
              <a:tblPr/>
              <a:tblGrid>
                <a:gridCol w="2606040"/>
                <a:gridCol w="1691640"/>
                <a:gridCol w="1691640"/>
                <a:gridCol w="1828800"/>
              </a:tblGrid>
              <a:tr h="429768">
                <a:tc>
                  <a:txBody>
                    <a:bodyPr/>
                    <a:lstStyle/>
                    <a:p>
                      <a:pPr marL="0" indent="0" algn="l">
                        <a:buNone/>
                      </a:pPr>
                      <a:r>
                        <a:rPr lang="en-US" sz="1250" b="1" dirty="0">
                          <a:solidFill>
                            <a:srgbClr val="FFFFFF"/>
                          </a:solidFill>
                          <a:latin typeface="Arial" panose="020B0604020202090204" pitchFamily="34" charset="0"/>
                          <a:ea typeface="Arial" panose="020B0604020202090204" pitchFamily="34" charset="-122"/>
                          <a:cs typeface="Arial" panose="020B0604020202090204" pitchFamily="34" charset="-120"/>
                        </a:rPr>
                        <a:t>Measure</a:t>
                      </a:r>
                      <a:endParaRPr lang="en-US" sz="125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c>
                  <a:txBody>
                    <a:bodyPr/>
                    <a:lstStyle/>
                    <a:p>
                      <a:pPr marL="0" indent="0" algn="l">
                        <a:buNone/>
                      </a:pPr>
                      <a:r>
                        <a:rPr lang="en-US" sz="1250" b="1" dirty="0">
                          <a:solidFill>
                            <a:srgbClr val="FFFFFF"/>
                          </a:solidFill>
                          <a:latin typeface="Arial" panose="020B0604020202090204" pitchFamily="34" charset="0"/>
                          <a:ea typeface="Arial" panose="020B0604020202090204" pitchFamily="34" charset="-122"/>
                          <a:cs typeface="Arial" panose="020B0604020202090204" pitchFamily="34" charset="-120"/>
                        </a:rPr>
                        <a:t>Supplied original</a:t>
                      </a:r>
                      <a:endParaRPr lang="en-US" sz="125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c>
                  <a:txBody>
                    <a:bodyPr/>
                    <a:lstStyle/>
                    <a:p>
                      <a:pPr marL="0" indent="0" algn="l">
                        <a:buNone/>
                      </a:pPr>
                      <a:r>
                        <a:rPr lang="en-US" sz="1250" b="1" dirty="0">
                          <a:solidFill>
                            <a:srgbClr val="FFFFFF"/>
                          </a:solidFill>
                          <a:latin typeface="Arial" panose="020B0604020202090204" pitchFamily="34" charset="0"/>
                          <a:ea typeface="Arial" panose="020B0604020202090204" pitchFamily="34" charset="-122"/>
                          <a:cs typeface="Arial" panose="020B0604020202090204" pitchFamily="34" charset="-120"/>
                        </a:rPr>
                        <a:t>Supplied rerun</a:t>
                      </a:r>
                      <a:endParaRPr lang="en-US" sz="125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c>
                  <a:txBody>
                    <a:bodyPr/>
                    <a:lstStyle/>
                    <a:p>
                      <a:pPr marL="0" indent="0" algn="l">
                        <a:buNone/>
                      </a:pPr>
                      <a:r>
                        <a:rPr lang="en-US" sz="1250" b="1" dirty="0">
                          <a:solidFill>
                            <a:srgbClr val="FFFFFF"/>
                          </a:solidFill>
                          <a:latin typeface="Arial" panose="020B0604020202090204" pitchFamily="34" charset="0"/>
                          <a:ea typeface="Arial" panose="020B0604020202090204" pitchFamily="34" charset="-122"/>
                          <a:cs typeface="Arial" panose="020B0604020202090204" pitchFamily="34" charset="-120"/>
                        </a:rPr>
                        <a:t>Unseen</a:t>
                      </a:r>
                      <a:endParaRPr lang="en-US" sz="125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r>
              <a:tr h="429768">
                <a:tc>
                  <a:txBody>
                    <a:bodyPr/>
                    <a:lstStyle/>
                    <a:p>
                      <a:pPr marL="0" indent="0">
                        <a:buNone/>
                      </a:pPr>
                      <a:r>
                        <a:rPr lang="en-US" sz="1100" dirty="0">
                          <a:solidFill>
                            <a:srgbClr val="13734B"/>
                          </a:solidFill>
                          <a:latin typeface="Arial" panose="020B0604020202090204" pitchFamily="34" charset="0"/>
                          <a:ea typeface="Arial" panose="020B0604020202090204" pitchFamily="34" charset="-122"/>
                          <a:cs typeface="Arial" panose="020B0604020202090204" pitchFamily="34" charset="-120"/>
                        </a:rPr>
                        <a:t>■  </a:t>
                      </a:r>
                      <a:r>
                        <a:rPr lang="en-US" sz="1400" b="1" dirty="0">
                          <a:solidFill>
                            <a:srgbClr val="0D1117"/>
                          </a:solidFill>
                          <a:latin typeface="Arial" panose="020B0604020202090204" pitchFamily="34" charset="0"/>
                          <a:ea typeface="Arial" panose="020B0604020202090204" pitchFamily="34" charset="-122"/>
                          <a:cs typeface="Arial" panose="020B0604020202090204" pitchFamily="34" charset="-120"/>
                        </a:rPr>
                        <a:t>Accepted model steps</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13734B"/>
                          </a:solidFill>
                          <a:latin typeface="Arial" panose="020B0604020202090204" pitchFamily="34" charset="0"/>
                          <a:ea typeface="Arial" panose="020B0604020202090204" pitchFamily="34" charset="-122"/>
                          <a:cs typeface="Arial" panose="020B0604020202090204" pitchFamily="34" charset="-120"/>
                        </a:rPr>
                        <a:t>32 / 32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13734B"/>
                          </a:solidFill>
                          <a:latin typeface="Arial" panose="020B0604020202090204" pitchFamily="34" charset="0"/>
                          <a:ea typeface="Arial" panose="020B0604020202090204" pitchFamily="34" charset="-122"/>
                          <a:cs typeface="Arial" panose="020B0604020202090204" pitchFamily="34" charset="-120"/>
                        </a:rPr>
                        <a:t>32 / 32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13734B"/>
                          </a:solidFill>
                          <a:latin typeface="Arial" panose="020B0604020202090204" pitchFamily="34" charset="0"/>
                          <a:ea typeface="Arial" panose="020B0604020202090204" pitchFamily="34" charset="-122"/>
                          <a:cs typeface="Arial" panose="020B0604020202090204" pitchFamily="34" charset="-120"/>
                        </a:rPr>
                        <a:t>21 / 22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marL="0" indent="0">
                        <a:buNone/>
                      </a:pPr>
                      <a:r>
                        <a:rPr lang="en-US" sz="1100" dirty="0">
                          <a:solidFill>
                            <a:srgbClr val="13734B"/>
                          </a:solidFill>
                          <a:latin typeface="Arial" panose="020B0604020202090204" pitchFamily="34" charset="0"/>
                          <a:ea typeface="Arial" panose="020B0604020202090204" pitchFamily="34" charset="-122"/>
                          <a:cs typeface="Arial" panose="020B0604020202090204" pitchFamily="34" charset="-120"/>
                        </a:rPr>
                        <a:t>■  </a:t>
                      </a:r>
                      <a:r>
                        <a:rPr lang="en-US" sz="1400" b="1" dirty="0">
                          <a:solidFill>
                            <a:srgbClr val="0D1117"/>
                          </a:solidFill>
                          <a:latin typeface="Arial" panose="020B0604020202090204" pitchFamily="34" charset="0"/>
                          <a:ea typeface="Arial" panose="020B0604020202090204" pitchFamily="34" charset="-122"/>
                          <a:cs typeface="Arial" panose="020B0604020202090204" pitchFamily="34" charset="-120"/>
                        </a:rPr>
                        <a:t>Usable final replies</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13734B"/>
                          </a:solidFill>
                          <a:latin typeface="Arial" panose="020B0604020202090204" pitchFamily="34" charset="0"/>
                          <a:ea typeface="Arial" panose="020B0604020202090204" pitchFamily="34" charset="-122"/>
                          <a:cs typeface="Arial" panose="020B0604020202090204" pitchFamily="34" charset="-120"/>
                        </a:rPr>
                        <a:t>28 / 28</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13734B"/>
                          </a:solidFill>
                          <a:latin typeface="Arial" panose="020B0604020202090204" pitchFamily="34" charset="0"/>
                          <a:ea typeface="Arial" panose="020B0604020202090204" pitchFamily="34" charset="-122"/>
                          <a:cs typeface="Arial" panose="020B0604020202090204" pitchFamily="34" charset="-120"/>
                        </a:rPr>
                        <a:t>28 / 28</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13734B"/>
                          </a:solidFill>
                          <a:latin typeface="Arial" panose="020B0604020202090204" pitchFamily="34" charset="0"/>
                          <a:ea typeface="Arial" panose="020B0604020202090204" pitchFamily="34" charset="-122"/>
                          <a:cs typeface="Arial" panose="020B0604020202090204" pitchFamily="34" charset="-120"/>
                        </a:rPr>
                        <a:t>19 / 20</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marL="0" indent="0">
                        <a:buNone/>
                      </a:pPr>
                      <a:r>
                        <a:rPr lang="en-US" sz="1100" dirty="0">
                          <a:solidFill>
                            <a:srgbClr val="B42318"/>
                          </a:solidFill>
                          <a:latin typeface="Arial" panose="020B0604020202090204" pitchFamily="34" charset="0"/>
                          <a:ea typeface="Arial" panose="020B0604020202090204" pitchFamily="34" charset="-122"/>
                          <a:cs typeface="Arial" panose="020B0604020202090204" pitchFamily="34" charset="-120"/>
                        </a:rPr>
                        <a:t>■  </a:t>
                      </a:r>
                      <a:r>
                        <a:rPr lang="en-US" sz="1400" b="1" dirty="0">
                          <a:solidFill>
                            <a:srgbClr val="0D1117"/>
                          </a:solidFill>
                          <a:latin typeface="Arial" panose="020B0604020202090204" pitchFamily="34" charset="0"/>
                          <a:ea typeface="Arial" panose="020B0604020202090204" pitchFamily="34" charset="-122"/>
                          <a:cs typeface="Arial" panose="020B0604020202090204" pitchFamily="34" charset="-120"/>
                        </a:rPr>
                        <a:t>Quality failures*</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B42318"/>
                          </a:solidFill>
                          <a:latin typeface="Arial" panose="020B0604020202090204" pitchFamily="34" charset="0"/>
                          <a:ea typeface="Arial" panose="020B0604020202090204" pitchFamily="34" charset="-122"/>
                          <a:cs typeface="Arial" panose="020B0604020202090204" pitchFamily="34" charset="-120"/>
                        </a:rPr>
                        <a:t>4 / 30</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B42318"/>
                          </a:solidFill>
                          <a:latin typeface="Arial" panose="020B0604020202090204" pitchFamily="34" charset="0"/>
                          <a:ea typeface="Arial" panose="020B0604020202090204" pitchFamily="34" charset="-122"/>
                          <a:cs typeface="Arial" panose="020B0604020202090204" pitchFamily="34" charset="-120"/>
                        </a:rPr>
                        <a:t>3 / 30</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b="1" dirty="0">
                          <a:solidFill>
                            <a:srgbClr val="B42318"/>
                          </a:solidFill>
                          <a:latin typeface="Arial" panose="020B0604020202090204" pitchFamily="34" charset="0"/>
                          <a:ea typeface="Arial" panose="020B0604020202090204" pitchFamily="34" charset="-122"/>
                          <a:cs typeface="Arial" panose="020B0604020202090204" pitchFamily="34" charset="-120"/>
                        </a:rPr>
                        <a:t>3 / 20 + 1 blocked</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marL="0" indent="0">
                        <a:buNone/>
                      </a:pPr>
                      <a:r>
                        <a:rPr lang="en-US" sz="1100" dirty="0">
                          <a:solidFill>
                            <a:srgbClr val="A3ADBA"/>
                          </a:solidFill>
                          <a:latin typeface="Arial" panose="020B0604020202090204" pitchFamily="34" charset="0"/>
                          <a:ea typeface="Arial" panose="020B0604020202090204" pitchFamily="34" charset="-122"/>
                          <a:cs typeface="Arial" panose="020B0604020202090204" pitchFamily="34" charset="-120"/>
                        </a:rPr>
                        <a:t>■  </a:t>
                      </a:r>
                      <a:r>
                        <a:rPr lang="en-US" sz="1400" b="1" dirty="0">
                          <a:solidFill>
                            <a:srgbClr val="0D1117"/>
                          </a:solidFill>
                          <a:latin typeface="Arial" panose="020B0604020202090204" pitchFamily="34" charset="0"/>
                          <a:ea typeface="Arial" panose="020B0604020202090204" pitchFamily="34" charset="-122"/>
                          <a:cs typeface="Arial" panose="020B0604020202090204" pitchFamily="34" charset="-120"/>
                        </a:rPr>
                        <a:t>Steps needing repair</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12 / 32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18 / 32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7 / 22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marL="0" indent="0">
                        <a:buNone/>
                      </a:pPr>
                      <a:r>
                        <a:rPr lang="en-US" sz="1100" dirty="0">
                          <a:solidFill>
                            <a:srgbClr val="A3ADBA"/>
                          </a:solidFill>
                          <a:latin typeface="Arial" panose="020B0604020202090204" pitchFamily="34" charset="0"/>
                          <a:ea typeface="Arial" panose="020B0604020202090204" pitchFamily="34" charset="-122"/>
                          <a:cs typeface="Arial" panose="020B0604020202090204" pitchFamily="34" charset="-120"/>
                        </a:rPr>
                        <a:t>■  </a:t>
                      </a:r>
                      <a:r>
                        <a:rPr lang="en-US" sz="1400" b="1" dirty="0">
                          <a:solidFill>
                            <a:srgbClr val="0D1117"/>
                          </a:solidFill>
                          <a:latin typeface="Arial" panose="020B0604020202090204" pitchFamily="34" charset="0"/>
                          <a:ea typeface="Arial" panose="020B0604020202090204" pitchFamily="34" charset="-122"/>
                          <a:cs typeface="Arial" panose="020B0604020202090204" pitchFamily="34" charset="-120"/>
                        </a:rPr>
                        <a:t>Median latency</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67.741 s</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81.907 s</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69.273 s</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marL="0" indent="0">
                        <a:buNone/>
                      </a:pPr>
                      <a:r>
                        <a:rPr lang="en-US" sz="1100" dirty="0">
                          <a:solidFill>
                            <a:srgbClr val="A3ADBA"/>
                          </a:solidFill>
                          <a:latin typeface="Arial" panose="020B0604020202090204" pitchFamily="34" charset="0"/>
                          <a:ea typeface="Arial" panose="020B0604020202090204" pitchFamily="34" charset="-122"/>
                          <a:cs typeface="Arial" panose="020B0604020202090204" pitchFamily="34" charset="-120"/>
                        </a:rPr>
                        <a:t>■  </a:t>
                      </a:r>
                      <a:r>
                        <a:rPr lang="en-US" sz="1400" b="1" dirty="0">
                          <a:solidFill>
                            <a:srgbClr val="0D1117"/>
                          </a:solidFill>
                          <a:latin typeface="Arial" panose="020B0604020202090204" pitchFamily="34" charset="0"/>
                          <a:ea typeface="Arial" panose="020B0604020202090204" pitchFamily="34" charset="-122"/>
                          <a:cs typeface="Arial" panose="020B0604020202090204" pitchFamily="34" charset="-120"/>
                        </a:rPr>
                        <a:t>Estimated cost, CNY</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4.894533</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5.553762</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marL="0" indent="0">
                        <a:buNone/>
                      </a:pPr>
                      <a:r>
                        <a:rPr lang="en-US" sz="1400" dirty="0">
                          <a:solidFill>
                            <a:srgbClr val="0D1117"/>
                          </a:solidFill>
                          <a:latin typeface="Arial" panose="020B0604020202090204" pitchFamily="34" charset="0"/>
                          <a:ea typeface="Arial" panose="020B0604020202090204" pitchFamily="34" charset="-122"/>
                          <a:cs typeface="Arial" panose="020B0604020202090204" pitchFamily="34" charset="-120"/>
                        </a:rPr>
                        <a:t>3.420530</a:t>
                      </a:r>
                      <a:endParaRPr lang="en-US" sz="1400" dirty="0">
                        <a:latin typeface="Arial" panose="020B0604020202090204" pitchFamily="34" charset="0"/>
                        <a:ea typeface="Arial" panose="020B0604020202090204" pitchFamily="34" charset="0"/>
                        <a:cs typeface="Arial" panose="020B0604020202090204" pitchFamily="34" charset="0"/>
                      </a:endParaRPr>
                    </a:p>
                  </a:txBody>
                  <a:tcPr marL="101600" marR="1016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bl>
          </a:graphicData>
        </a:graphic>
      </p:graphicFrame>
      <p:sp>
        <p:nvSpPr>
          <p:cNvPr id="10" name="b2 callout ok"/>
          <p:cNvSpPr/>
          <p:nvPr/>
        </p:nvSpPr>
        <p:spPr>
          <a:xfrm>
            <a:off x="8732520" y="1938528"/>
            <a:ext cx="2910535" cy="1463040"/>
          </a:xfrm>
          <a:prstGeom prst="roundRect">
            <a:avLst>
              <a:gd name="adj" fmla="val 3750"/>
            </a:avLst>
          </a:prstGeom>
          <a:solidFill>
            <a:srgbClr val="E6F3EC"/>
          </a:solidFill>
        </p:spPr>
      </p:sp>
      <p:sp>
        <p:nvSpPr>
          <p:cNvPr id="11" name="b2 ok label"/>
          <p:cNvSpPr txBox="1"/>
          <p:nvPr/>
        </p:nvSpPr>
        <p:spPr>
          <a:xfrm>
            <a:off x="8961120" y="2103120"/>
            <a:ext cx="2544775" cy="201168"/>
          </a:xfrm>
          <a:prstGeom prst="rect">
            <a:avLst/>
          </a:prstGeom>
          <a:noFill/>
        </p:spPr>
        <p:txBody>
          <a:bodyPr wrap="square" lIns="0" tIns="0" rIns="0" bIns="0" rtlCol="0" anchor="t"/>
          <a:lstStyle/>
          <a:p>
            <a:pPr marL="0" indent="0">
              <a:buNone/>
            </a:pPr>
            <a:r>
              <a:rPr lang="en-US" sz="900" b="1" kern="0" spc="100" dirty="0">
                <a:solidFill>
                  <a:schemeClr val="accent2"/>
                </a:solidFill>
              </a:rPr>
              <a:t>UNSEEN · USABLE FINAL REPLIES</a:t>
            </a:r>
            <a:endParaRPr lang="en-US" sz="900" dirty="0"/>
          </a:p>
        </p:txBody>
      </p:sp>
      <p:sp>
        <p:nvSpPr>
          <p:cNvPr id="12" name="b2 ok value"/>
          <p:cNvSpPr txBox="1"/>
          <p:nvPr/>
        </p:nvSpPr>
        <p:spPr>
          <a:xfrm>
            <a:off x="8961120" y="2304288"/>
            <a:ext cx="2544775" cy="566928"/>
          </a:xfrm>
          <a:prstGeom prst="rect">
            <a:avLst/>
          </a:prstGeom>
          <a:noFill/>
        </p:spPr>
        <p:txBody>
          <a:bodyPr wrap="square" lIns="0" tIns="0" rIns="0" bIns="0" rtlCol="0" anchor="t"/>
          <a:lstStyle/>
          <a:p>
            <a:pPr marL="0" indent="0">
              <a:buNone/>
            </a:pPr>
            <a:r>
              <a:rPr lang="en-US" sz="3400" b="1" dirty="0">
                <a:solidFill>
                  <a:schemeClr val="accent2"/>
                </a:solidFill>
              </a:rPr>
              <a:t>19 / 20</a:t>
            </a:r>
            <a:endParaRPr lang="en-US" sz="3400" dirty="0"/>
          </a:p>
        </p:txBody>
      </p:sp>
      <p:sp>
        <p:nvSpPr>
          <p:cNvPr id="13" name="b2 ok note"/>
          <p:cNvSpPr txBox="1"/>
          <p:nvPr/>
        </p:nvSpPr>
        <p:spPr>
          <a:xfrm>
            <a:off x="8961120" y="2862072"/>
            <a:ext cx="2544775" cy="457200"/>
          </a:xfrm>
          <a:prstGeom prst="rect">
            <a:avLst/>
          </a:prstGeom>
          <a:noFill/>
        </p:spPr>
        <p:txBody>
          <a:bodyPr wrap="square" lIns="0" tIns="0" rIns="0" bIns="0" rtlCol="0" anchor="t"/>
          <a:lstStyle/>
          <a:p>
            <a:pPr marL="0" indent="0">
              <a:buNone/>
            </a:pPr>
            <a:r>
              <a:rPr lang="en-US" sz="1050" dirty="0">
                <a:solidFill>
                  <a:srgbClr val="262D36"/>
                </a:solidFill>
              </a:rPr>
              <a:t>Accepted by the app; not proof the content is free from unsupported claims.</a:t>
            </a:r>
            <a:endParaRPr lang="en-US" sz="1050" dirty="0"/>
          </a:p>
        </p:txBody>
      </p:sp>
      <p:sp>
        <p:nvSpPr>
          <p:cNvPr id="14" name="b3 callout warn"/>
          <p:cNvSpPr/>
          <p:nvPr/>
        </p:nvSpPr>
        <p:spPr>
          <a:xfrm>
            <a:off x="8732520" y="3520440"/>
            <a:ext cx="2910535" cy="1463040"/>
          </a:xfrm>
          <a:prstGeom prst="roundRect">
            <a:avLst>
              <a:gd name="adj" fmla="val 3750"/>
            </a:avLst>
          </a:prstGeom>
          <a:solidFill>
            <a:srgbClr val="FBEAE8"/>
          </a:solidFill>
        </p:spPr>
      </p:sp>
      <p:sp>
        <p:nvSpPr>
          <p:cNvPr id="15" name="b3 warn label"/>
          <p:cNvSpPr txBox="1"/>
          <p:nvPr/>
        </p:nvSpPr>
        <p:spPr>
          <a:xfrm>
            <a:off x="8961120" y="3685032"/>
            <a:ext cx="2544775" cy="201168"/>
          </a:xfrm>
          <a:prstGeom prst="rect">
            <a:avLst/>
          </a:prstGeom>
          <a:noFill/>
        </p:spPr>
        <p:txBody>
          <a:bodyPr wrap="square" lIns="0" tIns="0" rIns="0" bIns="0" rtlCol="0" anchor="t"/>
          <a:lstStyle/>
          <a:p>
            <a:pPr marL="0" indent="0">
              <a:buNone/>
            </a:pPr>
            <a:r>
              <a:rPr lang="en-US" sz="900" b="1" kern="0" spc="100" dirty="0">
                <a:solidFill>
                  <a:schemeClr val="accent4"/>
                </a:solidFill>
              </a:rPr>
              <a:t>UNSEEN · QUALITY REVIEW</a:t>
            </a:r>
            <a:endParaRPr lang="en-US" sz="900" dirty="0"/>
          </a:p>
        </p:txBody>
      </p:sp>
      <p:sp>
        <p:nvSpPr>
          <p:cNvPr id="16" name="b3 warn value"/>
          <p:cNvSpPr txBox="1"/>
          <p:nvPr/>
        </p:nvSpPr>
        <p:spPr>
          <a:xfrm>
            <a:off x="8961120" y="3886200"/>
            <a:ext cx="2636215" cy="566928"/>
          </a:xfrm>
          <a:prstGeom prst="rect">
            <a:avLst/>
          </a:prstGeom>
          <a:noFill/>
        </p:spPr>
        <p:txBody>
          <a:bodyPr wrap="square" lIns="0" tIns="0" rIns="0" bIns="0" rtlCol="0" anchor="b"/>
          <a:lstStyle/>
          <a:p>
            <a:pPr marL="0" indent="0">
              <a:buNone/>
            </a:pPr>
            <a:r>
              <a:rPr lang="en-US" sz="3400" b="1" dirty="0">
                <a:solidFill>
                  <a:schemeClr val="accent4"/>
                </a:solidFill>
              </a:rPr>
              <a:t>3 / 20</a:t>
            </a:r>
            <a:r>
              <a:rPr lang="en-US" sz="1600" b="1" dirty="0">
                <a:solidFill>
                  <a:schemeClr val="accent4"/>
                </a:solidFill>
              </a:rPr>
              <a:t>  + 1 blocked</a:t>
            </a:r>
            <a:endParaRPr lang="en-US" sz="3400" dirty="0"/>
          </a:p>
        </p:txBody>
      </p:sp>
      <p:sp>
        <p:nvSpPr>
          <p:cNvPr id="17" name="b3 warn note"/>
          <p:cNvSpPr txBox="1"/>
          <p:nvPr/>
        </p:nvSpPr>
        <p:spPr>
          <a:xfrm>
            <a:off x="8961120" y="4507992"/>
            <a:ext cx="2544775" cy="411480"/>
          </a:xfrm>
          <a:prstGeom prst="rect">
            <a:avLst/>
          </a:prstGeom>
          <a:noFill/>
        </p:spPr>
        <p:txBody>
          <a:bodyPr wrap="square" lIns="0" tIns="0" rIns="0" bIns="0" rtlCol="0" anchor="t"/>
          <a:lstStyle/>
          <a:p>
            <a:pPr marL="0" indent="0">
              <a:buNone/>
            </a:pPr>
            <a:r>
              <a:rPr lang="en-US" sz="1050" dirty="0">
                <a:solidFill>
                  <a:srgbClr val="262D36"/>
                </a:solidFill>
              </a:rPr>
              <a:t>Recorded project review, not an independent human panel.</a:t>
            </a:r>
            <a:endParaRPr lang="en-US" sz="1050" dirty="0"/>
          </a:p>
        </p:txBody>
      </p:sp>
      <p:sp>
        <p:nvSpPr>
          <p:cNvPr id="18" name="footnotes"/>
          <p:cNvSpPr txBox="1"/>
          <p:nvPr/>
        </p:nvSpPr>
        <p:spPr>
          <a:xfrm>
            <a:off x="548640" y="5193792"/>
            <a:ext cx="11064240" cy="749808"/>
          </a:xfrm>
          <a:prstGeom prst="rect">
            <a:avLst/>
          </a:prstGeom>
          <a:noFill/>
        </p:spPr>
        <p:txBody>
          <a:bodyPr wrap="square" lIns="0" tIns="0" rIns="0" bIns="0" rtlCol="0" anchor="t"/>
          <a:lstStyle/>
          <a:p>
            <a:pPr marL="0" indent="0">
              <a:lnSpc>
                <a:spcPct val="112000"/>
              </a:lnSpc>
              <a:buNone/>
            </a:pPr>
            <a:r>
              <a:rPr lang="en-US" sz="1050" dirty="0">
                <a:solidFill>
                  <a:schemeClr val="accent5"/>
                </a:solidFill>
              </a:rPr>
              <a:t>*Quality denominator: final language variants; supplied sets include two privacy checks without model calls.</a:t>
            </a:r>
            <a:endParaRPr lang="en-US" sz="1050" dirty="0"/>
          </a:p>
          <a:p>
            <a:pPr marL="0" indent="0">
              <a:lnSpc>
                <a:spcPct val="112000"/>
              </a:lnSpc>
              <a:buNone/>
            </a:pPr>
            <a:r>
              <a:rPr lang="en-US" sz="1050" dirty="0">
                <a:solidFill>
                  <a:schemeClr val="accent5"/>
                </a:solidFill>
              </a:rPr>
              <a:t>Model-step totals include baseline assessments. Cost uses app accounting, not provider invoices.</a:t>
            </a:r>
            <a:endParaRPr lang="en-US" sz="1050" dirty="0"/>
          </a:p>
          <a:p>
            <a:pPr marL="0" indent="0">
              <a:lnSpc>
                <a:spcPct val="112000"/>
              </a:lnSpc>
              <a:buNone/>
            </a:pPr>
            <a:r>
              <a:rPr lang="en-US" sz="1050" dirty="0">
                <a:solidFill>
                  <a:schemeClr val="accent5"/>
                </a:solidFill>
              </a:rPr>
              <a:t>Original supplied tests: 7bde4c8. Rerun and unseen tests: code later committed as 8ad14e3. No model reevaluation for 27f5ec9.</a:t>
            </a:r>
            <a:endParaRPr lang="en-US" sz="1050" dirty="0"/>
          </a:p>
        </p:txBody>
      </p:sp>
      <p:sp>
        <p:nvSpPr>
          <p:cNvPr id="19" name="source"/>
          <p:cNvSpPr txBox="1"/>
          <p:nvPr/>
        </p:nvSpPr>
        <p:spPr>
          <a:xfrm>
            <a:off x="548640" y="6053328"/>
            <a:ext cx="11064240" cy="219456"/>
          </a:xfrm>
          <a:prstGeom prst="rect">
            <a:avLst/>
          </a:prstGeom>
          <a:noFill/>
        </p:spPr>
        <p:txBody>
          <a:bodyPr wrap="square" lIns="0" tIns="0" rIns="0" bIns="0" rtlCol="0" anchor="t"/>
          <a:lstStyle/>
          <a:p>
            <a:pPr marL="0" indent="0">
              <a:buNone/>
            </a:pPr>
            <a:r>
              <a:rPr lang="en-US" sz="1000" dirty="0">
                <a:solidFill>
                  <a:schemeClr val="accent5"/>
                </a:solidFill>
              </a:rPr>
              <a:t>Sources: D03; evidence/supplied-original, supplied-current and unseen summary.json</a:t>
            </a:r>
            <a:endParaRPr lang="en-US" sz="1000" dirty="0"/>
          </a:p>
        </p:txBody>
      </p:sp>
      <p:sp>
        <p:nvSpPr>
          <p:cNvPr id="25"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0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00"/>
                                        <p:tgtEl>
                                          <p:spTgt spid="13"/>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HUMAN FEEDBACK DEMONSTRATION</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Preserved decisions—even when reassessment fails</a:t>
            </a:r>
            <a:endParaRPr lang="en-US" sz="3000" dirty="0"/>
          </a:p>
        </p:txBody>
      </p:sp>
      <p:sp>
        <p:nvSpPr>
          <p:cNvPr id="8" name="subtitle"/>
          <p:cNvSpPr txBox="1"/>
          <p:nvPr/>
        </p:nvSpPr>
        <p:spPr>
          <a:xfrm>
            <a:off x="548640" y="1344168"/>
            <a:ext cx="11064240" cy="365760"/>
          </a:xfrm>
          <a:prstGeom prst="rect">
            <a:avLst/>
          </a:prstGeom>
          <a:noFill/>
        </p:spPr>
        <p:txBody>
          <a:bodyPr wrap="square" lIns="0" tIns="0" rIns="0" bIns="0" rtlCol="0" anchor="t"/>
          <a:lstStyle/>
          <a:p>
            <a:pPr marL="0" indent="0">
              <a:buNone/>
            </a:pPr>
            <a:r>
              <a:rPr lang="en-US" sz="1600" dirty="0">
                <a:solidFill>
                  <a:schemeClr val="accent5"/>
                </a:solidFill>
              </a:rPr>
              <a:t>Five synthetic records • all four dispositions • seven revisions • two later simulated outcomes</a:t>
            </a:r>
            <a:endParaRPr lang="en-US" sz="1600" dirty="0"/>
          </a:p>
        </p:txBody>
      </p:sp>
      <p:sp>
        <p:nvSpPr>
          <p:cNvPr id="9" name="b1 flow line"/>
          <p:cNvSpPr/>
          <p:nvPr/>
        </p:nvSpPr>
        <p:spPr>
          <a:xfrm>
            <a:off x="704088" y="2176272"/>
            <a:ext cx="9070848" cy="0"/>
          </a:xfrm>
          <a:prstGeom prst="line">
            <a:avLst/>
          </a:prstGeom>
          <a:noFill/>
          <a:ln w="28575">
            <a:solidFill>
              <a:srgbClr val="D5DBE2"/>
            </a:solidFill>
            <a:prstDash val="solid"/>
          </a:ln>
        </p:spPr>
      </p:sp>
      <p:sp>
        <p:nvSpPr>
          <p:cNvPr id="10" name="b1 flow 0 dot"/>
          <p:cNvSpPr/>
          <p:nvPr/>
        </p:nvSpPr>
        <p:spPr>
          <a:xfrm>
            <a:off x="548640" y="2020824"/>
            <a:ext cx="310896" cy="310896"/>
          </a:xfrm>
          <a:prstGeom prst="ellipse">
            <a:avLst/>
          </a:prstGeom>
          <a:solidFill>
            <a:srgbClr val="13734B"/>
          </a:solidFill>
          <a:ln w="31750">
            <a:solidFill>
              <a:srgbClr val="FFFFFF"/>
            </a:solidFill>
            <a:prstDash val="solid"/>
          </a:ln>
        </p:spPr>
      </p:sp>
      <p:sp>
        <p:nvSpPr>
          <p:cNvPr id="11" name="b1 flow 0 head"/>
          <p:cNvSpPr txBox="1"/>
          <p:nvPr/>
        </p:nvSpPr>
        <p:spPr>
          <a:xfrm>
            <a:off x="548640" y="2468880"/>
            <a:ext cx="2148840" cy="292608"/>
          </a:xfrm>
          <a:prstGeom prst="rect">
            <a:avLst/>
          </a:prstGeom>
          <a:noFill/>
        </p:spPr>
        <p:txBody>
          <a:bodyPr wrap="square" lIns="0" tIns="0" rIns="0" bIns="0" rtlCol="0" anchor="t"/>
          <a:lstStyle/>
          <a:p>
            <a:pPr marL="0" indent="0">
              <a:buNone/>
            </a:pPr>
            <a:r>
              <a:rPr lang="en-US" sz="1400" b="1" dirty="0">
                <a:solidFill>
                  <a:schemeClr val="tx1"/>
                </a:solidFill>
              </a:rPr>
              <a:t>Initial assessment saved</a:t>
            </a:r>
            <a:endParaRPr lang="en-US" sz="1400" dirty="0"/>
          </a:p>
        </p:txBody>
      </p:sp>
      <p:sp>
        <p:nvSpPr>
          <p:cNvPr id="12" name="b1 flow 0 note"/>
          <p:cNvSpPr txBox="1"/>
          <p:nvPr/>
        </p:nvSpPr>
        <p:spPr>
          <a:xfrm>
            <a:off x="548640" y="2779776"/>
            <a:ext cx="2103120" cy="457200"/>
          </a:xfrm>
          <a:prstGeom prst="rect">
            <a:avLst/>
          </a:prstGeom>
          <a:noFill/>
        </p:spPr>
        <p:txBody>
          <a:bodyPr wrap="square" lIns="0" tIns="0" rIns="0" bIns="0" rtlCol="0" anchor="t"/>
          <a:lstStyle/>
          <a:p>
            <a:pPr marL="0" indent="0">
              <a:buNone/>
            </a:pPr>
            <a:r>
              <a:rPr lang="en-US" sz="1150" dirty="0">
                <a:solidFill>
                  <a:schemeClr val="accent5"/>
                </a:solidFill>
              </a:rPr>
              <a:t>real model call; high risk</a:t>
            </a:r>
            <a:endParaRPr lang="en-US" sz="1150" dirty="0"/>
          </a:p>
        </p:txBody>
      </p:sp>
      <p:sp>
        <p:nvSpPr>
          <p:cNvPr id="13" name="b2 flow 1 dot"/>
          <p:cNvSpPr/>
          <p:nvPr/>
        </p:nvSpPr>
        <p:spPr>
          <a:xfrm>
            <a:off x="2816352" y="2020824"/>
            <a:ext cx="310896" cy="310896"/>
          </a:xfrm>
          <a:prstGeom prst="ellipse">
            <a:avLst/>
          </a:prstGeom>
          <a:solidFill>
            <a:srgbClr val="0D1117"/>
          </a:solidFill>
          <a:ln w="31750">
            <a:solidFill>
              <a:srgbClr val="FFFFFF"/>
            </a:solidFill>
            <a:prstDash val="solid"/>
          </a:ln>
        </p:spPr>
      </p:sp>
      <p:sp>
        <p:nvSpPr>
          <p:cNvPr id="14" name="b2 flow 1 head"/>
          <p:cNvSpPr txBox="1"/>
          <p:nvPr/>
        </p:nvSpPr>
        <p:spPr>
          <a:xfrm>
            <a:off x="2816352" y="2468880"/>
            <a:ext cx="2148840" cy="292608"/>
          </a:xfrm>
          <a:prstGeom prst="rect">
            <a:avLst/>
          </a:prstGeom>
          <a:noFill/>
        </p:spPr>
        <p:txBody>
          <a:bodyPr wrap="square" lIns="0" tIns="0" rIns="0" bIns="0" rtlCol="0" anchor="t"/>
          <a:lstStyle/>
          <a:p>
            <a:pPr marL="0" indent="0">
              <a:buNone/>
            </a:pPr>
            <a:r>
              <a:rPr lang="en-US" sz="1400" b="1" dirty="0">
                <a:solidFill>
                  <a:schemeClr val="tx1"/>
                </a:solidFill>
              </a:rPr>
              <a:t>Five synthetic reviews</a:t>
            </a:r>
            <a:endParaRPr lang="en-US" sz="1400" dirty="0"/>
          </a:p>
        </p:txBody>
      </p:sp>
      <p:sp>
        <p:nvSpPr>
          <p:cNvPr id="15" name="b2 flow 1 note"/>
          <p:cNvSpPr txBox="1"/>
          <p:nvPr/>
        </p:nvSpPr>
        <p:spPr>
          <a:xfrm>
            <a:off x="2816352" y="2779776"/>
            <a:ext cx="2103120" cy="457200"/>
          </a:xfrm>
          <a:prstGeom prst="rect">
            <a:avLst/>
          </a:prstGeom>
          <a:noFill/>
        </p:spPr>
        <p:txBody>
          <a:bodyPr wrap="square" lIns="0" tIns="0" rIns="0" bIns="0" rtlCol="0" anchor="t"/>
          <a:lstStyle/>
          <a:p>
            <a:pPr marL="0" indent="0">
              <a:buNone/>
            </a:pPr>
            <a:r>
              <a:rPr lang="en-US" sz="1150" dirty="0">
                <a:solidFill>
                  <a:schemeClr val="accent5"/>
                </a:solidFill>
              </a:rPr>
              <a:t>accepted · modified · rejected · pending</a:t>
            </a:r>
            <a:endParaRPr lang="en-US" sz="1150" dirty="0"/>
          </a:p>
        </p:txBody>
      </p:sp>
      <p:sp>
        <p:nvSpPr>
          <p:cNvPr id="16" name="b3 flow 2 dot"/>
          <p:cNvSpPr/>
          <p:nvPr/>
        </p:nvSpPr>
        <p:spPr>
          <a:xfrm>
            <a:off x="5084064" y="2020824"/>
            <a:ext cx="310896" cy="310896"/>
          </a:xfrm>
          <a:prstGeom prst="ellipse">
            <a:avLst/>
          </a:prstGeom>
          <a:solidFill>
            <a:srgbClr val="B42318"/>
          </a:solidFill>
          <a:ln w="31750">
            <a:solidFill>
              <a:srgbClr val="FFFFFF"/>
            </a:solidFill>
            <a:prstDash val="solid"/>
          </a:ln>
        </p:spPr>
      </p:sp>
      <p:pic>
        <p:nvPicPr>
          <p:cNvPr id="17" name="b3 flow 2 mark" descr="preencoded.png"/>
          <p:cNvPicPr>
            <a:picLocks noChangeAspect="1"/>
          </p:cNvPicPr>
          <p:nvPr/>
        </p:nvPicPr>
        <p:blipFill>
          <a:blip r:embed="rId1"/>
          <a:stretch>
            <a:fillRect/>
          </a:stretch>
        </p:blipFill>
        <p:spPr>
          <a:xfrm>
            <a:off x="5148072" y="2084832"/>
            <a:ext cx="182880" cy="182880"/>
          </a:xfrm>
          <a:prstGeom prst="rect">
            <a:avLst/>
          </a:prstGeom>
        </p:spPr>
      </p:pic>
      <p:sp>
        <p:nvSpPr>
          <p:cNvPr id="18" name="b3 flow 2 head"/>
          <p:cNvSpPr txBox="1"/>
          <p:nvPr/>
        </p:nvSpPr>
        <p:spPr>
          <a:xfrm>
            <a:off x="5084064" y="2468880"/>
            <a:ext cx="2148840" cy="292608"/>
          </a:xfrm>
          <a:prstGeom prst="rect">
            <a:avLst/>
          </a:prstGeom>
          <a:noFill/>
        </p:spPr>
        <p:txBody>
          <a:bodyPr wrap="square" lIns="0" tIns="0" rIns="0" bIns="0" rtlCol="0" anchor="t"/>
          <a:lstStyle/>
          <a:p>
            <a:pPr marL="0" indent="0">
              <a:buNone/>
            </a:pPr>
            <a:r>
              <a:rPr lang="en-US" sz="1400" b="1" dirty="0">
                <a:solidFill>
                  <a:schemeClr val="accent4"/>
                </a:solidFill>
              </a:rPr>
              <a:t>Reassessment failed</a:t>
            </a:r>
            <a:endParaRPr lang="en-US" sz="1400" dirty="0"/>
          </a:p>
        </p:txBody>
      </p:sp>
      <p:sp>
        <p:nvSpPr>
          <p:cNvPr id="19" name="b3 flow 2 note"/>
          <p:cNvSpPr txBox="1"/>
          <p:nvPr/>
        </p:nvSpPr>
        <p:spPr>
          <a:xfrm>
            <a:off x="5084064" y="2779776"/>
            <a:ext cx="2103120" cy="457200"/>
          </a:xfrm>
          <a:prstGeom prst="rect">
            <a:avLst/>
          </a:prstGeom>
          <a:noFill/>
        </p:spPr>
        <p:txBody>
          <a:bodyPr wrap="square" lIns="0" tIns="0" rIns="0" bIns="0" rtlCol="0" anchor="t"/>
          <a:lstStyle/>
          <a:p>
            <a:pPr marL="0" indent="0">
              <a:buNone/>
            </a:pPr>
            <a:r>
              <a:rPr lang="en-US" sz="1150" dirty="0">
                <a:solidFill>
                  <a:schemeClr val="accent5"/>
                </a:solidFill>
              </a:rPr>
              <a:t>an uncited fact</a:t>
            </a:r>
            <a:endParaRPr lang="en-US" sz="1150" dirty="0"/>
          </a:p>
        </p:txBody>
      </p:sp>
      <p:sp>
        <p:nvSpPr>
          <p:cNvPr id="20" name="b4 flow 3 dot"/>
          <p:cNvSpPr/>
          <p:nvPr/>
        </p:nvSpPr>
        <p:spPr>
          <a:xfrm>
            <a:off x="7351776" y="2020824"/>
            <a:ext cx="310896" cy="310896"/>
          </a:xfrm>
          <a:prstGeom prst="ellipse">
            <a:avLst/>
          </a:prstGeom>
          <a:solidFill>
            <a:srgbClr val="B42318"/>
          </a:solidFill>
          <a:ln w="31750">
            <a:solidFill>
              <a:srgbClr val="FFFFFF"/>
            </a:solidFill>
            <a:prstDash val="solid"/>
          </a:ln>
        </p:spPr>
      </p:sp>
      <p:pic>
        <p:nvPicPr>
          <p:cNvPr id="21" name="b4 flow 3 mark" descr="preencoded.png"/>
          <p:cNvPicPr>
            <a:picLocks noChangeAspect="1"/>
          </p:cNvPicPr>
          <p:nvPr/>
        </p:nvPicPr>
        <p:blipFill>
          <a:blip r:embed="rId1"/>
          <a:stretch>
            <a:fillRect/>
          </a:stretch>
        </p:blipFill>
        <p:spPr>
          <a:xfrm>
            <a:off x="7415784" y="2084832"/>
            <a:ext cx="182880" cy="182880"/>
          </a:xfrm>
          <a:prstGeom prst="rect">
            <a:avLst/>
          </a:prstGeom>
        </p:spPr>
      </p:pic>
      <p:sp>
        <p:nvSpPr>
          <p:cNvPr id="22" name="b4 flow 3 head"/>
          <p:cNvSpPr txBox="1"/>
          <p:nvPr/>
        </p:nvSpPr>
        <p:spPr>
          <a:xfrm>
            <a:off x="7351776" y="2468880"/>
            <a:ext cx="2148840" cy="292608"/>
          </a:xfrm>
          <a:prstGeom prst="rect">
            <a:avLst/>
          </a:prstGeom>
          <a:noFill/>
        </p:spPr>
        <p:txBody>
          <a:bodyPr wrap="square" lIns="0" tIns="0" rIns="0" bIns="0" rtlCol="0" anchor="t"/>
          <a:lstStyle/>
          <a:p>
            <a:pPr marL="0" indent="0">
              <a:buNone/>
            </a:pPr>
            <a:r>
              <a:rPr lang="en-US" sz="1400" b="1" dirty="0">
                <a:solidFill>
                  <a:schemeClr val="accent4"/>
                </a:solidFill>
              </a:rPr>
              <a:t>Its one repair failed</a:t>
            </a:r>
            <a:endParaRPr lang="en-US" sz="1400" dirty="0"/>
          </a:p>
        </p:txBody>
      </p:sp>
      <p:sp>
        <p:nvSpPr>
          <p:cNvPr id="23" name="b4 flow 3 note"/>
          <p:cNvSpPr txBox="1"/>
          <p:nvPr/>
        </p:nvSpPr>
        <p:spPr>
          <a:xfrm>
            <a:off x="7351776" y="2779776"/>
            <a:ext cx="2103120" cy="457200"/>
          </a:xfrm>
          <a:prstGeom prst="rect">
            <a:avLst/>
          </a:prstGeom>
          <a:noFill/>
        </p:spPr>
        <p:txBody>
          <a:bodyPr wrap="square" lIns="0" tIns="0" rIns="0" bIns="0" rtlCol="0" anchor="t"/>
          <a:lstStyle/>
          <a:p>
            <a:pPr marL="0" indent="0">
              <a:buNone/>
            </a:pPr>
            <a:r>
              <a:rPr lang="en-US" sz="1150" dirty="0">
                <a:solidFill>
                  <a:schemeClr val="accent5"/>
                </a:solidFill>
              </a:rPr>
              <a:t>invented a source identifier</a:t>
            </a:r>
            <a:endParaRPr lang="en-US" sz="1150" dirty="0"/>
          </a:p>
        </p:txBody>
      </p:sp>
      <p:sp>
        <p:nvSpPr>
          <p:cNvPr id="24" name="b5 flow 4 dot"/>
          <p:cNvSpPr/>
          <p:nvPr/>
        </p:nvSpPr>
        <p:spPr>
          <a:xfrm>
            <a:off x="9619488" y="2020824"/>
            <a:ext cx="310896" cy="310896"/>
          </a:xfrm>
          <a:prstGeom prst="ellipse">
            <a:avLst/>
          </a:prstGeom>
          <a:solidFill>
            <a:srgbClr val="13734B"/>
          </a:solidFill>
          <a:ln w="31750">
            <a:solidFill>
              <a:srgbClr val="FFFFFF"/>
            </a:solidFill>
            <a:prstDash val="solid"/>
          </a:ln>
        </p:spPr>
      </p:sp>
      <p:sp>
        <p:nvSpPr>
          <p:cNvPr id="25" name="b5 flow 4 head"/>
          <p:cNvSpPr txBox="1"/>
          <p:nvPr/>
        </p:nvSpPr>
        <p:spPr>
          <a:xfrm>
            <a:off x="9619488" y="2468880"/>
            <a:ext cx="2148840" cy="292608"/>
          </a:xfrm>
          <a:prstGeom prst="rect">
            <a:avLst/>
          </a:prstGeom>
          <a:noFill/>
        </p:spPr>
        <p:txBody>
          <a:bodyPr wrap="square" lIns="0" tIns="0" rIns="0" bIns="0" rtlCol="0" anchor="t"/>
          <a:lstStyle/>
          <a:p>
            <a:pPr marL="0" indent="0">
              <a:buNone/>
            </a:pPr>
            <a:r>
              <a:rPr lang="en-US" sz="1400" b="1" dirty="0">
                <a:solidFill>
                  <a:schemeClr val="tx1"/>
                </a:solidFill>
              </a:rPr>
              <a:t>Prior assessment kept</a:t>
            </a:r>
            <a:endParaRPr lang="en-US" sz="1400" dirty="0"/>
          </a:p>
        </p:txBody>
      </p:sp>
      <p:sp>
        <p:nvSpPr>
          <p:cNvPr id="26" name="b5 flow 4 note"/>
          <p:cNvSpPr txBox="1"/>
          <p:nvPr/>
        </p:nvSpPr>
        <p:spPr>
          <a:xfrm>
            <a:off x="9619488" y="2779776"/>
            <a:ext cx="2103120" cy="457200"/>
          </a:xfrm>
          <a:prstGeom prst="rect">
            <a:avLst/>
          </a:prstGeom>
          <a:noFill/>
        </p:spPr>
        <p:txBody>
          <a:bodyPr wrap="square" lIns="0" tIns="0" rIns="0" bIns="0" rtlCol="0" anchor="t"/>
          <a:lstStyle/>
          <a:p>
            <a:pPr marL="0" indent="0">
              <a:buNone/>
            </a:pPr>
            <a:r>
              <a:rPr lang="en-US" sz="1150" dirty="0">
                <a:solidFill>
                  <a:schemeClr val="accent5"/>
                </a:solidFill>
              </a:rPr>
              <a:t>all reviews intact</a:t>
            </a:r>
            <a:endParaRPr lang="en-US" sz="1150" dirty="0"/>
          </a:p>
        </p:txBody>
      </p:sp>
      <p:sp>
        <p:nvSpPr>
          <p:cNvPr id="27" name="b6 col 0 card"/>
          <p:cNvSpPr/>
          <p:nvPr/>
        </p:nvSpPr>
        <p:spPr>
          <a:xfrm>
            <a:off x="548640" y="3493008"/>
            <a:ext cx="5431536" cy="2395728"/>
          </a:xfrm>
          <a:prstGeom prst="roundRect">
            <a:avLst>
              <a:gd name="adj" fmla="val 2290"/>
            </a:avLst>
          </a:prstGeom>
          <a:solidFill>
            <a:srgbClr val="E6F3EC"/>
          </a:solidFill>
        </p:spPr>
      </p:sp>
      <p:pic>
        <p:nvPicPr>
          <p:cNvPr id="28" name="b6 col 0 icon" descr="preencoded.png"/>
          <p:cNvPicPr>
            <a:picLocks noChangeAspect="1"/>
          </p:cNvPicPr>
          <p:nvPr/>
        </p:nvPicPr>
        <p:blipFill>
          <a:blip r:embed="rId2"/>
          <a:stretch>
            <a:fillRect/>
          </a:stretch>
        </p:blipFill>
        <p:spPr>
          <a:xfrm>
            <a:off x="822960" y="3767328"/>
            <a:ext cx="365760" cy="365760"/>
          </a:xfrm>
          <a:prstGeom prst="rect">
            <a:avLst/>
          </a:prstGeom>
        </p:spPr>
      </p:pic>
      <p:sp>
        <p:nvSpPr>
          <p:cNvPr id="29" name="b6 col 0 head"/>
          <p:cNvSpPr txBox="1"/>
          <p:nvPr/>
        </p:nvSpPr>
        <p:spPr>
          <a:xfrm>
            <a:off x="1325880" y="3758184"/>
            <a:ext cx="4389120" cy="384048"/>
          </a:xfrm>
          <a:prstGeom prst="rect">
            <a:avLst/>
          </a:prstGeom>
          <a:noFill/>
        </p:spPr>
        <p:txBody>
          <a:bodyPr wrap="square" lIns="0" tIns="0" rIns="0" bIns="0" rtlCol="0" anchor="ctr"/>
          <a:lstStyle/>
          <a:p>
            <a:pPr marL="0" indent="0">
              <a:buNone/>
            </a:pPr>
            <a:r>
              <a:rPr lang="en-US" sz="1900" b="1" dirty="0">
                <a:solidFill>
                  <a:schemeClr val="accent2"/>
                </a:solidFill>
              </a:rPr>
              <a:t>What was demonstrated</a:t>
            </a:r>
            <a:endParaRPr lang="en-US" sz="1900" dirty="0"/>
          </a:p>
        </p:txBody>
      </p:sp>
      <p:pic>
        <p:nvPicPr>
          <p:cNvPr id="30" name="b6 col 0 mark 0" descr="preencoded.png"/>
          <p:cNvPicPr>
            <a:picLocks noChangeAspect="1"/>
          </p:cNvPicPr>
          <p:nvPr/>
        </p:nvPicPr>
        <p:blipFill>
          <a:blip r:embed="rId3"/>
          <a:stretch>
            <a:fillRect/>
          </a:stretch>
        </p:blipFill>
        <p:spPr>
          <a:xfrm>
            <a:off x="877824" y="4443984"/>
            <a:ext cx="237744" cy="237744"/>
          </a:xfrm>
          <a:prstGeom prst="rect">
            <a:avLst/>
          </a:prstGeom>
        </p:spPr>
      </p:pic>
      <p:sp>
        <p:nvSpPr>
          <p:cNvPr id="31" name="b6 col 0 line 0"/>
          <p:cNvSpPr txBox="1"/>
          <p:nvPr/>
        </p:nvSpPr>
        <p:spPr>
          <a:xfrm>
            <a:off x="1325880" y="4389120"/>
            <a:ext cx="4480560" cy="347472"/>
          </a:xfrm>
          <a:prstGeom prst="rect">
            <a:avLst/>
          </a:prstGeom>
          <a:noFill/>
        </p:spPr>
        <p:txBody>
          <a:bodyPr wrap="square" lIns="0" tIns="0" rIns="0" bIns="0" rtlCol="0" anchor="ctr"/>
          <a:lstStyle/>
          <a:p>
            <a:pPr marL="0" indent="0">
              <a:buNone/>
            </a:pPr>
            <a:r>
              <a:rPr lang="en-US" sz="1450" dirty="0">
                <a:solidFill>
                  <a:srgbClr val="262D36"/>
                </a:solidFill>
              </a:rPr>
              <a:t>Original recommendations and reasons retained.</a:t>
            </a:r>
            <a:endParaRPr lang="en-US" sz="1450" dirty="0"/>
          </a:p>
        </p:txBody>
      </p:sp>
      <p:pic>
        <p:nvPicPr>
          <p:cNvPr id="32" name="b6 col 0 mark 1" descr="preencoded.png"/>
          <p:cNvPicPr>
            <a:picLocks noChangeAspect="1"/>
          </p:cNvPicPr>
          <p:nvPr/>
        </p:nvPicPr>
        <p:blipFill>
          <a:blip r:embed="rId3"/>
          <a:stretch>
            <a:fillRect/>
          </a:stretch>
        </p:blipFill>
        <p:spPr>
          <a:xfrm>
            <a:off x="877824" y="4901184"/>
            <a:ext cx="237744" cy="237744"/>
          </a:xfrm>
          <a:prstGeom prst="rect">
            <a:avLst/>
          </a:prstGeom>
        </p:spPr>
      </p:pic>
      <p:sp>
        <p:nvSpPr>
          <p:cNvPr id="33" name="b6 col 0 line 1"/>
          <p:cNvSpPr txBox="1"/>
          <p:nvPr/>
        </p:nvSpPr>
        <p:spPr>
          <a:xfrm>
            <a:off x="1325880" y="4846320"/>
            <a:ext cx="4480560" cy="347472"/>
          </a:xfrm>
          <a:prstGeom prst="rect">
            <a:avLst/>
          </a:prstGeom>
          <a:noFill/>
        </p:spPr>
        <p:txBody>
          <a:bodyPr wrap="square" lIns="0" tIns="0" rIns="0" bIns="0" rtlCol="0" anchor="ctr"/>
          <a:lstStyle/>
          <a:p>
            <a:pPr marL="0" indent="0">
              <a:buNone/>
            </a:pPr>
            <a:r>
              <a:rPr lang="en-US" sz="1450" dirty="0">
                <a:solidFill>
                  <a:srgbClr val="262D36"/>
                </a:solidFill>
              </a:rPr>
              <a:t>Later outcomes added without losing history.</a:t>
            </a:r>
            <a:endParaRPr lang="en-US" sz="1450" dirty="0"/>
          </a:p>
        </p:txBody>
      </p:sp>
      <p:pic>
        <p:nvPicPr>
          <p:cNvPr id="34" name="b6 col 0 mark 2" descr="preencoded.png"/>
          <p:cNvPicPr>
            <a:picLocks noChangeAspect="1"/>
          </p:cNvPicPr>
          <p:nvPr/>
        </p:nvPicPr>
        <p:blipFill>
          <a:blip r:embed="rId3"/>
          <a:stretch>
            <a:fillRect/>
          </a:stretch>
        </p:blipFill>
        <p:spPr>
          <a:xfrm>
            <a:off x="877824" y="5358384"/>
            <a:ext cx="237744" cy="237744"/>
          </a:xfrm>
          <a:prstGeom prst="rect">
            <a:avLst/>
          </a:prstGeom>
        </p:spPr>
      </p:pic>
      <p:sp>
        <p:nvSpPr>
          <p:cNvPr id="35" name="b6 col 0 line 2"/>
          <p:cNvSpPr txBox="1"/>
          <p:nvPr/>
        </p:nvSpPr>
        <p:spPr>
          <a:xfrm>
            <a:off x="1325880" y="5303520"/>
            <a:ext cx="4480560" cy="347472"/>
          </a:xfrm>
          <a:prstGeom prst="rect">
            <a:avLst/>
          </a:prstGeom>
          <a:noFill/>
        </p:spPr>
        <p:txBody>
          <a:bodyPr wrap="square" lIns="0" tIns="0" rIns="0" bIns="0" rtlCol="0" anchor="ctr"/>
          <a:lstStyle/>
          <a:p>
            <a:pPr marL="0" indent="0">
              <a:buNone/>
            </a:pPr>
            <a:r>
              <a:rPr lang="en-US" sz="1450" dirty="0">
                <a:solidFill>
                  <a:srgbClr val="262D36"/>
                </a:solidFill>
              </a:rPr>
              <a:t>Previous valid assessment preserved on error.</a:t>
            </a:r>
            <a:endParaRPr lang="en-US" sz="1450" dirty="0"/>
          </a:p>
        </p:txBody>
      </p:sp>
      <p:sp>
        <p:nvSpPr>
          <p:cNvPr id="36" name="b7 col 1 card"/>
          <p:cNvSpPr/>
          <p:nvPr/>
        </p:nvSpPr>
        <p:spPr>
          <a:xfrm>
            <a:off x="6208776" y="3493008"/>
            <a:ext cx="5431536" cy="2395728"/>
          </a:xfrm>
          <a:prstGeom prst="roundRect">
            <a:avLst>
              <a:gd name="adj" fmla="val 2290"/>
            </a:avLst>
          </a:prstGeom>
          <a:solidFill>
            <a:srgbClr val="FBEAE8"/>
          </a:solidFill>
        </p:spPr>
      </p:sp>
      <p:pic>
        <p:nvPicPr>
          <p:cNvPr id="37" name="b7 col 1 icon" descr="preencoded.png"/>
          <p:cNvPicPr>
            <a:picLocks noChangeAspect="1"/>
          </p:cNvPicPr>
          <p:nvPr/>
        </p:nvPicPr>
        <p:blipFill>
          <a:blip r:embed="rId4"/>
          <a:stretch>
            <a:fillRect/>
          </a:stretch>
        </p:blipFill>
        <p:spPr>
          <a:xfrm>
            <a:off x="6483096" y="3767328"/>
            <a:ext cx="365760" cy="365760"/>
          </a:xfrm>
          <a:prstGeom prst="rect">
            <a:avLst/>
          </a:prstGeom>
        </p:spPr>
      </p:pic>
      <p:sp>
        <p:nvSpPr>
          <p:cNvPr id="38" name="b7 col 1 head"/>
          <p:cNvSpPr txBox="1"/>
          <p:nvPr/>
        </p:nvSpPr>
        <p:spPr>
          <a:xfrm>
            <a:off x="6986016" y="3758184"/>
            <a:ext cx="4389120" cy="384048"/>
          </a:xfrm>
          <a:prstGeom prst="rect">
            <a:avLst/>
          </a:prstGeom>
          <a:noFill/>
        </p:spPr>
        <p:txBody>
          <a:bodyPr wrap="square" lIns="0" tIns="0" rIns="0" bIns="0" rtlCol="0" anchor="ctr"/>
          <a:lstStyle/>
          <a:p>
            <a:pPr marL="0" indent="0">
              <a:buNone/>
            </a:pPr>
            <a:r>
              <a:rPr lang="en-US" sz="1900" b="1" dirty="0">
                <a:solidFill>
                  <a:schemeClr val="accent4"/>
                </a:solidFill>
              </a:rPr>
              <a:t>What was not demonstrated</a:t>
            </a:r>
            <a:endParaRPr lang="en-US" sz="1900" dirty="0"/>
          </a:p>
        </p:txBody>
      </p:sp>
      <p:pic>
        <p:nvPicPr>
          <p:cNvPr id="39" name="b7 col 1 mark 0" descr="preencoded.png"/>
          <p:cNvPicPr>
            <a:picLocks noChangeAspect="1"/>
          </p:cNvPicPr>
          <p:nvPr/>
        </p:nvPicPr>
        <p:blipFill>
          <a:blip r:embed="rId5"/>
          <a:stretch>
            <a:fillRect/>
          </a:stretch>
        </p:blipFill>
        <p:spPr>
          <a:xfrm>
            <a:off x="6537960" y="4443984"/>
            <a:ext cx="237744" cy="237744"/>
          </a:xfrm>
          <a:prstGeom prst="rect">
            <a:avLst/>
          </a:prstGeom>
        </p:spPr>
      </p:pic>
      <p:sp>
        <p:nvSpPr>
          <p:cNvPr id="40" name="b7 col 1 line 0"/>
          <p:cNvSpPr txBox="1"/>
          <p:nvPr/>
        </p:nvSpPr>
        <p:spPr>
          <a:xfrm>
            <a:off x="6986016" y="4389120"/>
            <a:ext cx="4480560" cy="347472"/>
          </a:xfrm>
          <a:prstGeom prst="rect">
            <a:avLst/>
          </a:prstGeom>
          <a:noFill/>
        </p:spPr>
        <p:txBody>
          <a:bodyPr wrap="square" lIns="0" tIns="0" rIns="0" bIns="0" rtlCol="0" anchor="ctr"/>
          <a:lstStyle/>
          <a:p>
            <a:pPr marL="0" indent="0">
              <a:buNone/>
            </a:pPr>
            <a:r>
              <a:rPr lang="en-US" sz="1450" dirty="0">
                <a:solidFill>
                  <a:srgbClr val="262D36"/>
                </a:solidFill>
              </a:rPr>
              <a:t>The reassessment failed after one repair.</a:t>
            </a:r>
            <a:endParaRPr lang="en-US" sz="1450" dirty="0"/>
          </a:p>
        </p:txBody>
      </p:sp>
      <p:pic>
        <p:nvPicPr>
          <p:cNvPr id="41" name="b7 col 1 mark 1" descr="preencoded.png"/>
          <p:cNvPicPr>
            <a:picLocks noChangeAspect="1"/>
          </p:cNvPicPr>
          <p:nvPr/>
        </p:nvPicPr>
        <p:blipFill>
          <a:blip r:embed="rId5"/>
          <a:stretch>
            <a:fillRect/>
          </a:stretch>
        </p:blipFill>
        <p:spPr>
          <a:xfrm>
            <a:off x="6537960" y="4901184"/>
            <a:ext cx="237744" cy="237744"/>
          </a:xfrm>
          <a:prstGeom prst="rect">
            <a:avLst/>
          </a:prstGeom>
        </p:spPr>
      </p:pic>
      <p:sp>
        <p:nvSpPr>
          <p:cNvPr id="42" name="b7 col 1 line 1"/>
          <p:cNvSpPr txBox="1"/>
          <p:nvPr/>
        </p:nvSpPr>
        <p:spPr>
          <a:xfrm>
            <a:off x="6986016" y="4846320"/>
            <a:ext cx="4480560" cy="347472"/>
          </a:xfrm>
          <a:prstGeom prst="rect">
            <a:avLst/>
          </a:prstGeom>
          <a:noFill/>
        </p:spPr>
        <p:txBody>
          <a:bodyPr wrap="square" lIns="0" tIns="0" rIns="0" bIns="0" rtlCol="0" anchor="ctr"/>
          <a:lstStyle/>
          <a:p>
            <a:pPr marL="0" indent="0">
              <a:buNone/>
            </a:pPr>
            <a:r>
              <a:rPr lang="en-US" sz="1450" dirty="0">
                <a:solidFill>
                  <a:srgbClr val="262D36"/>
                </a:solidFill>
              </a:rPr>
              <a:t>The repair invented a source identifier.</a:t>
            </a:r>
            <a:endParaRPr lang="en-US" sz="1450" dirty="0"/>
          </a:p>
        </p:txBody>
      </p:sp>
      <p:pic>
        <p:nvPicPr>
          <p:cNvPr id="43" name="b7 col 1 mark 2" descr="preencoded.png"/>
          <p:cNvPicPr>
            <a:picLocks noChangeAspect="1"/>
          </p:cNvPicPr>
          <p:nvPr/>
        </p:nvPicPr>
        <p:blipFill>
          <a:blip r:embed="rId5"/>
          <a:stretch>
            <a:fillRect/>
          </a:stretch>
        </p:blipFill>
        <p:spPr>
          <a:xfrm>
            <a:off x="6537960" y="5358384"/>
            <a:ext cx="237744" cy="237744"/>
          </a:xfrm>
          <a:prstGeom prst="rect">
            <a:avLst/>
          </a:prstGeom>
        </p:spPr>
      </p:pic>
      <p:sp>
        <p:nvSpPr>
          <p:cNvPr id="44" name="b7 col 1 line 2"/>
          <p:cNvSpPr txBox="1"/>
          <p:nvPr/>
        </p:nvSpPr>
        <p:spPr>
          <a:xfrm>
            <a:off x="6986016" y="5303520"/>
            <a:ext cx="4480560" cy="347472"/>
          </a:xfrm>
          <a:prstGeom prst="rect">
            <a:avLst/>
          </a:prstGeom>
          <a:noFill/>
        </p:spPr>
        <p:txBody>
          <a:bodyPr wrap="square" lIns="0" tIns="0" rIns="0" bIns="0" rtlCol="0" anchor="ctr"/>
          <a:lstStyle/>
          <a:p>
            <a:pPr marL="0" indent="0">
              <a:buNone/>
            </a:pPr>
            <a:r>
              <a:rPr lang="en-US" sz="1450" dirty="0">
                <a:solidFill>
                  <a:srgbClr val="262D36"/>
                </a:solidFill>
              </a:rPr>
              <a:t>These are not real participant observations.</a:t>
            </a:r>
            <a:endParaRPr lang="en-US" sz="1450" dirty="0"/>
          </a:p>
        </p:txBody>
      </p:sp>
      <p:sp>
        <p:nvSpPr>
          <p:cNvPr id="45" name="source"/>
          <p:cNvSpPr txBox="1"/>
          <p:nvPr/>
        </p:nvSpPr>
        <p:spPr>
          <a:xfrm>
            <a:off x="548640" y="6053328"/>
            <a:ext cx="11064240" cy="219456"/>
          </a:xfrm>
          <a:prstGeom prst="rect">
            <a:avLst/>
          </a:prstGeom>
          <a:noFill/>
        </p:spPr>
        <p:txBody>
          <a:bodyPr wrap="square" lIns="0" tIns="0" rIns="0" bIns="0" rtlCol="0" anchor="t"/>
          <a:lstStyle/>
          <a:p>
            <a:pPr marL="0" indent="0">
              <a:buNone/>
            </a:pPr>
            <a:r>
              <a:rPr lang="en-US" sz="1000" dirty="0">
                <a:solidFill>
                  <a:schemeClr val="accent5"/>
                </a:solidFill>
              </a:rPr>
              <a:t>Sources: D05-synthetic-feedback.md/.csv/.json; evidence/feedback/reassessment-review.md. Synthetic demonstration, not a real-user study.</a:t>
            </a:r>
            <a:endParaRPr lang="en-US" sz="100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6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00"/>
                                        <p:tgtEl>
                                          <p:spTgt spid="15"/>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childTnLst>
                          </p:cTn>
                        </p:par>
                        <p:par>
                          <p:cTn id="40" fill="hold">
                            <p:stCondLst>
                              <p:cond delay="2000"/>
                            </p:stCondLst>
                            <p:childTnLst>
                              <p:par>
                                <p:cTn id="41" presetID="10" presetClass="entr" presetSubtype="0" fill="hold" grpId="0" nodeType="after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00"/>
                                        <p:tgtEl>
                                          <p:spTgt spid="23"/>
                                        </p:tgtEl>
                                      </p:cBhvr>
                                    </p:animEffect>
                                  </p:childTnLst>
                                </p:cTn>
                              </p:par>
                            </p:childTnLst>
                          </p:cTn>
                        </p:par>
                        <p:par>
                          <p:cTn id="53" fill="hold">
                            <p:stCondLst>
                              <p:cond delay="2500"/>
                            </p:stCondLst>
                            <p:childTnLst>
                              <p:par>
                                <p:cTn id="54" presetID="10" presetClass="entr" presetSubtype="0" fill="hold" grpId="0" nodeType="after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0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0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childTnLst>
                          </p:cTn>
                        </p:par>
                        <p:par>
                          <p:cTn id="63" fill="hold">
                            <p:stCondLst>
                              <p:cond delay="3000"/>
                            </p:stCondLst>
                            <p:childTnLst>
                              <p:par>
                                <p:cTn id="64" presetID="10" presetClass="entr" presetSubtype="0" fill="hold" grpId="0"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4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00"/>
                                        <p:tgtEl>
                                          <p:spTgt spid="3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4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4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4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400"/>
                                        <p:tgtEl>
                                          <p:spTgt spid="35"/>
                                        </p:tgtEl>
                                      </p:cBhvr>
                                    </p:animEffect>
                                  </p:childTnLst>
                                </p:cTn>
                              </p:par>
                            </p:childTnLst>
                          </p:cTn>
                        </p:par>
                        <p:par>
                          <p:cTn id="91" fill="hold">
                            <p:stCondLst>
                              <p:cond delay="3500"/>
                            </p:stCondLst>
                            <p:childTnLst>
                              <p:par>
                                <p:cTn id="92" presetID="10" presetClass="entr" presetSubtype="0" fill="hold" grpId="0" nodeType="after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00"/>
                                        <p:tgtEl>
                                          <p:spTgt spid="3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7"/>
                                        </p:tgtEl>
                                        <p:attrNameLst>
                                          <p:attrName>style.visibility</p:attrName>
                                        </p:attrNameLst>
                                      </p:cBhvr>
                                      <p:to>
                                        <p:strVal val="visible"/>
                                      </p:to>
                                    </p:set>
                                    <p:animEffect transition="in" filter="fade">
                                      <p:cBhvr>
                                        <p:cTn id="97" dur="400"/>
                                        <p:tgtEl>
                                          <p:spTgt spid="3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8"/>
                                        </p:tgtEl>
                                        <p:attrNameLst>
                                          <p:attrName>style.visibility</p:attrName>
                                        </p:attrNameLst>
                                      </p:cBhvr>
                                      <p:to>
                                        <p:strVal val="visible"/>
                                      </p:to>
                                    </p:set>
                                    <p:animEffect transition="in" filter="fade">
                                      <p:cBhvr>
                                        <p:cTn id="100" dur="400"/>
                                        <p:tgtEl>
                                          <p:spTgt spid="38"/>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9"/>
                                        </p:tgtEl>
                                        <p:attrNameLst>
                                          <p:attrName>style.visibility</p:attrName>
                                        </p:attrNameLst>
                                      </p:cBhvr>
                                      <p:to>
                                        <p:strVal val="visible"/>
                                      </p:to>
                                    </p:set>
                                    <p:animEffect transition="in" filter="fade">
                                      <p:cBhvr>
                                        <p:cTn id="103" dur="400"/>
                                        <p:tgtEl>
                                          <p:spTgt spid="3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0"/>
                                        </p:tgtEl>
                                        <p:attrNameLst>
                                          <p:attrName>style.visibility</p:attrName>
                                        </p:attrNameLst>
                                      </p:cBhvr>
                                      <p:to>
                                        <p:strVal val="visible"/>
                                      </p:to>
                                    </p:set>
                                    <p:animEffect transition="in" filter="fade">
                                      <p:cBhvr>
                                        <p:cTn id="106" dur="400"/>
                                        <p:tgtEl>
                                          <p:spTgt spid="40"/>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400"/>
                                        <p:tgtEl>
                                          <p:spTgt spid="41"/>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2"/>
                                        </p:tgtEl>
                                        <p:attrNameLst>
                                          <p:attrName>style.visibility</p:attrName>
                                        </p:attrNameLst>
                                      </p:cBhvr>
                                      <p:to>
                                        <p:strVal val="visible"/>
                                      </p:to>
                                    </p:set>
                                    <p:animEffect transition="in" filter="fade">
                                      <p:cBhvr>
                                        <p:cTn id="112" dur="400"/>
                                        <p:tgtEl>
                                          <p:spTgt spid="42"/>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3"/>
                                        </p:tgtEl>
                                        <p:attrNameLst>
                                          <p:attrName>style.visibility</p:attrName>
                                        </p:attrNameLst>
                                      </p:cBhvr>
                                      <p:to>
                                        <p:strVal val="visible"/>
                                      </p:to>
                                    </p:set>
                                    <p:animEffect transition="in" filter="fade">
                                      <p:cBhvr>
                                        <p:cTn id="115" dur="400"/>
                                        <p:tgtEl>
                                          <p:spTgt spid="43"/>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4"/>
                                        </p:tgtEl>
                                        <p:attrNameLst>
                                          <p:attrName>style.visibility</p:attrName>
                                        </p:attrNameLst>
                                      </p:cBhvr>
                                      <p:to>
                                        <p:strVal val="visible"/>
                                      </p:to>
                                    </p:set>
                                    <p:animEffect transition="in" filter="fade">
                                      <p:cBhvr>
                                        <p:cTn id="118"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8" grpId="0" animBg="1"/>
      <p:bldP spid="19" grpId="0" animBg="1"/>
      <p:bldP spid="20" grpId="0" animBg="1"/>
      <p:bldP spid="22" grpId="0" animBg="1"/>
      <p:bldP spid="23" grpId="0" animBg="1"/>
      <p:bldP spid="24" grpId="0" animBg="1"/>
      <p:bldP spid="25" grpId="0" animBg="1"/>
      <p:bldP spid="26" grpId="0" animBg="1"/>
      <p:bldP spid="27" grpId="0" animBg="1"/>
      <p:bldP spid="29" grpId="0" animBg="1"/>
      <p:bldP spid="31" grpId="0" animBg="1"/>
      <p:bldP spid="33" grpId="0" animBg="1"/>
      <p:bldP spid="35" grpId="0" animBg="1"/>
      <p:bldP spid="36" grpId="0" animBg="1"/>
      <p:bldP spid="38" grpId="0" animBg="1"/>
      <p:bldP spid="40" grpId="0" animBg="1"/>
      <p:bldP spid="42"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VALUE AND BOUNDARIES</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Traceability is demonstrated.</a:t>
            </a:r>
            <a:endParaRPr lang="en-US" sz="3000" dirty="0"/>
          </a:p>
          <a:p>
            <a:pPr marL="0" indent="0" algn="l">
              <a:lnSpc>
                <a:spcPct val="95000"/>
              </a:lnSpc>
              <a:buNone/>
            </a:pPr>
            <a:r>
              <a:rPr lang="en-US" sz="3000" b="1" dirty="0">
                <a:solidFill>
                  <a:schemeClr val="accent5"/>
                </a:solidFill>
              </a:rPr>
              <a:t>Time savings are unmeasured.</a:t>
            </a:r>
            <a:endParaRPr lang="en-US" sz="3000" dirty="0"/>
          </a:p>
        </p:txBody>
      </p:sp>
      <p:sp>
        <p:nvSpPr>
          <p:cNvPr id="8" name="subtitle"/>
          <p:cNvSpPr txBox="1"/>
          <p:nvPr/>
        </p:nvSpPr>
        <p:spPr>
          <a:xfrm>
            <a:off x="548640" y="1737360"/>
            <a:ext cx="11064240" cy="365760"/>
          </a:xfrm>
          <a:prstGeom prst="rect">
            <a:avLst/>
          </a:prstGeom>
          <a:noFill/>
        </p:spPr>
        <p:txBody>
          <a:bodyPr wrap="square" lIns="0" tIns="0" rIns="0" bIns="0" rtlCol="0" anchor="t"/>
          <a:lstStyle/>
          <a:p>
            <a:pPr marL="0" indent="0">
              <a:buNone/>
            </a:pPr>
            <a:r>
              <a:rPr lang="en-US" sz="1600" dirty="0">
                <a:solidFill>
                  <a:schemeClr val="accent5"/>
                </a:solidFill>
              </a:rPr>
              <a:t>The purpose is to make evidence and reviewer judgment easier to inspect.</a:t>
            </a:r>
            <a:endParaRPr lang="en-US" sz="1600" dirty="0"/>
          </a:p>
        </p:txBody>
      </p:sp>
      <p:sp>
        <p:nvSpPr>
          <p:cNvPr id="9" name="b1 col 0 card"/>
          <p:cNvSpPr/>
          <p:nvPr/>
        </p:nvSpPr>
        <p:spPr>
          <a:xfrm>
            <a:off x="548640" y="2286000"/>
            <a:ext cx="3544824" cy="3703320"/>
          </a:xfrm>
          <a:prstGeom prst="roundRect">
            <a:avLst>
              <a:gd name="adj" fmla="val 1548"/>
            </a:avLst>
          </a:prstGeom>
          <a:solidFill>
            <a:srgbClr val="E6F3EC"/>
          </a:solidFill>
        </p:spPr>
      </p:sp>
      <p:sp>
        <p:nvSpPr>
          <p:cNvPr id="10" name="b1 col 0 disc"/>
          <p:cNvSpPr/>
          <p:nvPr/>
        </p:nvSpPr>
        <p:spPr>
          <a:xfrm>
            <a:off x="749808" y="2478024"/>
            <a:ext cx="566928" cy="566928"/>
          </a:xfrm>
          <a:prstGeom prst="ellipse">
            <a:avLst/>
          </a:prstGeom>
          <a:solidFill>
            <a:srgbClr val="FFFFFF"/>
          </a:solidFill>
        </p:spPr>
      </p:sp>
      <p:pic>
        <p:nvPicPr>
          <p:cNvPr id="11" name="b1 col 0 icon" descr="preencoded.png"/>
          <p:cNvPicPr>
            <a:picLocks noChangeAspect="1"/>
          </p:cNvPicPr>
          <p:nvPr/>
        </p:nvPicPr>
        <p:blipFill>
          <a:blip r:embed="rId1"/>
          <a:stretch>
            <a:fillRect/>
          </a:stretch>
        </p:blipFill>
        <p:spPr>
          <a:xfrm>
            <a:off x="850392" y="2578608"/>
            <a:ext cx="365760" cy="365760"/>
          </a:xfrm>
          <a:prstGeom prst="rect">
            <a:avLst/>
          </a:prstGeom>
        </p:spPr>
      </p:pic>
      <p:sp>
        <p:nvSpPr>
          <p:cNvPr id="12" name="b1 col 0 head"/>
          <p:cNvSpPr txBox="1"/>
          <p:nvPr/>
        </p:nvSpPr>
        <p:spPr>
          <a:xfrm>
            <a:off x="1463040" y="2560320"/>
            <a:ext cx="2538984" cy="402336"/>
          </a:xfrm>
          <a:prstGeom prst="rect">
            <a:avLst/>
          </a:prstGeom>
          <a:noFill/>
        </p:spPr>
        <p:txBody>
          <a:bodyPr wrap="square" lIns="0" tIns="0" rIns="0" bIns="0" rtlCol="0" anchor="ctr"/>
          <a:lstStyle/>
          <a:p>
            <a:pPr marL="0" indent="0">
              <a:buNone/>
            </a:pPr>
            <a:r>
              <a:rPr lang="en-US" sz="1900" b="1" dirty="0">
                <a:solidFill>
                  <a:schemeClr val="accent2"/>
                </a:solidFill>
              </a:rPr>
              <a:t>Available evidence</a:t>
            </a:r>
            <a:endParaRPr lang="en-US" sz="1900" dirty="0"/>
          </a:p>
        </p:txBody>
      </p:sp>
      <p:pic>
        <p:nvPicPr>
          <p:cNvPr id="13" name="b1 col 0 mark 0" descr="preencoded.png"/>
          <p:cNvPicPr>
            <a:picLocks noChangeAspect="1"/>
          </p:cNvPicPr>
          <p:nvPr/>
        </p:nvPicPr>
        <p:blipFill>
          <a:blip r:embed="rId2"/>
          <a:stretch>
            <a:fillRect/>
          </a:stretch>
        </p:blipFill>
        <p:spPr>
          <a:xfrm>
            <a:off x="822960" y="3291840"/>
            <a:ext cx="219456" cy="219456"/>
          </a:xfrm>
          <a:prstGeom prst="rect">
            <a:avLst/>
          </a:prstGeom>
        </p:spPr>
      </p:pic>
      <p:sp>
        <p:nvSpPr>
          <p:cNvPr id="14" name="b1 col 0 item 0"/>
          <p:cNvSpPr txBox="1"/>
          <p:nvPr/>
        </p:nvSpPr>
        <p:spPr>
          <a:xfrm>
            <a:off x="1170432" y="3246120"/>
            <a:ext cx="2721864" cy="566928"/>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Recorded model replies, quality reviews and costs.</a:t>
            </a:r>
            <a:endParaRPr lang="en-US" sz="1450" dirty="0"/>
          </a:p>
        </p:txBody>
      </p:sp>
      <p:pic>
        <p:nvPicPr>
          <p:cNvPr id="15" name="b1 col 0 mark 1" descr="preencoded.png"/>
          <p:cNvPicPr>
            <a:picLocks noChangeAspect="1"/>
          </p:cNvPicPr>
          <p:nvPr/>
        </p:nvPicPr>
        <p:blipFill>
          <a:blip r:embed="rId2"/>
          <a:stretch>
            <a:fillRect/>
          </a:stretch>
        </p:blipFill>
        <p:spPr>
          <a:xfrm>
            <a:off x="822960" y="3986784"/>
            <a:ext cx="219456" cy="219456"/>
          </a:xfrm>
          <a:prstGeom prst="rect">
            <a:avLst/>
          </a:prstGeom>
        </p:spPr>
      </p:pic>
      <p:sp>
        <p:nvSpPr>
          <p:cNvPr id="16" name="b1 col 0 item 1"/>
          <p:cNvSpPr txBox="1"/>
          <p:nvPr/>
        </p:nvSpPr>
        <p:spPr>
          <a:xfrm>
            <a:off x="1170432" y="3941064"/>
            <a:ext cx="2721864" cy="566928"/>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351 automated tests; TypeScript + Webpack passed.</a:t>
            </a:r>
            <a:endParaRPr lang="en-US" sz="1450" dirty="0"/>
          </a:p>
        </p:txBody>
      </p:sp>
      <p:sp>
        <p:nvSpPr>
          <p:cNvPr id="17" name="b1 col 0 extra rule"/>
          <p:cNvSpPr/>
          <p:nvPr/>
        </p:nvSpPr>
        <p:spPr>
          <a:xfrm>
            <a:off x="822960" y="5038344"/>
            <a:ext cx="2996184" cy="0"/>
          </a:xfrm>
          <a:prstGeom prst="line">
            <a:avLst/>
          </a:prstGeom>
          <a:noFill/>
          <a:ln w="9525">
            <a:solidFill>
              <a:srgbClr val="D5DBE2"/>
            </a:solidFill>
            <a:prstDash val="solid"/>
          </a:ln>
        </p:spPr>
      </p:sp>
      <p:pic>
        <p:nvPicPr>
          <p:cNvPr id="18" name="b1 col 0 extra icon" descr="preencoded.png"/>
          <p:cNvPicPr>
            <a:picLocks noChangeAspect="1"/>
          </p:cNvPicPr>
          <p:nvPr/>
        </p:nvPicPr>
        <p:blipFill>
          <a:blip r:embed="rId3"/>
          <a:stretch>
            <a:fillRect/>
          </a:stretch>
        </p:blipFill>
        <p:spPr>
          <a:xfrm>
            <a:off x="822960" y="5202936"/>
            <a:ext cx="219456" cy="219456"/>
          </a:xfrm>
          <a:prstGeom prst="rect">
            <a:avLst/>
          </a:prstGeom>
        </p:spPr>
      </p:pic>
      <p:sp>
        <p:nvSpPr>
          <p:cNvPr id="19" name="b1 col 0 extra"/>
          <p:cNvSpPr txBox="1"/>
          <p:nvPr/>
        </p:nvSpPr>
        <p:spPr>
          <a:xfrm>
            <a:off x="1170432" y="5148072"/>
            <a:ext cx="2721864" cy="731520"/>
          </a:xfrm>
          <a:prstGeom prst="rect">
            <a:avLst/>
          </a:prstGeom>
          <a:noFill/>
        </p:spPr>
        <p:txBody>
          <a:bodyPr wrap="square" lIns="0" tIns="0" rIns="0" bIns="0" rtlCol="0" anchor="t"/>
          <a:lstStyle/>
          <a:p>
            <a:pPr marL="0" indent="0">
              <a:lnSpc>
                <a:spcPct val="108000"/>
              </a:lnSpc>
              <a:buNone/>
            </a:pPr>
            <a:r>
              <a:rPr lang="en-US" sz="1250" b="1" dirty="0">
                <a:solidFill>
                  <a:schemeClr val="accent3"/>
                </a:solidFill>
              </a:rPr>
              <a:t>The latest default-build attempt hit an environment worker-port restriction.</a:t>
            </a:r>
            <a:endParaRPr lang="en-US" sz="1250" dirty="0"/>
          </a:p>
        </p:txBody>
      </p:sp>
      <p:sp>
        <p:nvSpPr>
          <p:cNvPr id="20" name="b2 col 1 card"/>
          <p:cNvSpPr/>
          <p:nvPr/>
        </p:nvSpPr>
        <p:spPr>
          <a:xfrm>
            <a:off x="4322064" y="2286000"/>
            <a:ext cx="3544824" cy="3703320"/>
          </a:xfrm>
          <a:prstGeom prst="roundRect">
            <a:avLst>
              <a:gd name="adj" fmla="val 1548"/>
            </a:avLst>
          </a:prstGeom>
          <a:solidFill>
            <a:srgbClr val="FCF1DE"/>
          </a:solidFill>
        </p:spPr>
      </p:sp>
      <p:sp>
        <p:nvSpPr>
          <p:cNvPr id="21" name="b2 col 1 disc"/>
          <p:cNvSpPr/>
          <p:nvPr/>
        </p:nvSpPr>
        <p:spPr>
          <a:xfrm>
            <a:off x="4523232" y="2478024"/>
            <a:ext cx="566928" cy="566928"/>
          </a:xfrm>
          <a:prstGeom prst="ellipse">
            <a:avLst/>
          </a:prstGeom>
          <a:solidFill>
            <a:srgbClr val="FFFFFF"/>
          </a:solidFill>
        </p:spPr>
      </p:sp>
      <p:pic>
        <p:nvPicPr>
          <p:cNvPr id="22" name="b2 col 1 icon" descr="preencoded.png"/>
          <p:cNvPicPr>
            <a:picLocks noChangeAspect="1"/>
          </p:cNvPicPr>
          <p:nvPr/>
        </p:nvPicPr>
        <p:blipFill>
          <a:blip r:embed="rId3"/>
          <a:stretch>
            <a:fillRect/>
          </a:stretch>
        </p:blipFill>
        <p:spPr>
          <a:xfrm>
            <a:off x="4623816" y="2578608"/>
            <a:ext cx="365760" cy="365760"/>
          </a:xfrm>
          <a:prstGeom prst="rect">
            <a:avLst/>
          </a:prstGeom>
        </p:spPr>
      </p:pic>
      <p:sp>
        <p:nvSpPr>
          <p:cNvPr id="23" name="b2 col 1 head"/>
          <p:cNvSpPr txBox="1"/>
          <p:nvPr/>
        </p:nvSpPr>
        <p:spPr>
          <a:xfrm>
            <a:off x="5236464" y="2560320"/>
            <a:ext cx="2538984" cy="402336"/>
          </a:xfrm>
          <a:prstGeom prst="rect">
            <a:avLst/>
          </a:prstGeom>
          <a:noFill/>
        </p:spPr>
        <p:txBody>
          <a:bodyPr wrap="square" lIns="0" tIns="0" rIns="0" bIns="0" rtlCol="0" anchor="ctr"/>
          <a:lstStyle/>
          <a:p>
            <a:pPr marL="0" indent="0">
              <a:buNone/>
            </a:pPr>
            <a:r>
              <a:rPr lang="en-US" sz="1900" b="1" dirty="0">
                <a:solidFill>
                  <a:schemeClr val="accent3"/>
                </a:solidFill>
              </a:rPr>
              <a:t>Accepted limitations</a:t>
            </a:r>
            <a:endParaRPr lang="en-US" sz="1900" dirty="0"/>
          </a:p>
        </p:txBody>
      </p:sp>
      <p:pic>
        <p:nvPicPr>
          <p:cNvPr id="24" name="b2 col 1 mark 0" descr="preencoded.png"/>
          <p:cNvPicPr>
            <a:picLocks noChangeAspect="1"/>
          </p:cNvPicPr>
          <p:nvPr/>
        </p:nvPicPr>
        <p:blipFill>
          <a:blip r:embed="rId4"/>
          <a:stretch>
            <a:fillRect/>
          </a:stretch>
        </p:blipFill>
        <p:spPr>
          <a:xfrm>
            <a:off x="4596384" y="3291840"/>
            <a:ext cx="219456" cy="219456"/>
          </a:xfrm>
          <a:prstGeom prst="rect">
            <a:avLst/>
          </a:prstGeom>
        </p:spPr>
      </p:pic>
      <p:sp>
        <p:nvSpPr>
          <p:cNvPr id="25" name="b2 col 1 item 0"/>
          <p:cNvSpPr txBox="1"/>
          <p:nvPr/>
        </p:nvSpPr>
        <p:spPr>
          <a:xfrm>
            <a:off x="4943856" y="3246120"/>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Unsupported commitments.</a:t>
            </a:r>
            <a:endParaRPr lang="en-US" sz="1450" dirty="0"/>
          </a:p>
        </p:txBody>
      </p:sp>
      <p:pic>
        <p:nvPicPr>
          <p:cNvPr id="26" name="b2 col 1 mark 1" descr="preencoded.png"/>
          <p:cNvPicPr>
            <a:picLocks noChangeAspect="1"/>
          </p:cNvPicPr>
          <p:nvPr/>
        </p:nvPicPr>
        <p:blipFill>
          <a:blip r:embed="rId4"/>
          <a:stretch>
            <a:fillRect/>
          </a:stretch>
        </p:blipFill>
        <p:spPr>
          <a:xfrm>
            <a:off x="4596384" y="3712464"/>
            <a:ext cx="219456" cy="219456"/>
          </a:xfrm>
          <a:prstGeom prst="rect">
            <a:avLst/>
          </a:prstGeom>
        </p:spPr>
      </p:pic>
      <p:sp>
        <p:nvSpPr>
          <p:cNvPr id="27" name="b2 col 1 item 1"/>
          <p:cNvSpPr txBox="1"/>
          <p:nvPr/>
        </p:nvSpPr>
        <p:spPr>
          <a:xfrm>
            <a:off x="4943856" y="3666744"/>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Historical interpretation errors.</a:t>
            </a:r>
            <a:endParaRPr lang="en-US" sz="1450" dirty="0"/>
          </a:p>
        </p:txBody>
      </p:sp>
      <p:pic>
        <p:nvPicPr>
          <p:cNvPr id="28" name="b2 col 1 mark 2" descr="preencoded.png"/>
          <p:cNvPicPr>
            <a:picLocks noChangeAspect="1"/>
          </p:cNvPicPr>
          <p:nvPr/>
        </p:nvPicPr>
        <p:blipFill>
          <a:blip r:embed="rId4"/>
          <a:stretch>
            <a:fillRect/>
          </a:stretch>
        </p:blipFill>
        <p:spPr>
          <a:xfrm>
            <a:off x="4596384" y="4133088"/>
            <a:ext cx="219456" cy="219456"/>
          </a:xfrm>
          <a:prstGeom prst="rect">
            <a:avLst/>
          </a:prstGeom>
        </p:spPr>
      </p:pic>
      <p:sp>
        <p:nvSpPr>
          <p:cNvPr id="29" name="b2 col 1 item 2"/>
          <p:cNvSpPr txBox="1"/>
          <p:nvPr/>
        </p:nvSpPr>
        <p:spPr>
          <a:xfrm>
            <a:off x="4943856" y="4087368"/>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Validator false positives.</a:t>
            </a:r>
            <a:endParaRPr lang="en-US" sz="1450" dirty="0"/>
          </a:p>
        </p:txBody>
      </p:sp>
      <p:pic>
        <p:nvPicPr>
          <p:cNvPr id="30" name="b2 col 1 mark 3" descr="preencoded.png"/>
          <p:cNvPicPr>
            <a:picLocks noChangeAspect="1"/>
          </p:cNvPicPr>
          <p:nvPr/>
        </p:nvPicPr>
        <p:blipFill>
          <a:blip r:embed="rId4"/>
          <a:stretch>
            <a:fillRect/>
          </a:stretch>
        </p:blipFill>
        <p:spPr>
          <a:xfrm>
            <a:off x="4596384" y="4553712"/>
            <a:ext cx="219456" cy="219456"/>
          </a:xfrm>
          <a:prstGeom prst="rect">
            <a:avLst/>
          </a:prstGeom>
        </p:spPr>
      </p:pic>
      <p:sp>
        <p:nvSpPr>
          <p:cNvPr id="31" name="b2 col 1 item 3"/>
          <p:cNvSpPr txBox="1"/>
          <p:nvPr/>
        </p:nvSpPr>
        <p:spPr>
          <a:xfrm>
            <a:off x="4943856" y="4507992"/>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Input privacy is heuristic.</a:t>
            </a:r>
            <a:endParaRPr lang="en-US" sz="1450" dirty="0"/>
          </a:p>
        </p:txBody>
      </p:sp>
      <p:sp>
        <p:nvSpPr>
          <p:cNvPr id="32" name="b3 col 2 card"/>
          <p:cNvSpPr/>
          <p:nvPr/>
        </p:nvSpPr>
        <p:spPr>
          <a:xfrm>
            <a:off x="8095488" y="2286000"/>
            <a:ext cx="3544824" cy="3703320"/>
          </a:xfrm>
          <a:prstGeom prst="roundRect">
            <a:avLst>
              <a:gd name="adj" fmla="val 1548"/>
            </a:avLst>
          </a:prstGeom>
          <a:solidFill>
            <a:srgbClr val="F1F3F5"/>
          </a:solidFill>
        </p:spPr>
      </p:sp>
      <p:sp>
        <p:nvSpPr>
          <p:cNvPr id="33" name="b3 col 2 disc"/>
          <p:cNvSpPr/>
          <p:nvPr/>
        </p:nvSpPr>
        <p:spPr>
          <a:xfrm>
            <a:off x="8296656" y="2478024"/>
            <a:ext cx="566928" cy="566928"/>
          </a:xfrm>
          <a:prstGeom prst="ellipse">
            <a:avLst/>
          </a:prstGeom>
          <a:solidFill>
            <a:srgbClr val="FFFFFF"/>
          </a:solidFill>
        </p:spPr>
      </p:sp>
      <p:pic>
        <p:nvPicPr>
          <p:cNvPr id="34" name="b3 col 2 icon" descr="preencoded.png"/>
          <p:cNvPicPr>
            <a:picLocks noChangeAspect="1"/>
          </p:cNvPicPr>
          <p:nvPr/>
        </p:nvPicPr>
        <p:blipFill>
          <a:blip r:embed="rId5"/>
          <a:stretch>
            <a:fillRect/>
          </a:stretch>
        </p:blipFill>
        <p:spPr>
          <a:xfrm>
            <a:off x="8397240" y="2578608"/>
            <a:ext cx="365760" cy="365760"/>
          </a:xfrm>
          <a:prstGeom prst="rect">
            <a:avLst/>
          </a:prstGeom>
        </p:spPr>
      </p:pic>
      <p:sp>
        <p:nvSpPr>
          <p:cNvPr id="35" name="b3 col 2 head"/>
          <p:cNvSpPr txBox="1"/>
          <p:nvPr/>
        </p:nvSpPr>
        <p:spPr>
          <a:xfrm>
            <a:off x="9009888" y="2560320"/>
            <a:ext cx="2538984" cy="402336"/>
          </a:xfrm>
          <a:prstGeom prst="rect">
            <a:avLst/>
          </a:prstGeom>
          <a:noFill/>
        </p:spPr>
        <p:txBody>
          <a:bodyPr wrap="square" lIns="0" tIns="0" rIns="0" bIns="0" rtlCol="0" anchor="ctr"/>
          <a:lstStyle/>
          <a:p>
            <a:pPr marL="0" indent="0">
              <a:buNone/>
            </a:pPr>
            <a:r>
              <a:rPr lang="en-US" sz="1900" b="1" dirty="0">
                <a:solidFill>
                  <a:schemeClr val="tx1"/>
                </a:solidFill>
              </a:rPr>
              <a:t>Intentionally skipped</a:t>
            </a:r>
            <a:endParaRPr lang="en-US" sz="1900" dirty="0"/>
          </a:p>
        </p:txBody>
      </p:sp>
      <p:pic>
        <p:nvPicPr>
          <p:cNvPr id="36" name="b3 col 2 mark 0" descr="preencoded.png"/>
          <p:cNvPicPr>
            <a:picLocks noChangeAspect="1"/>
          </p:cNvPicPr>
          <p:nvPr/>
        </p:nvPicPr>
        <p:blipFill>
          <a:blip r:embed="rId6"/>
          <a:stretch>
            <a:fillRect/>
          </a:stretch>
        </p:blipFill>
        <p:spPr>
          <a:xfrm>
            <a:off x="8369808" y="3291840"/>
            <a:ext cx="219456" cy="219456"/>
          </a:xfrm>
          <a:prstGeom prst="rect">
            <a:avLst/>
          </a:prstGeom>
        </p:spPr>
      </p:pic>
      <p:sp>
        <p:nvSpPr>
          <p:cNvPr id="37" name="b3 col 2 item 0"/>
          <p:cNvSpPr txBox="1"/>
          <p:nvPr/>
        </p:nvSpPr>
        <p:spPr>
          <a:xfrm>
            <a:off x="8717280" y="3246120"/>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Manual timing study.</a:t>
            </a:r>
            <a:endParaRPr lang="en-US" sz="1450" dirty="0"/>
          </a:p>
        </p:txBody>
      </p:sp>
      <p:pic>
        <p:nvPicPr>
          <p:cNvPr id="38" name="b3 col 2 mark 1" descr="preencoded.png"/>
          <p:cNvPicPr>
            <a:picLocks noChangeAspect="1"/>
          </p:cNvPicPr>
          <p:nvPr/>
        </p:nvPicPr>
        <p:blipFill>
          <a:blip r:embed="rId6"/>
          <a:stretch>
            <a:fillRect/>
          </a:stretch>
        </p:blipFill>
        <p:spPr>
          <a:xfrm>
            <a:off x="8369808" y="3712464"/>
            <a:ext cx="219456" cy="219456"/>
          </a:xfrm>
          <a:prstGeom prst="rect">
            <a:avLst/>
          </a:prstGeom>
        </p:spPr>
      </p:pic>
      <p:sp>
        <p:nvSpPr>
          <p:cNvPr id="39" name="b3 col 2 item 1"/>
          <p:cNvSpPr txBox="1"/>
          <p:nvPr/>
        </p:nvSpPr>
        <p:spPr>
          <a:xfrm>
            <a:off x="8717280" y="3666744"/>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Basic-prompt comparison.</a:t>
            </a:r>
            <a:endParaRPr lang="en-US" sz="1450" dirty="0"/>
          </a:p>
        </p:txBody>
      </p:sp>
      <p:pic>
        <p:nvPicPr>
          <p:cNvPr id="40" name="b3 col 2 mark 2" descr="preencoded.png"/>
          <p:cNvPicPr>
            <a:picLocks noChangeAspect="1"/>
          </p:cNvPicPr>
          <p:nvPr/>
        </p:nvPicPr>
        <p:blipFill>
          <a:blip r:embed="rId6"/>
          <a:stretch>
            <a:fillRect/>
          </a:stretch>
        </p:blipFill>
        <p:spPr>
          <a:xfrm>
            <a:off x="8369808" y="4133088"/>
            <a:ext cx="219456" cy="219456"/>
          </a:xfrm>
          <a:prstGeom prst="rect">
            <a:avLst/>
          </a:prstGeom>
        </p:spPr>
      </p:pic>
      <p:sp>
        <p:nvSpPr>
          <p:cNvPr id="41" name="b3 col 2 item 2"/>
          <p:cNvSpPr txBox="1"/>
          <p:nvPr/>
        </p:nvSpPr>
        <p:spPr>
          <a:xfrm>
            <a:off x="8717280" y="4087368"/>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High-versus-max experiment.</a:t>
            </a:r>
            <a:endParaRPr lang="en-US" sz="1450" dirty="0"/>
          </a:p>
        </p:txBody>
      </p:sp>
      <p:pic>
        <p:nvPicPr>
          <p:cNvPr id="42" name="b3 col 2 mark 3" descr="preencoded.png"/>
          <p:cNvPicPr>
            <a:picLocks noChangeAspect="1"/>
          </p:cNvPicPr>
          <p:nvPr/>
        </p:nvPicPr>
        <p:blipFill>
          <a:blip r:embed="rId6"/>
          <a:stretch>
            <a:fillRect/>
          </a:stretch>
        </p:blipFill>
        <p:spPr>
          <a:xfrm>
            <a:off x="8369808" y="4553712"/>
            <a:ext cx="219456" cy="219456"/>
          </a:xfrm>
          <a:prstGeom prst="rect">
            <a:avLst/>
          </a:prstGeom>
        </p:spPr>
      </p:pic>
      <p:sp>
        <p:nvSpPr>
          <p:cNvPr id="43" name="b3 col 2 item 3"/>
          <p:cNvSpPr txBox="1"/>
          <p:nvPr/>
        </p:nvSpPr>
        <p:spPr>
          <a:xfrm>
            <a:off x="8717280" y="4507992"/>
            <a:ext cx="2721864" cy="310896"/>
          </a:xfrm>
          <a:prstGeom prst="rect">
            <a:avLst/>
          </a:prstGeom>
          <a:noFill/>
        </p:spPr>
        <p:txBody>
          <a:bodyPr wrap="square" lIns="0" tIns="0" rIns="0" bIns="0" rtlCol="0" anchor="t"/>
          <a:lstStyle/>
          <a:p>
            <a:pPr marL="0" indent="0">
              <a:lnSpc>
                <a:spcPct val="108000"/>
              </a:lnSpc>
              <a:buNone/>
            </a:pPr>
            <a:r>
              <a:rPr lang="en-US" sz="1450" dirty="0">
                <a:solidFill>
                  <a:srgbClr val="262D36"/>
                </a:solidFill>
              </a:rPr>
              <a:t>Standalone B787 package.</a:t>
            </a:r>
            <a:endParaRPr lang="en-US" sz="1450" dirty="0"/>
          </a:p>
        </p:txBody>
      </p:sp>
      <p:sp>
        <p:nvSpPr>
          <p:cNvPr id="44" name="b3 col 2 extra rule"/>
          <p:cNvSpPr/>
          <p:nvPr/>
        </p:nvSpPr>
        <p:spPr>
          <a:xfrm>
            <a:off x="8369808" y="5038344"/>
            <a:ext cx="2996184" cy="0"/>
          </a:xfrm>
          <a:prstGeom prst="line">
            <a:avLst/>
          </a:prstGeom>
          <a:noFill/>
          <a:ln w="9525">
            <a:solidFill>
              <a:srgbClr val="D5DBE2"/>
            </a:solidFill>
            <a:prstDash val="solid"/>
          </a:ln>
        </p:spPr>
      </p:sp>
      <p:pic>
        <p:nvPicPr>
          <p:cNvPr id="45" name="b3 col 2 extra icon" descr="preencoded.png"/>
          <p:cNvPicPr>
            <a:picLocks noChangeAspect="1"/>
          </p:cNvPicPr>
          <p:nvPr/>
        </p:nvPicPr>
        <p:blipFill>
          <a:blip r:embed="rId7"/>
          <a:stretch>
            <a:fillRect/>
          </a:stretch>
        </p:blipFill>
        <p:spPr>
          <a:xfrm>
            <a:off x="8369808" y="5202936"/>
            <a:ext cx="219456" cy="219456"/>
          </a:xfrm>
          <a:prstGeom prst="rect">
            <a:avLst/>
          </a:prstGeom>
        </p:spPr>
      </p:pic>
      <p:sp>
        <p:nvSpPr>
          <p:cNvPr id="46" name="b3 col 2 extra"/>
          <p:cNvSpPr txBox="1"/>
          <p:nvPr/>
        </p:nvSpPr>
        <p:spPr>
          <a:xfrm>
            <a:off x="8717280" y="5148072"/>
            <a:ext cx="2721864" cy="731520"/>
          </a:xfrm>
          <a:prstGeom prst="rect">
            <a:avLst/>
          </a:prstGeom>
          <a:noFill/>
        </p:spPr>
        <p:txBody>
          <a:bodyPr wrap="square" lIns="0" tIns="0" rIns="0" bIns="0" rtlCol="0" anchor="t"/>
          <a:lstStyle/>
          <a:p>
            <a:pPr marL="0" indent="0">
              <a:lnSpc>
                <a:spcPct val="108000"/>
              </a:lnSpc>
              <a:buNone/>
            </a:pPr>
            <a:r>
              <a:rPr lang="en-US" sz="1250" b="1" dirty="0">
                <a:solidFill>
                  <a:schemeClr val="tx1"/>
                </a:solidFill>
              </a:rPr>
              <a:t>Time savings and superiority over a basic prompt were not measured.</a:t>
            </a:r>
            <a:endParaRPr lang="en-US" sz="125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4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400"/>
                                        <p:tgtEl>
                                          <p:spTgt spid="2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400"/>
                                        <p:tgtEl>
                                          <p:spTgt spid="3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00"/>
                                        <p:tgtEl>
                                          <p:spTgt spid="31"/>
                                        </p:tgtEl>
                                      </p:cBhvr>
                                    </p:animEffect>
                                  </p:childTnLst>
                                </p:cTn>
                              </p:par>
                            </p:childTnLst>
                          </p:cTn>
                        </p:par>
                        <p:par>
                          <p:cTn id="75" fill="hold">
                            <p:stCondLst>
                              <p:cond delay="1000"/>
                            </p:stCondLst>
                            <p:childTnLst>
                              <p:par>
                                <p:cTn id="76" presetID="10" presetClass="entr" presetSubtype="0" fill="hold" grpId="0" nodeType="after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400"/>
                                        <p:tgtEl>
                                          <p:spTgt spid="4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2"/>
                                        </p:tgtEl>
                                        <p:attrNameLst>
                                          <p:attrName>style.visibility</p:attrName>
                                        </p:attrNameLst>
                                      </p:cBhvr>
                                      <p:to>
                                        <p:strVal val="visible"/>
                                      </p:to>
                                    </p:set>
                                    <p:animEffect transition="in" filter="fade">
                                      <p:cBhvr>
                                        <p:cTn id="108" dur="400"/>
                                        <p:tgtEl>
                                          <p:spTgt spid="4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400"/>
                                        <p:tgtEl>
                                          <p:spTgt spid="4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4"/>
                                        </p:tgtEl>
                                        <p:attrNameLst>
                                          <p:attrName>style.visibility</p:attrName>
                                        </p:attrNameLst>
                                      </p:cBhvr>
                                      <p:to>
                                        <p:strVal val="visible"/>
                                      </p:to>
                                    </p:set>
                                    <p:animEffect transition="in" filter="fade">
                                      <p:cBhvr>
                                        <p:cTn id="114" dur="400"/>
                                        <p:tgtEl>
                                          <p:spTgt spid="4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5"/>
                                        </p:tgtEl>
                                        <p:attrNameLst>
                                          <p:attrName>style.visibility</p:attrName>
                                        </p:attrNameLst>
                                      </p:cBhvr>
                                      <p:to>
                                        <p:strVal val="visible"/>
                                      </p:to>
                                    </p:set>
                                    <p:animEffect transition="in" filter="fade">
                                      <p:cBhvr>
                                        <p:cTn id="117" dur="400"/>
                                        <p:tgtEl>
                                          <p:spTgt spid="4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6"/>
                                        </p:tgtEl>
                                        <p:attrNameLst>
                                          <p:attrName>style.visibility</p:attrName>
                                        </p:attrNameLst>
                                      </p:cBhvr>
                                      <p:to>
                                        <p:strVal val="visible"/>
                                      </p:to>
                                    </p:set>
                                    <p:animEffect transition="in" filter="fade">
                                      <p:cBhvr>
                                        <p:cTn id="120"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6" grpId="0" animBg="1"/>
      <p:bldP spid="17" grpId="0" animBg="1"/>
      <p:bldP spid="19" grpId="0" animBg="1"/>
      <p:bldP spid="20" grpId="0" animBg="1"/>
      <p:bldP spid="21" grpId="0" animBg="1"/>
      <p:bldP spid="23" grpId="0" animBg="1"/>
      <p:bldP spid="25" grpId="0" animBg="1"/>
      <p:bldP spid="27" grpId="0" animBg="1"/>
      <p:bldP spid="29" grpId="0" animBg="1"/>
      <p:bldP spid="31" grpId="0" animBg="1"/>
      <p:bldP spid="32" grpId="0" animBg="1"/>
      <p:bldP spid="33" grpId="0" animBg="1"/>
      <p:bldP spid="35" grpId="0" animBg="1"/>
      <p:bldP spid="37" grpId="0" animBg="1"/>
      <p:bldP spid="39" grpId="0" animBg="1"/>
      <p:bldP spid="41" grpId="0" animBg="1"/>
      <p:bldP spid="43" grpId="0" animBg="1"/>
      <p:bldP spid="44" grpId="0" animBg="1"/>
      <p:bldP spid="4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p:spPr>
        <p:txBody>
          <a:bodyPr wrap="square" lIns="0" tIns="0" rIns="0" bIns="0" rtlCol="0" anchor="ctr"/>
          <a:lstStyle/>
          <a:p>
            <a:pPr marL="0" indent="0" algn="ctr">
              <a:buNone/>
            </a:pPr>
            <a:r>
              <a:rPr lang="en-US" sz="850" b="1" kern="0" spc="100" dirty="0">
                <a:solidFill>
                  <a:schemeClr val="tx1"/>
                </a:solidFill>
              </a:rPr>
              <a:t>SIMULATION PROTOTYPE</a:t>
            </a:r>
            <a:endParaRPr lang="en-US" sz="850" dirty="0"/>
          </a:p>
        </p:txBody>
      </p:sp>
      <p:sp>
        <p:nvSpPr>
          <p:cNvPr id="5" name="Text 1"/>
          <p:cNvSpPr/>
          <p:nvPr>
            <p:ph type="body" idx="101" hasCustomPrompt="1"/>
          </p:nvPr>
        </p:nvSpPr>
        <p:spPr>
          <a:xfrm>
            <a:off x="786384" y="384048"/>
            <a:ext cx="8778240" cy="292608"/>
          </a:xfrm>
          <a:prstGeom prst="rect">
            <a:avLst/>
          </a:prstGeom>
          <a:noFill/>
        </p:spPr>
        <p:txBody>
          <a:bodyPr wrap="square" lIns="0" tIns="0" rIns="0" bIns="0" rtlCol="0" anchor="ctr"/>
          <a:lstStyle/>
          <a:p>
            <a:pPr marL="0" indent="0" algn="l">
              <a:buNone/>
            </a:pPr>
            <a:r>
              <a:rPr lang="en-US" sz="1100" b="1" kern="0" spc="150" dirty="0">
                <a:solidFill>
                  <a:schemeClr val="accent1"/>
                </a:solidFill>
              </a:rPr>
              <a:t>DELIVERY AND NEXT GATES</a:t>
            </a:r>
            <a:endParaRPr lang="en-US" sz="1100" dirty="0"/>
          </a:p>
        </p:txBody>
      </p:sp>
      <p:sp>
        <p:nvSpPr>
          <p:cNvPr id="6" name="Text 1"/>
          <p:cNvSpPr/>
          <p:nvPr>
            <p:ph type="title" idx="102" hasCustomPrompt="1"/>
          </p:nvPr>
        </p:nvSpPr>
        <p:spPr>
          <a:xfrm>
            <a:off x="548640" y="768096"/>
            <a:ext cx="11091672" cy="1051560"/>
          </a:xfrm>
          <a:prstGeom prst="rect">
            <a:avLst/>
          </a:prstGeom>
          <a:noFill/>
        </p:spPr>
        <p:txBody>
          <a:bodyPr wrap="square" lIns="0" tIns="0" rIns="0" bIns="0" rtlCol="0" anchor="t"/>
          <a:lstStyle/>
          <a:p>
            <a:pPr marL="0" indent="0" algn="l">
              <a:lnSpc>
                <a:spcPct val="95000"/>
              </a:lnSpc>
              <a:buNone/>
            </a:pPr>
            <a:r>
              <a:rPr lang="en-US" sz="3000" b="1" dirty="0">
                <a:solidFill>
                  <a:schemeClr val="tx1"/>
                </a:solidFill>
              </a:rPr>
              <a:t>A reviewable package before a supervised release</a:t>
            </a:r>
            <a:endParaRPr lang="en-US" sz="3000" dirty="0"/>
          </a:p>
        </p:txBody>
      </p:sp>
      <p:sp>
        <p:nvSpPr>
          <p:cNvPr id="8" name="subtitle"/>
          <p:cNvSpPr txBox="1"/>
          <p:nvPr/>
        </p:nvSpPr>
        <p:spPr>
          <a:xfrm>
            <a:off x="548640" y="1344168"/>
            <a:ext cx="11064240" cy="365760"/>
          </a:xfrm>
          <a:prstGeom prst="rect">
            <a:avLst/>
          </a:prstGeom>
          <a:noFill/>
        </p:spPr>
        <p:txBody>
          <a:bodyPr wrap="square" lIns="0" tIns="0" rIns="0" bIns="0" rtlCol="0" anchor="t"/>
          <a:lstStyle/>
          <a:p>
            <a:pPr marL="0" indent="0">
              <a:buNone/>
            </a:pPr>
            <a:r>
              <a:rPr lang="en-US" sz="1600" dirty="0">
                <a:solidFill>
                  <a:schemeClr val="accent5"/>
                </a:solidFill>
              </a:rPr>
              <a:t>Eight required materials and the approved video are linked from the repository.</a:t>
            </a:r>
            <a:endParaRPr lang="en-US" sz="1600" dirty="0"/>
          </a:p>
        </p:txBody>
      </p:sp>
      <p:sp>
        <p:nvSpPr>
          <p:cNvPr id="9" name="b1 now card"/>
          <p:cNvSpPr/>
          <p:nvPr/>
        </p:nvSpPr>
        <p:spPr>
          <a:xfrm>
            <a:off x="548640" y="1920240"/>
            <a:ext cx="5431536" cy="2761488"/>
          </a:xfrm>
          <a:prstGeom prst="roundRect">
            <a:avLst>
              <a:gd name="adj" fmla="val 1987"/>
            </a:avLst>
          </a:prstGeom>
          <a:solidFill>
            <a:srgbClr val="F1F3F5"/>
          </a:solidFill>
        </p:spPr>
      </p:sp>
      <p:sp>
        <p:nvSpPr>
          <p:cNvPr id="10" name="b1 now head"/>
          <p:cNvSpPr txBox="1"/>
          <p:nvPr/>
        </p:nvSpPr>
        <p:spPr>
          <a:xfrm>
            <a:off x="868680" y="2157984"/>
            <a:ext cx="3657600" cy="384048"/>
          </a:xfrm>
          <a:prstGeom prst="rect">
            <a:avLst/>
          </a:prstGeom>
          <a:noFill/>
        </p:spPr>
        <p:txBody>
          <a:bodyPr wrap="square" lIns="0" tIns="0" rIns="0" bIns="0" rtlCol="0" anchor="ctr"/>
          <a:lstStyle/>
          <a:p>
            <a:pPr marL="0" indent="0">
              <a:buNone/>
            </a:pPr>
            <a:r>
              <a:rPr lang="en-US" sz="1900" b="1" dirty="0">
                <a:solidFill>
                  <a:schemeClr val="tx1"/>
                </a:solidFill>
              </a:rPr>
              <a:t>Review now</a:t>
            </a:r>
            <a:endParaRPr lang="en-US" sz="1900" dirty="0"/>
          </a:p>
        </p:txBody>
      </p:sp>
      <p:pic>
        <p:nvPicPr>
          <p:cNvPr id="11" name="b1 now icon 0" descr="preencoded.png"/>
          <p:cNvPicPr>
            <a:picLocks noChangeAspect="1"/>
          </p:cNvPicPr>
          <p:nvPr/>
        </p:nvPicPr>
        <p:blipFill>
          <a:blip r:embed="rId1"/>
          <a:stretch>
            <a:fillRect/>
          </a:stretch>
        </p:blipFill>
        <p:spPr>
          <a:xfrm>
            <a:off x="886968" y="2743200"/>
            <a:ext cx="256032" cy="256032"/>
          </a:xfrm>
          <a:prstGeom prst="rect">
            <a:avLst/>
          </a:prstGeom>
        </p:spPr>
      </p:pic>
      <p:sp>
        <p:nvSpPr>
          <p:cNvPr id="12" name="b1 now 0"/>
          <p:cNvSpPr txBox="1"/>
          <p:nvPr/>
        </p:nvSpPr>
        <p:spPr>
          <a:xfrm>
            <a:off x="1325880" y="2706624"/>
            <a:ext cx="4425696" cy="329184"/>
          </a:xfrm>
          <a:prstGeom prst="rect">
            <a:avLst/>
          </a:prstGeom>
          <a:noFill/>
        </p:spPr>
        <p:txBody>
          <a:bodyPr wrap="square" lIns="0" tIns="0" rIns="0" bIns="0" rtlCol="0" anchor="ctr"/>
          <a:lstStyle/>
          <a:p>
            <a:pPr marL="0" indent="0">
              <a:buNone/>
            </a:pPr>
            <a:r>
              <a:rPr lang="en-US" sz="1500" dirty="0">
                <a:solidFill>
                  <a:srgbClr val="262D36"/>
                </a:solidFill>
              </a:rPr>
              <a:t>Editable presentation and technical report</a:t>
            </a:r>
            <a:endParaRPr lang="en-US" sz="1500" dirty="0"/>
          </a:p>
        </p:txBody>
      </p:sp>
      <p:pic>
        <p:nvPicPr>
          <p:cNvPr id="13" name="b1 now icon 1" descr="preencoded.png"/>
          <p:cNvPicPr>
            <a:picLocks noChangeAspect="1"/>
          </p:cNvPicPr>
          <p:nvPr/>
        </p:nvPicPr>
        <p:blipFill>
          <a:blip r:embed="rId2"/>
          <a:stretch>
            <a:fillRect/>
          </a:stretch>
        </p:blipFill>
        <p:spPr>
          <a:xfrm>
            <a:off x="886968" y="3154680"/>
            <a:ext cx="256032" cy="256032"/>
          </a:xfrm>
          <a:prstGeom prst="rect">
            <a:avLst/>
          </a:prstGeom>
        </p:spPr>
      </p:pic>
      <p:sp>
        <p:nvSpPr>
          <p:cNvPr id="14" name="b1 now 1"/>
          <p:cNvSpPr txBox="1"/>
          <p:nvPr/>
        </p:nvSpPr>
        <p:spPr>
          <a:xfrm>
            <a:off x="1325880" y="3118104"/>
            <a:ext cx="4425696" cy="329184"/>
          </a:xfrm>
          <a:prstGeom prst="rect">
            <a:avLst/>
          </a:prstGeom>
          <a:noFill/>
        </p:spPr>
        <p:txBody>
          <a:bodyPr wrap="square" lIns="0" tIns="0" rIns="0" bIns="0" rtlCol="0" anchor="ctr"/>
          <a:lstStyle/>
          <a:p>
            <a:pPr marL="0" indent="0">
              <a:buNone/>
            </a:pPr>
            <a:r>
              <a:rPr lang="en-US" sz="1500" dirty="0">
                <a:solidFill>
                  <a:srgbClr val="262D36"/>
                </a:solidFill>
              </a:rPr>
              <a:t>Source, rules, tests and frozen evidence</a:t>
            </a:r>
            <a:endParaRPr lang="en-US" sz="1500" dirty="0"/>
          </a:p>
        </p:txBody>
      </p:sp>
      <p:pic>
        <p:nvPicPr>
          <p:cNvPr id="15" name="b1 now icon 2" descr="preencoded.png"/>
          <p:cNvPicPr>
            <a:picLocks noChangeAspect="1"/>
          </p:cNvPicPr>
          <p:nvPr/>
        </p:nvPicPr>
        <p:blipFill>
          <a:blip r:embed="rId3"/>
          <a:stretch>
            <a:fillRect/>
          </a:stretch>
        </p:blipFill>
        <p:spPr>
          <a:xfrm>
            <a:off x="886968" y="3566160"/>
            <a:ext cx="256032" cy="256032"/>
          </a:xfrm>
          <a:prstGeom prst="rect">
            <a:avLst/>
          </a:prstGeom>
        </p:spPr>
      </p:pic>
      <p:sp>
        <p:nvSpPr>
          <p:cNvPr id="16" name="b1 now 2"/>
          <p:cNvSpPr txBox="1"/>
          <p:nvPr/>
        </p:nvSpPr>
        <p:spPr>
          <a:xfrm>
            <a:off x="1325880" y="3529584"/>
            <a:ext cx="4425696" cy="329184"/>
          </a:xfrm>
          <a:prstGeom prst="rect">
            <a:avLst/>
          </a:prstGeom>
          <a:noFill/>
        </p:spPr>
        <p:txBody>
          <a:bodyPr wrap="square" lIns="0" tIns="0" rIns="0" bIns="0" rtlCol="0" anchor="ctr"/>
          <a:lstStyle/>
          <a:p>
            <a:pPr marL="0" indent="0">
              <a:buNone/>
            </a:pPr>
            <a:r>
              <a:rPr lang="en-US" sz="1500" dirty="0">
                <a:solidFill>
                  <a:srgbClr val="262D36"/>
                </a:solidFill>
              </a:rPr>
              <a:t>Synthetic feedback and risk card</a:t>
            </a:r>
            <a:endParaRPr lang="en-US" sz="1500" dirty="0"/>
          </a:p>
        </p:txBody>
      </p:sp>
      <p:pic>
        <p:nvPicPr>
          <p:cNvPr id="17" name="b1 now icon 3" descr="preencoded.png"/>
          <p:cNvPicPr>
            <a:picLocks noChangeAspect="1"/>
          </p:cNvPicPr>
          <p:nvPr/>
        </p:nvPicPr>
        <p:blipFill>
          <a:blip r:embed="rId4"/>
          <a:stretch>
            <a:fillRect/>
          </a:stretch>
        </p:blipFill>
        <p:spPr>
          <a:xfrm>
            <a:off x="886968" y="3977640"/>
            <a:ext cx="256032" cy="256032"/>
          </a:xfrm>
          <a:prstGeom prst="rect">
            <a:avLst/>
          </a:prstGeom>
        </p:spPr>
      </p:pic>
      <p:sp>
        <p:nvSpPr>
          <p:cNvPr id="18" name="b1 now 3"/>
          <p:cNvSpPr txBox="1"/>
          <p:nvPr/>
        </p:nvSpPr>
        <p:spPr>
          <a:xfrm>
            <a:off x="1325880" y="3941064"/>
            <a:ext cx="4425696" cy="329184"/>
          </a:xfrm>
          <a:prstGeom prst="rect">
            <a:avLst/>
          </a:prstGeom>
          <a:noFill/>
        </p:spPr>
        <p:txBody>
          <a:bodyPr wrap="square" lIns="0" tIns="0" rIns="0" bIns="0" rtlCol="0" anchor="ctr"/>
          <a:lstStyle/>
          <a:p>
            <a:pPr marL="0" indent="0">
              <a:buNone/>
            </a:pPr>
            <a:r>
              <a:rPr lang="en-US" sz="1500" dirty="0">
                <a:solidFill>
                  <a:srgbClr val="262D36"/>
                </a:solidFill>
              </a:rPr>
              <a:t>Approved video and source hashes</a:t>
            </a:r>
            <a:endParaRPr lang="en-US" sz="1500" dirty="0"/>
          </a:p>
        </p:txBody>
      </p:sp>
      <p:sp>
        <p:nvSpPr>
          <p:cNvPr id="19" name="b2 gate card"/>
          <p:cNvSpPr/>
          <p:nvPr/>
        </p:nvSpPr>
        <p:spPr>
          <a:xfrm>
            <a:off x="6208776" y="1920240"/>
            <a:ext cx="5431536" cy="2761488"/>
          </a:xfrm>
          <a:prstGeom prst="roundRect">
            <a:avLst>
              <a:gd name="adj" fmla="val 1987"/>
            </a:avLst>
          </a:prstGeom>
          <a:solidFill>
            <a:srgbClr val="FFFFFF"/>
          </a:solidFill>
          <a:ln w="15875">
            <a:solidFill>
              <a:srgbClr val="0D1117"/>
            </a:solidFill>
            <a:prstDash val="dash"/>
          </a:ln>
        </p:spPr>
      </p:sp>
      <p:sp>
        <p:nvSpPr>
          <p:cNvPr id="20" name="b2 gate head"/>
          <p:cNvSpPr txBox="1"/>
          <p:nvPr/>
        </p:nvSpPr>
        <p:spPr>
          <a:xfrm>
            <a:off x="6528816" y="2157984"/>
            <a:ext cx="3657600" cy="384048"/>
          </a:xfrm>
          <a:prstGeom prst="rect">
            <a:avLst/>
          </a:prstGeom>
          <a:noFill/>
        </p:spPr>
        <p:txBody>
          <a:bodyPr wrap="square" lIns="0" tIns="0" rIns="0" bIns="0" rtlCol="0" anchor="ctr"/>
          <a:lstStyle/>
          <a:p>
            <a:pPr marL="0" indent="0">
              <a:buNone/>
            </a:pPr>
            <a:r>
              <a:rPr lang="en-US" sz="1900" b="1" dirty="0">
                <a:solidFill>
                  <a:schemeClr val="tx1"/>
                </a:solidFill>
              </a:rPr>
              <a:t>Before submission</a:t>
            </a:r>
            <a:endParaRPr lang="en-US" sz="1900" dirty="0"/>
          </a:p>
        </p:txBody>
      </p:sp>
      <p:sp>
        <p:nvSpPr>
          <p:cNvPr id="21" name="b2 gate tag"/>
          <p:cNvSpPr txBox="1"/>
          <p:nvPr/>
        </p:nvSpPr>
        <p:spPr>
          <a:xfrm>
            <a:off x="10131552" y="2221992"/>
            <a:ext cx="1234440" cy="256032"/>
          </a:xfrm>
          <a:prstGeom prst="rect">
            <a:avLst/>
          </a:prstGeom>
          <a:noFill/>
        </p:spPr>
        <p:txBody>
          <a:bodyPr wrap="square" lIns="0" tIns="0" rIns="0" bIns="0" rtlCol="0" anchor="ctr"/>
          <a:lstStyle/>
          <a:p>
            <a:pPr marL="0" indent="0" algn="r">
              <a:buNone/>
            </a:pPr>
            <a:r>
              <a:rPr lang="en-US" sz="900" b="1" kern="0" spc="150" dirty="0">
                <a:solidFill>
                  <a:schemeClr val="accent1"/>
                </a:solidFill>
              </a:rPr>
              <a:t>OPEN GATES</a:t>
            </a:r>
            <a:endParaRPr lang="en-US" sz="900" dirty="0"/>
          </a:p>
        </p:txBody>
      </p:sp>
      <p:pic>
        <p:nvPicPr>
          <p:cNvPr id="22" name="b2 gate icon 0" descr="preencoded.png"/>
          <p:cNvPicPr>
            <a:picLocks noChangeAspect="1"/>
          </p:cNvPicPr>
          <p:nvPr/>
        </p:nvPicPr>
        <p:blipFill>
          <a:blip r:embed="rId5"/>
          <a:stretch>
            <a:fillRect/>
          </a:stretch>
        </p:blipFill>
        <p:spPr>
          <a:xfrm>
            <a:off x="6547104" y="2743200"/>
            <a:ext cx="256032" cy="256032"/>
          </a:xfrm>
          <a:prstGeom prst="rect">
            <a:avLst/>
          </a:prstGeom>
        </p:spPr>
      </p:pic>
      <p:sp>
        <p:nvSpPr>
          <p:cNvPr id="23" name="b2 gate 0"/>
          <p:cNvSpPr txBox="1"/>
          <p:nvPr/>
        </p:nvSpPr>
        <p:spPr>
          <a:xfrm>
            <a:off x="6986016" y="2706624"/>
            <a:ext cx="4425696" cy="329184"/>
          </a:xfrm>
          <a:prstGeom prst="rect">
            <a:avLst/>
          </a:prstGeom>
          <a:noFill/>
        </p:spPr>
        <p:txBody>
          <a:bodyPr wrap="square" lIns="0" tIns="0" rIns="0" bIns="0" rtlCol="0" anchor="ctr"/>
          <a:lstStyle/>
          <a:p>
            <a:pPr marL="0" indent="0">
              <a:buNone/>
            </a:pPr>
            <a:r>
              <a:rPr lang="en-US" sz="1500" dirty="0">
                <a:solidFill>
                  <a:srgbClr val="262D36"/>
                </a:solidFill>
              </a:rPr>
              <a:t>Owner makes repository public</a:t>
            </a:r>
            <a:endParaRPr lang="en-US" sz="1500" dirty="0"/>
          </a:p>
        </p:txBody>
      </p:sp>
      <p:pic>
        <p:nvPicPr>
          <p:cNvPr id="24" name="b2 gate icon 1" descr="preencoded.png"/>
          <p:cNvPicPr>
            <a:picLocks noChangeAspect="1"/>
          </p:cNvPicPr>
          <p:nvPr/>
        </p:nvPicPr>
        <p:blipFill>
          <a:blip r:embed="rId5"/>
          <a:stretch>
            <a:fillRect/>
          </a:stretch>
        </p:blipFill>
        <p:spPr>
          <a:xfrm>
            <a:off x="6547104" y="3154680"/>
            <a:ext cx="256032" cy="256032"/>
          </a:xfrm>
          <a:prstGeom prst="rect">
            <a:avLst/>
          </a:prstGeom>
        </p:spPr>
      </p:pic>
      <p:sp>
        <p:nvSpPr>
          <p:cNvPr id="25" name="b2 gate 1"/>
          <p:cNvSpPr txBox="1"/>
          <p:nvPr/>
        </p:nvSpPr>
        <p:spPr>
          <a:xfrm>
            <a:off x="6986016" y="3118104"/>
            <a:ext cx="4425696" cy="329184"/>
          </a:xfrm>
          <a:prstGeom prst="rect">
            <a:avLst/>
          </a:prstGeom>
          <a:noFill/>
        </p:spPr>
        <p:txBody>
          <a:bodyPr wrap="square" lIns="0" tIns="0" rIns="0" bIns="0" rtlCol="0" anchor="ctr"/>
          <a:lstStyle/>
          <a:p>
            <a:pPr marL="0" indent="0">
              <a:buNone/>
            </a:pPr>
            <a:r>
              <a:rPr lang="en-US" sz="1500" dirty="0">
                <a:solidFill>
                  <a:srgbClr val="262D36"/>
                </a:solidFill>
              </a:rPr>
              <a:t>Verify links and submit repository URL</a:t>
            </a:r>
            <a:endParaRPr lang="en-US" sz="1500" dirty="0"/>
          </a:p>
        </p:txBody>
      </p:sp>
      <p:pic>
        <p:nvPicPr>
          <p:cNvPr id="26" name="b2 gate icon 2" descr="preencoded.png"/>
          <p:cNvPicPr>
            <a:picLocks noChangeAspect="1"/>
          </p:cNvPicPr>
          <p:nvPr/>
        </p:nvPicPr>
        <p:blipFill>
          <a:blip r:embed="rId5"/>
          <a:stretch>
            <a:fillRect/>
          </a:stretch>
        </p:blipFill>
        <p:spPr>
          <a:xfrm>
            <a:off x="6547104" y="3566160"/>
            <a:ext cx="256032" cy="256032"/>
          </a:xfrm>
          <a:prstGeom prst="rect">
            <a:avLst/>
          </a:prstGeom>
        </p:spPr>
      </p:pic>
      <p:sp>
        <p:nvSpPr>
          <p:cNvPr id="27" name="b2 gate 2"/>
          <p:cNvSpPr txBox="1"/>
          <p:nvPr/>
        </p:nvSpPr>
        <p:spPr>
          <a:xfrm>
            <a:off x="6986016" y="3529584"/>
            <a:ext cx="4425696" cy="329184"/>
          </a:xfrm>
          <a:prstGeom prst="rect">
            <a:avLst/>
          </a:prstGeom>
          <a:noFill/>
        </p:spPr>
        <p:txBody>
          <a:bodyPr wrap="square" lIns="0" tIns="0" rIns="0" bIns="0" rtlCol="0" anchor="ctr"/>
          <a:lstStyle/>
          <a:p>
            <a:pPr marL="0" indent="0">
              <a:buNone/>
            </a:pPr>
            <a:r>
              <a:rPr lang="en-US" sz="1500" dirty="0">
                <a:solidFill>
                  <a:srgbClr val="262D36"/>
                </a:solidFill>
              </a:rPr>
              <a:t>Rehearse; retain portal confirmation</a:t>
            </a:r>
            <a:endParaRPr lang="en-US" sz="1500" dirty="0"/>
          </a:p>
        </p:txBody>
      </p:sp>
      <p:pic>
        <p:nvPicPr>
          <p:cNvPr id="28" name="b2 gate icon 3" descr="preencoded.png"/>
          <p:cNvPicPr>
            <a:picLocks noChangeAspect="1"/>
          </p:cNvPicPr>
          <p:nvPr/>
        </p:nvPicPr>
        <p:blipFill>
          <a:blip r:embed="rId6"/>
          <a:stretch>
            <a:fillRect/>
          </a:stretch>
        </p:blipFill>
        <p:spPr>
          <a:xfrm>
            <a:off x="6547104" y="3977640"/>
            <a:ext cx="256032" cy="256032"/>
          </a:xfrm>
          <a:prstGeom prst="rect">
            <a:avLst/>
          </a:prstGeom>
        </p:spPr>
      </p:pic>
      <p:sp>
        <p:nvSpPr>
          <p:cNvPr id="29" name="b2 gate 3"/>
          <p:cNvSpPr txBox="1"/>
          <p:nvPr/>
        </p:nvSpPr>
        <p:spPr>
          <a:xfrm>
            <a:off x="6986016" y="3941064"/>
            <a:ext cx="4425696" cy="329184"/>
          </a:xfrm>
          <a:prstGeom prst="rect">
            <a:avLst/>
          </a:prstGeom>
          <a:noFill/>
        </p:spPr>
        <p:txBody>
          <a:bodyPr wrap="square" lIns="0" tIns="0" rIns="0" bIns="0" rtlCol="0" anchor="ctr"/>
          <a:lstStyle/>
          <a:p>
            <a:pPr marL="0" indent="0">
              <a:buNone/>
            </a:pPr>
            <a:r>
              <a:rPr lang="en-US" sz="1500" b="1" dirty="0">
                <a:solidFill>
                  <a:schemeClr val="accent3"/>
                </a:solidFill>
              </a:rPr>
              <a:t>Fresh judge install and Docker still unverified</a:t>
            </a:r>
            <a:endParaRPr lang="en-US" sz="1500" dirty="0"/>
          </a:p>
        </p:txBody>
      </p:sp>
      <p:sp>
        <p:nvSpPr>
          <p:cNvPr id="30" name="b2 gate note"/>
          <p:cNvSpPr txBox="1"/>
          <p:nvPr/>
        </p:nvSpPr>
        <p:spPr>
          <a:xfrm>
            <a:off x="6986016" y="4297680"/>
            <a:ext cx="4425696" cy="274320"/>
          </a:xfrm>
          <a:prstGeom prst="rect">
            <a:avLst/>
          </a:prstGeom>
          <a:noFill/>
        </p:spPr>
        <p:txBody>
          <a:bodyPr wrap="square" lIns="0" tIns="0" rIns="0" bIns="0" rtlCol="0" anchor="ctr"/>
          <a:lstStyle/>
          <a:p>
            <a:pPr marL="0" indent="0">
              <a:buNone/>
            </a:pPr>
            <a:r>
              <a:rPr lang="en-US" sz="1100" i="1" dirty="0">
                <a:solidFill>
                  <a:schemeClr val="accent5"/>
                </a:solidFill>
              </a:rPr>
              <a:t>No hosted deployment or public access is claimed.</a:t>
            </a:r>
            <a:endParaRPr lang="en-US" sz="1100" dirty="0"/>
          </a:p>
        </p:txBody>
      </p:sp>
      <p:sp>
        <p:nvSpPr>
          <p:cNvPr id="31" name="b3 ack card"/>
          <p:cNvSpPr/>
          <p:nvPr/>
        </p:nvSpPr>
        <p:spPr>
          <a:xfrm>
            <a:off x="548640" y="4809744"/>
            <a:ext cx="11091672" cy="1170432"/>
          </a:xfrm>
          <a:prstGeom prst="roundRect">
            <a:avLst>
              <a:gd name="adj" fmla="val 4688"/>
            </a:avLst>
          </a:prstGeom>
          <a:solidFill>
            <a:srgbClr val="FFFFFF"/>
          </a:solidFill>
          <a:ln w="12700">
            <a:solidFill>
              <a:srgbClr val="D5DBE2"/>
            </a:solidFill>
            <a:prstDash val="solid"/>
          </a:ln>
        </p:spPr>
      </p:sp>
      <p:sp>
        <p:nvSpPr>
          <p:cNvPr id="32" name="b3 ack label 0"/>
          <p:cNvSpPr txBox="1"/>
          <p:nvPr/>
        </p:nvSpPr>
        <p:spPr>
          <a:xfrm>
            <a:off x="822960" y="4965192"/>
            <a:ext cx="3246120" cy="201168"/>
          </a:xfrm>
          <a:prstGeom prst="rect">
            <a:avLst/>
          </a:prstGeom>
          <a:noFill/>
        </p:spPr>
        <p:txBody>
          <a:bodyPr wrap="square" lIns="0" tIns="0" rIns="0" bIns="0" rtlCol="0" anchor="t"/>
          <a:lstStyle/>
          <a:p>
            <a:pPr marL="0" indent="0">
              <a:buNone/>
            </a:pPr>
            <a:r>
              <a:rPr lang="en-US" sz="900" b="1" kern="0" spc="150" dirty="0">
                <a:solidFill>
                  <a:schemeClr val="accent1"/>
                </a:solidFill>
              </a:rPr>
              <a:t>PROJECT OWNER</a:t>
            </a:r>
            <a:endParaRPr lang="en-US" sz="900" dirty="0"/>
          </a:p>
        </p:txBody>
      </p:sp>
      <p:sp>
        <p:nvSpPr>
          <p:cNvPr id="33" name="b3 ack text 0"/>
          <p:cNvSpPr txBox="1"/>
          <p:nvPr/>
        </p:nvSpPr>
        <p:spPr>
          <a:xfrm>
            <a:off x="822960" y="5193792"/>
            <a:ext cx="3200400" cy="685800"/>
          </a:xfrm>
          <a:prstGeom prst="rect">
            <a:avLst/>
          </a:prstGeom>
          <a:noFill/>
        </p:spPr>
        <p:txBody>
          <a:bodyPr wrap="square" lIns="0" tIns="0" rIns="0" bIns="0" rtlCol="0" anchor="t"/>
          <a:lstStyle/>
          <a:p>
            <a:pPr marL="0" indent="0">
              <a:lnSpc>
                <a:spcPct val="108000"/>
              </a:lnSpc>
              <a:buNone/>
            </a:pPr>
            <a:r>
              <a:rPr lang="en-US" sz="1050" b="1" dirty="0">
                <a:solidFill>
                  <a:schemeClr val="tx1"/>
                </a:solidFill>
              </a:rPr>
              <a:t>Benjamin Jin, class 9(4)</a:t>
            </a:r>
            <a:endParaRPr lang="en-US" sz="1050" dirty="0"/>
          </a:p>
          <a:p>
            <a:pPr marL="0" indent="0">
              <a:lnSpc>
                <a:spcPct val="108000"/>
              </a:lnSpc>
              <a:buNone/>
            </a:pPr>
            <a:r>
              <a:rPr lang="en-US" sz="1050" dirty="0">
                <a:solidFill>
                  <a:srgbClr val="262D36"/>
                </a:solidFill>
              </a:rPr>
              <a:t>Designed the guided-workflow UI/UX</a:t>
            </a:r>
            <a:endParaRPr lang="en-US" sz="1050" dirty="0"/>
          </a:p>
          <a:p>
            <a:pPr marL="0" indent="0">
              <a:lnSpc>
                <a:spcPct val="108000"/>
              </a:lnSpc>
              <a:buNone/>
            </a:pPr>
            <a:r>
              <a:rPr lang="en-US" sz="1050" dirty="0">
                <a:solidFill>
                  <a:srgbClr val="262D36"/>
                </a:solidFill>
              </a:rPr>
              <a:t>GitHub: zha-chicken</a:t>
            </a:r>
            <a:endParaRPr lang="en-US" sz="1050" dirty="0"/>
          </a:p>
          <a:p>
            <a:pPr marL="0" indent="0">
              <a:lnSpc>
                <a:spcPct val="108000"/>
              </a:lnSpc>
              <a:buNone/>
            </a:pPr>
            <a:r>
              <a:rPr lang="en-US" sz="950" dirty="0">
                <a:solidFill>
                  <a:srgbClr val="262D36"/>
                </a:solidFill>
                <a:latin typeface="Arial" panose="020B0604020202090204" pitchFamily="34" charset="0"/>
                <a:ea typeface="Arial" panose="020B0604020202090204" pitchFamily="34" charset="-122"/>
                <a:cs typeface="Arial" panose="020B0604020202090204" pitchFamily="34" charset="-120"/>
              </a:rPr>
              <a:t>github.com/zha-chicken/runway-incident-workspace</a:t>
            </a:r>
            <a:endParaRPr lang="en-US" sz="1050" dirty="0"/>
          </a:p>
        </p:txBody>
      </p:sp>
      <p:sp>
        <p:nvSpPr>
          <p:cNvPr id="34" name="b3 ack label 1"/>
          <p:cNvSpPr txBox="1"/>
          <p:nvPr/>
        </p:nvSpPr>
        <p:spPr>
          <a:xfrm>
            <a:off x="4251960" y="4965192"/>
            <a:ext cx="3474720" cy="201168"/>
          </a:xfrm>
          <a:prstGeom prst="rect">
            <a:avLst/>
          </a:prstGeom>
          <a:noFill/>
        </p:spPr>
        <p:txBody>
          <a:bodyPr wrap="square" lIns="0" tIns="0" rIns="0" bIns="0" rtlCol="0" anchor="t"/>
          <a:lstStyle/>
          <a:p>
            <a:pPr marL="0" indent="0">
              <a:buNone/>
            </a:pPr>
            <a:r>
              <a:rPr lang="en-US" sz="900" b="1" kern="0" spc="150" dirty="0">
                <a:solidFill>
                  <a:schemeClr val="accent1"/>
                </a:solidFill>
              </a:rPr>
              <a:t>AI USE</a:t>
            </a:r>
            <a:endParaRPr lang="en-US" sz="900" dirty="0"/>
          </a:p>
        </p:txBody>
      </p:sp>
      <p:sp>
        <p:nvSpPr>
          <p:cNvPr id="35" name="b3 ack text 1"/>
          <p:cNvSpPr txBox="1"/>
          <p:nvPr/>
        </p:nvSpPr>
        <p:spPr>
          <a:xfrm>
            <a:off x="4251960" y="5193792"/>
            <a:ext cx="3429000" cy="685800"/>
          </a:xfrm>
          <a:prstGeom prst="rect">
            <a:avLst/>
          </a:prstGeom>
          <a:noFill/>
        </p:spPr>
        <p:txBody>
          <a:bodyPr wrap="square" lIns="0" tIns="0" rIns="0" bIns="0" rtlCol="0" anchor="t"/>
          <a:lstStyle/>
          <a:p>
            <a:pPr marL="0" indent="0">
              <a:lnSpc>
                <a:spcPct val="108000"/>
              </a:lnSpc>
              <a:buNone/>
            </a:pPr>
            <a:r>
              <a:rPr lang="en-US" sz="1050" dirty="0">
                <a:solidFill>
                  <a:srgbClr val="262D36"/>
                </a:solidFill>
              </a:rPr>
              <a:t>OpenAI Codex and Anthropic Claude assisted development and documentation; Claude created the owner-approved video. Recorded app replies use DeepSeek Flash.</a:t>
            </a:r>
            <a:endParaRPr lang="en-US" sz="1050" dirty="0"/>
          </a:p>
        </p:txBody>
      </p:sp>
      <p:sp>
        <p:nvSpPr>
          <p:cNvPr id="36" name="b3 ack label 2"/>
          <p:cNvSpPr txBox="1"/>
          <p:nvPr/>
        </p:nvSpPr>
        <p:spPr>
          <a:xfrm>
            <a:off x="7909560" y="4965192"/>
            <a:ext cx="3337560" cy="201168"/>
          </a:xfrm>
          <a:prstGeom prst="rect">
            <a:avLst/>
          </a:prstGeom>
          <a:noFill/>
        </p:spPr>
        <p:txBody>
          <a:bodyPr wrap="square" lIns="0" tIns="0" rIns="0" bIns="0" rtlCol="0" anchor="t"/>
          <a:lstStyle/>
          <a:p>
            <a:pPr marL="0" indent="0">
              <a:buNone/>
            </a:pPr>
            <a:r>
              <a:rPr lang="en-US" sz="900" b="1" kern="0" spc="150" dirty="0">
                <a:solidFill>
                  <a:schemeClr val="accent1"/>
                </a:solidFill>
              </a:rPr>
              <a:t>DATA</a:t>
            </a:r>
            <a:endParaRPr lang="en-US" sz="900" dirty="0"/>
          </a:p>
        </p:txBody>
      </p:sp>
      <p:sp>
        <p:nvSpPr>
          <p:cNvPr id="37" name="b3 ack text 2"/>
          <p:cNvSpPr txBox="1"/>
          <p:nvPr/>
        </p:nvSpPr>
        <p:spPr>
          <a:xfrm>
            <a:off x="7909560" y="5193792"/>
            <a:ext cx="3291840" cy="685800"/>
          </a:xfrm>
          <a:prstGeom prst="rect">
            <a:avLst/>
          </a:prstGeom>
          <a:noFill/>
        </p:spPr>
        <p:txBody>
          <a:bodyPr wrap="square" lIns="0" tIns="0" rIns="0" bIns="0" rtlCol="0" anchor="t"/>
          <a:lstStyle/>
          <a:p>
            <a:pPr marL="0" indent="0">
              <a:lnSpc>
                <a:spcPct val="108000"/>
              </a:lnSpc>
              <a:buNone/>
            </a:pPr>
            <a:r>
              <a:rPr lang="en-US" sz="1050" dirty="0">
                <a:solidFill>
                  <a:srgbClr val="262D36"/>
                </a:solidFill>
              </a:rPr>
              <a:t>Organizer-supplied Track 3 Problem Statement (problem setters: Accenture) and Track 3 Data.xlsx. Airports and incidents are fictional; D05 records are synthetic.</a:t>
            </a:r>
            <a:endParaRPr lang="en-US" sz="1050" dirty="0"/>
          </a:p>
        </p:txBody>
      </p:sp>
      <p:sp>
        <p:nvSpPr>
          <p:cNvPr id="38" name="source"/>
          <p:cNvSpPr txBox="1"/>
          <p:nvPr/>
        </p:nvSpPr>
        <p:spPr>
          <a:xfrm>
            <a:off x="548640" y="6053328"/>
            <a:ext cx="11064240" cy="219456"/>
          </a:xfrm>
          <a:prstGeom prst="rect">
            <a:avLst/>
          </a:prstGeom>
          <a:noFill/>
        </p:spPr>
        <p:txBody>
          <a:bodyPr wrap="square" lIns="0" tIns="0" rIns="0" bIns="0" rtlCol="0" anchor="t"/>
          <a:lstStyle/>
          <a:p>
            <a:pPr marL="0" indent="0">
              <a:buNone/>
            </a:pPr>
            <a:r>
              <a:rPr lang="en-US" sz="1000" dirty="0">
                <a:solidFill>
                  <a:schemeClr val="accent5"/>
                </a:solidFill>
              </a:rPr>
              <a:t>Full credits and AI-use statement: ACKNOWLEDGEMENTS.md. Sources: submission/README.md; D07; D08; publication verification.</a:t>
            </a:r>
            <a:endParaRPr lang="en-US" sz="1000" dirty="0"/>
          </a:p>
        </p:txBody>
      </p:sp>
      <p:sp>
        <p:nvSpPr>
          <p:cNvPr id="7" name="Slide Number Placeholder 0"/>
          <p:cNvSpPr>
            <a:spLocks noGrp="1"/>
          </p:cNvSpPr>
          <p:nvPr>
            <p:ph type="sldNum" sz="quarter" idx="4294967295"/>
          </p:nvPr>
        </p:nvSpPr>
        <p:spPr>
          <a:xfrm>
            <a:off x="11091672" y="6382512"/>
            <a:ext cx="548640" cy="237744"/>
          </a:xfrm>
          <a:prstGeom prst="rect">
            <a:avLst/>
          </a:prstGeom>
        </p:spPr>
        <p:txBody>
          <a:bodyPr lIns="0" tIns="0" rIns="0" bIns="0" anchor="ctr"/>
          <a:lstStyle>
            <a:lvl1pPr>
              <a:defRPr sz="900">
                <a:solidFill>
                  <a:srgbClr val="0D1117"/>
                </a:solidFill>
              </a:defRPr>
            </a:lvl1pPr>
          </a:lstStyle>
          <a:p>
            <a:pPr algn="r"/>
            <a:fld id="{F7021451-1387-4CA6-816F-3879F97B5CBC}" type="slidenum">
              <a:rPr lang="en-US" b="1"/>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4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4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400"/>
                                        <p:tgtEl>
                                          <p:spTgt spid="2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400"/>
                                        <p:tgtEl>
                                          <p:spTgt spid="30"/>
                                        </p:tgtEl>
                                      </p:cBhvr>
                                    </p:animEffect>
                                  </p:childTnLst>
                                </p:cTn>
                              </p:par>
                            </p:childTnLst>
                          </p:cTn>
                        </p:par>
                        <p:par>
                          <p:cTn id="72" fill="hold">
                            <p:stCondLst>
                              <p:cond delay="100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00"/>
                                        <p:tgtEl>
                                          <p:spTgt spid="3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6" grpId="0" animBg="1"/>
      <p:bldP spid="18" grpId="0" animBg="1"/>
      <p:bldP spid="19" grpId="0" animBg="1"/>
      <p:bldP spid="20" grpId="0" animBg="1"/>
      <p:bldP spid="21" grpId="0" animBg="1"/>
      <p:bldP spid="23" grpId="0" animBg="1"/>
      <p:bldP spid="25"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tags/tag1.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UNIT_TYPE" val="a"/>
  <p:tag name="KSO_WM_UNIT_INDEX" val="1"/>
  <p:tag name="KSO_WM_UNIT_ID" val="custom40492976_1*a*1"/>
  <p:tag name="KSO_WM_TEMPLATE_CATEGORY" val="custom"/>
  <p:tag name="KSO_WM_TEMPLATE_INDEX" val="40492976"/>
  <p:tag name="KSO_WM_UNIT_LAYERLEVEL" val="1"/>
  <p:tag name="KSO_WM_TAG_VERSION" val="3.0"/>
  <p:tag name="KSO_WM_BEAUTIFY_FLAG" val="#wm#"/>
  <p:tag name="KSO_WM_UNIT_VALUE" val="30"/>
  <p:tag name="KSO_WM_UNIT_PRESET_TEXT" val="单击此处添加标题"/>
  <p:tag name="KSO_WM_UNIT_TEXT_TYPE" val="1"/>
</p:tagLst>
</file>

<file path=ppt/tags/tag2.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UNIT_TYPE" val="f"/>
  <p:tag name="KSO_WM_UNIT_INDEX" val="1"/>
  <p:tag name="KSO_WM_UNIT_ID" val="custom40492976_1*f*1"/>
  <p:tag name="KSO_WM_TEMPLATE_CATEGORY" val="custom"/>
  <p:tag name="KSO_WM_TEMPLATE_INDEX" val="40492976"/>
  <p:tag name="KSO_WM_UNIT_LAYERLEVEL" val="1"/>
  <p:tag name="KSO_WM_TAG_VERSION" val="3.0"/>
  <p:tag name="KSO_WM_BEAUTIFY_FLAG" val="#wm#"/>
  <p:tag name="KSO_WM_UNIT_PRESET_TEXT" val="单击此处添加文本，简明扼要地阐述您的观点。根据需要酌情增减文字，以便观者准确地理解您传达的思想。单击添加文本，简明扼要地阐述您的观点。根据需要可酌情增减文字，以便观者准确地理解您传达的思想"/>
  <p:tag name="KSO_WM_UNIT_TEXT_TYPE" val="1"/>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custom40492976_1*i*1"/>
  <p:tag name="KSO_WM_TEMPLATE_CATEGORY" val="custom"/>
  <p:tag name="KSO_WM_TEMPLATE_INDEX" val="40492976"/>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custom40492976_1*i*2"/>
  <p:tag name="KSO_WM_TEMPLATE_CATEGORY" val="custom"/>
  <p:tag name="KSO_WM_TEMPLATE_INDEX" val="40492976"/>
  <p:tag name="KSO_WM_UNIT_LAYERLEVEL" val="1"/>
  <p:tag name="KSO_WM_TAG_VERSION" val="3.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custom40492976_1*i*3"/>
  <p:tag name="KSO_WM_TEMPLATE_CATEGORY" val="custom"/>
  <p:tag name="KSO_WM_TEMPLATE_INDEX" val="40492976"/>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custom40492976_1*i*4"/>
  <p:tag name="KSO_WM_TEMPLATE_CATEGORY" val="custom"/>
  <p:tag name="KSO_WM_TEMPLATE_INDEX" val="40492976"/>
  <p:tag name="KSO_WM_UNIT_LAYERLEVEL" val="1"/>
  <p:tag name="KSO_WM_TAG_VERSION" val="3.0"/>
  <p:tag name="KSO_WM_BEAUTIFY_FLAG" val="#wm#"/>
</p:tagLst>
</file>

<file path=ppt/tags/tag7.xml><?xml version="1.0" encoding="utf-8"?>
<p:tagLst xmlns:p="http://schemas.openxmlformats.org/presentationml/2006/main">
  <p:tag name="KSO_WM_SLIDE_ID" val="custom40492976_1"/>
  <p:tag name="KSO_WM_TEMPLATE_SUBCATEGORY" val="0"/>
  <p:tag name="KSO_WM_TEMPLATE_MASTER_TYPE" val="0"/>
  <p:tag name="KSO_WM_TEMPLATE_COLOR_TYPE" val="0"/>
  <p:tag name="KSO_WM_SLIDE_ITEM_CNT" val="0"/>
  <p:tag name="KSO_WM_SLIDE_INDEX" val="1"/>
  <p:tag name="KSO_WM_TAG_VERSION" val="3.0"/>
  <p:tag name="KSO_WM_BEAUTIFY_FLAG" val="#wm#"/>
  <p:tag name="KSO_WM_TEMPLATE_CATEGORY" val="custom"/>
  <p:tag name="KSO_WM_TEMPLATE_INDEX" val="40492976"/>
  <p:tag name="KSO_WM_SLIDE_TYPE" val="text"/>
  <p:tag name="KSO_WM_SLIDE_SUBTYPE" val="picTxt"/>
  <p:tag name="KSO_WM_SLIDE_SIZE" val="799*378"/>
  <p:tag name="KSO_WM_SLIDE_POSITION" val="85*80"/>
  <p:tag name="KSO_WM_SLIDE_LAYOUT" val="a_f"/>
  <p:tag name="KSO_WM_SLIDE_LAYOUT_CNT" val="1_1"/>
  <p:tag name="KSO_WM_SPECIAL_SOURCE" val="bdnull"/>
</p:tagLst>
</file>

<file path=ppt/theme/theme1.xml><?xml version="1.0" encoding="utf-8"?>
<a:theme xmlns:a="http://schemas.openxmlformats.org/drawingml/2006/main" name="AeroContext Flight Deck">
  <a:themeElements>
    <a:clrScheme name="AeroContext Flight Deck">
      <a:dk1>
        <a:srgbClr val="0D1117"/>
      </a:dk1>
      <a:lt1>
        <a:srgbClr val="FFFFFF"/>
      </a:lt1>
      <a:dk2>
        <a:srgbClr val="1B222C"/>
      </a:dk2>
      <a:lt2>
        <a:srgbClr val="F1F3F5"/>
      </a:lt2>
      <a:accent1>
        <a:srgbClr val="C2187A"/>
      </a:accent1>
      <a:accent2>
        <a:srgbClr val="13734B"/>
      </a:accent2>
      <a:accent3>
        <a:srgbClr val="9A5B00"/>
      </a:accent3>
      <a:accent4>
        <a:srgbClr val="B42318"/>
      </a:accent4>
      <a:accent5>
        <a:srgbClr val="5B6573"/>
      </a:accent5>
      <a:accent6>
        <a:srgbClr val="0E7490"/>
      </a:accent6>
      <a:hlink>
        <a:srgbClr val="C2187A"/>
      </a:hlink>
      <a:folHlink>
        <a:srgbClr val="7A1B5A"/>
      </a:folHlink>
    </a:clrScheme>
    <a:fontScheme name="AeroContext Flight De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eroContext Flight Deck">
  <a:themeElements>
    <a:clrScheme name="AeroContext Flight Deck">
      <a:dk1>
        <a:srgbClr val="0D1117"/>
      </a:dk1>
      <a:lt1>
        <a:srgbClr val="FFFFFF"/>
      </a:lt1>
      <a:dk2>
        <a:srgbClr val="1B222C"/>
      </a:dk2>
      <a:lt2>
        <a:srgbClr val="F1F3F5"/>
      </a:lt2>
      <a:accent1>
        <a:srgbClr val="C2187A"/>
      </a:accent1>
      <a:accent2>
        <a:srgbClr val="13734B"/>
      </a:accent2>
      <a:accent3>
        <a:srgbClr val="9A5B00"/>
      </a:accent3>
      <a:accent4>
        <a:srgbClr val="B42318"/>
      </a:accent4>
      <a:accent5>
        <a:srgbClr val="5B6573"/>
      </a:accent5>
      <a:accent6>
        <a:srgbClr val="0E7490"/>
      </a:accent6>
      <a:hlink>
        <a:srgbClr val="C2187A"/>
      </a:hlink>
      <a:folHlink>
        <a:srgbClr val="7A1B5A"/>
      </a:folHlink>
    </a:clrScheme>
    <a:fontScheme name="AeroContext Flight De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7885</Words>
  <Application>WPS 演示</Application>
  <PresentationFormat>On-screen Show (16:9)</PresentationFormat>
  <Paragraphs>452</Paragraphs>
  <Slides>10</Slides>
  <Notes>9</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10</vt:i4>
      </vt:variant>
    </vt:vector>
  </HeadingPairs>
  <TitlesOfParts>
    <vt:vector size="29" baseType="lpstr">
      <vt:lpstr>Arial</vt:lpstr>
      <vt:lpstr>宋体</vt:lpstr>
      <vt:lpstr>Wingdings</vt:lpstr>
      <vt:lpstr>PingFang SC</vt:lpstr>
      <vt:lpstr>PingFang SC</vt:lpstr>
      <vt:lpstr>Arial</vt:lpstr>
      <vt:lpstr>Arial</vt:lpstr>
      <vt:lpstr>微软雅黑</vt:lpstr>
      <vt:lpstr>汉仪旗黑</vt:lpstr>
      <vt:lpstr>宋体</vt:lpstr>
      <vt:lpstr>Arial Unicode MS</vt:lpstr>
      <vt:lpstr>等线 Light</vt:lpstr>
      <vt:lpstr>汉仪中等线KW</vt:lpstr>
      <vt:lpstr>汉仪书宋二KW</vt:lpstr>
      <vt:lpstr>等线</vt:lpstr>
      <vt:lpstr>Calibri</vt:lpstr>
      <vt:lpstr>Helvetica Neue</vt:lpstr>
      <vt:lpstr>Times New Roman</vt:lpstr>
      <vt:lpstr>AeroContext Flight Deck</vt:lpstr>
      <vt:lpstr>to decisions people can inspect</vt:lpstr>
      <vt:lpstr>A risk signal is not a confirmed flight outcome</vt:lpstr>
      <vt:lpstr>“I value UI/UX as much as analysis logic.”</vt:lpstr>
      <vt:lpstr>The system leads each step; the user brings the data</vt:lpstr>
      <vt:lpstr>Calculate constraints first. Generate prose second.</vt:lpstr>
      <vt:lpstr>Gusts + an expanding support shortage</vt:lpstr>
      <vt:lpstr>Usable output and good reasoning are different</vt:lpstr>
      <vt:lpstr>Preserved decisions—even when reassessment fails</vt:lpstr>
      <vt:lpstr>Time savings are unmeasured.</vt:lpstr>
      <vt:lpstr>A reviewable package before a supervised release</vt:lpstr>
    </vt:vector>
  </TitlesOfParts>
  <Company>HackSHSID 2026 Track 3</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AeroContext — HackSHSID 2026 Track 3 client presentation</dc:title>
  <dc:creator>Benjamin Jin</dc:creator>
  <dc:subject>AeroContext: bilingual incident-review prototype (simulation)</dc:subject>
  <cp:lastModifiedBy>S_S</cp:lastModifiedBy>
  <cp:revision>2</cp:revision>
  <dcterms:created xsi:type="dcterms:W3CDTF">2026-10-24T12:20:14Z</dcterms:created>
  <dcterms:modified xsi:type="dcterms:W3CDTF">2026-10-24T12:20:14Z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2052-12.1.25869.25869</vt:lpwstr>
  </property>
  <property fmtid="{D5CDD505-2E9C-101B-9397-08002B2CF9AE}" pid="3" name="ICV">
    <vt:lpwstr>DE6B7BEDDF60CD287EA2DC6A5454774A_42</vt:lpwstr>
  </property>
</Properties>
</file>